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9" r:id="rId3"/>
    <p:sldId id="305" r:id="rId4"/>
    <p:sldId id="306" r:id="rId5"/>
    <p:sldId id="307" r:id="rId6"/>
    <p:sldId id="308" r:id="rId7"/>
    <p:sldId id="310" r:id="rId8"/>
    <p:sldId id="309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5" d="100"/>
          <a:sy n="85" d="100"/>
        </p:scale>
        <p:origin x="518" y="-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22983-65D5-450E-B313-12E3224DDE68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CCF7D2-8AC6-413C-B08F-B46CAE9F3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218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CF7D2-8AC6-413C-B08F-B46CAE9F34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62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1206D-8CC8-D226-2185-B80C32AD5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96B9A-F9B0-3CB9-FFEC-010CFF5CC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7F90A-6499-A6D4-7C86-BFC6C9A1C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10F58-50B1-B4AC-9B58-E021B5E6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5FDAB-E970-E623-4F37-B185435F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6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4CFAC-428E-5F63-E50C-CE876F0E3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7AC36-5EEC-78B2-6AC2-E31E35AF2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3DDEE-BD6A-85B8-B564-594C8DF4E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97150-FFDC-317A-A5A1-595C8D43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D4145-DDEB-7163-77D3-1F073C5F5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31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FB1D7-1E0B-8D3F-5F92-BE8EA636C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C2E51-3A4A-D68B-9C9A-C23E7F968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A867-AFFF-F620-0E9B-90EE7123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C6F41-5263-A641-E762-AE999D65C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E4C99-9501-7638-14EA-B96EBFDDE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3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5EF35-043F-EC1D-3101-683AD9B8F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62D01-06EB-4271-CCC6-DB46BC56A8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2D544-B885-38C9-8213-DCEE93FD7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0BA1E-F139-F06C-9FE5-6B0BDA69D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C3344-3B1A-7879-83E2-BBA70DBB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7064E-4ED3-F306-CB4B-1B0611BA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47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8DA8B-5D9F-E32E-CCCD-B50A662A9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5FEE4-56B1-00DC-03DC-701373F64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48F5B-A032-E4CC-E548-11ACF5DBE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E84C1-B7E6-A981-6577-04E43BF338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F3C19-8530-19E0-505B-99832D91BE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371AC8-9182-802D-25B6-DBCB75D9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D7F06-C4A7-51B8-788C-3AF839D5E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16BBE7-8F2D-39F0-047B-4E6FC894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11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BF036-4F68-080B-1C35-CD0C6463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C39440-8687-090B-9648-B92EE8553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DE667-201D-0D9A-082A-CB24A82A3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844C8-4136-AB29-0BB2-FAD16EFAC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09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0E53CE-4E2D-4C2D-6564-B561D6672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1563A8-5855-A512-742B-C6D2AE207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9B25D-05A8-63EA-FC42-7BD478F5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14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E865-335A-EDAA-00A0-A06C6455F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F7D51-8D19-D415-2C48-AC57682CB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ECDAC-1577-C68D-EF34-1DA74FB70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24AC9-C3A3-0095-1A72-45EF18969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27F24D-881D-D933-E03C-70DE0DB77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AA8E1-3CF0-BF02-C835-F9B24D81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96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D6A35-DC9A-62D8-F8A1-05474AB5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C548B-CF5E-7044-3642-687F2B4B2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6BA9C-0AE3-349C-5722-75A559562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2958A-E3D6-8E4C-B127-6B238A0D9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BAFF0-40B9-CF25-CDC5-0680180CC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E1906-8242-B3B6-3ADA-91F3247A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220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CE819-EBA9-8D07-2E65-41F989C09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CF636-C7F2-2960-DF28-BA683553C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B85C0-52CC-6CF1-0AA6-5FD691E63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693D1-2B2F-95BB-0258-B317E6C5A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BE378-AC65-26C2-CFFF-12F8C0DC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5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44000D-51D9-698E-6FD0-527D70F824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8BE10-5192-90AD-C862-93C245B88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39F32-847C-4F6A-8EEE-D8B23FB26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3FCC6-A878-A3F9-6EFF-F7D940FDE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D98CC-0396-0B30-C5EB-D81A0F76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45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3DAC16-02B0-220E-3C43-7008D049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8D148-CDCF-225F-7DDF-774E91172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57D75-39FF-5186-2CA1-C1D0FEF68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D6283B-7C59-4350-800E-2D64C9A7762D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3C1D5-8C58-CD54-FE24-4B33B1821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137FE-FEA9-4181-09A7-CFE03F8E2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12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7.png"/><Relationship Id="rId7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9.png"/><Relationship Id="rId5" Type="http://schemas.openxmlformats.org/officeDocument/2006/relationships/image" Target="../media/image18.png"/><Relationship Id="rId10" Type="http://schemas.openxmlformats.org/officeDocument/2006/relationships/image" Target="../media/image28.png"/><Relationship Id="rId4" Type="http://schemas.openxmlformats.org/officeDocument/2006/relationships/image" Target="../media/image4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7.png"/><Relationship Id="rId7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33.png"/><Relationship Id="rId4" Type="http://schemas.openxmlformats.org/officeDocument/2006/relationships/image" Target="../media/image4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7.png"/><Relationship Id="rId7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38.png"/><Relationship Id="rId5" Type="http://schemas.openxmlformats.org/officeDocument/2006/relationships/image" Target="../media/image18.png"/><Relationship Id="rId10" Type="http://schemas.openxmlformats.org/officeDocument/2006/relationships/image" Target="../media/image37.png"/><Relationship Id="rId4" Type="http://schemas.openxmlformats.org/officeDocument/2006/relationships/image" Target="../media/image4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7.png"/><Relationship Id="rId7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42.png"/><Relationship Id="rId5" Type="http://schemas.openxmlformats.org/officeDocument/2006/relationships/image" Target="../media/image18.png"/><Relationship Id="rId10" Type="http://schemas.openxmlformats.org/officeDocument/2006/relationships/image" Target="../media/image41.png"/><Relationship Id="rId4" Type="http://schemas.openxmlformats.org/officeDocument/2006/relationships/image" Target="../media/image4.png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3" Type="http://schemas.openxmlformats.org/officeDocument/2006/relationships/image" Target="../media/image59.png"/><Relationship Id="rId7" Type="http://schemas.openxmlformats.org/officeDocument/2006/relationships/image" Target="../media/image62.emf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5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3" Type="http://schemas.openxmlformats.org/officeDocument/2006/relationships/image" Target="../media/image65.png"/><Relationship Id="rId7" Type="http://schemas.openxmlformats.org/officeDocument/2006/relationships/image" Target="../media/image67.emf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70.png"/><Relationship Id="rId4" Type="http://schemas.openxmlformats.org/officeDocument/2006/relationships/image" Target="../media/image55.emf"/><Relationship Id="rId9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E5E0F0-D06E-8966-4394-D898EE18E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Update: Piezo-energy harvesting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426BC22-FBD1-FB20-A1DA-E2A168474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/>
              <a:t>Chongan Wang</a:t>
            </a:r>
          </a:p>
          <a:p>
            <a:r>
              <a:rPr lang="en-US" dirty="0"/>
              <a:t>2024-11-22</a:t>
            </a:r>
          </a:p>
        </p:txBody>
      </p:sp>
    </p:spTree>
    <p:extLst>
      <p:ext uri="{BB962C8B-B14F-4D97-AF65-F5344CB8AC3E}">
        <p14:creationId xmlns:p14="http://schemas.microsoft.com/office/powerpoint/2010/main" val="384523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704BD-56EB-0DF8-7DFA-C668C9F6A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Description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A5F1708-A61E-18EE-E16D-62BD7753F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2</a:t>
            </a:fld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6D7819-105F-2567-D320-DF3650990B9B}"/>
              </a:ext>
            </a:extLst>
          </p:cNvPr>
          <p:cNvSpPr txBox="1"/>
          <p:nvPr/>
        </p:nvSpPr>
        <p:spPr>
          <a:xfrm>
            <a:off x="6347491" y="2111558"/>
            <a:ext cx="524876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Conceptual idea: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We consider a cantilever beam with base excitation for energy harvesting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Two piezoelectric patches are bonded onto the cantilever beam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One pair of piezo-patches are shunted with resistor inductor circuits as the energy </a:t>
            </a:r>
            <a:r>
              <a:rPr lang="en-US" dirty="0" err="1"/>
              <a:t>harvestor</a:t>
            </a:r>
            <a:endParaRPr lang="en-US" dirty="0"/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An electric input is applied on the other piezoelectric patches that slowly modulates the effective amplitude of the excitation</a:t>
            </a:r>
          </a:p>
        </p:txBody>
      </p:sp>
      <p:pic>
        <p:nvPicPr>
          <p:cNvPr id="4" name="Picture 3" descr="A white board with math equations and formulas&#10;&#10;Description automatically generated">
            <a:extLst>
              <a:ext uri="{FF2B5EF4-FFF2-40B4-BE49-F238E27FC236}">
                <a16:creationId xmlns:a16="http://schemas.microsoft.com/office/drawing/2014/main" id="{0FC2747E-707D-94B9-3DC7-3E78541A9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12" y="2296392"/>
            <a:ext cx="6005645" cy="358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491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26663-2986-0723-FDFE-B5E4D0A67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9E069-804C-78A2-6EC6-A7C3F7073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51CE3DD-00A4-96A0-5107-833EC2BA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250225-E91C-14DF-7768-D8798F71D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440" y="2747627"/>
            <a:ext cx="2060328" cy="328959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6F8FD96-2C9F-AE82-B9B9-3AD1E9DBA157}"/>
              </a:ext>
            </a:extLst>
          </p:cNvPr>
          <p:cNvGrpSpPr/>
          <p:nvPr/>
        </p:nvGrpSpPr>
        <p:grpSpPr>
          <a:xfrm>
            <a:off x="7886988" y="1792601"/>
            <a:ext cx="2839932" cy="4903851"/>
            <a:chOff x="7428330" y="1452499"/>
            <a:chExt cx="2839932" cy="490385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8E13497-C91C-C95A-A369-818C88793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28330" y="3066751"/>
              <a:ext cx="2060328" cy="3289599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7EE9325-4ECF-1A26-8B90-C6553438FC20}"/>
                </a:ext>
              </a:extLst>
            </p:cNvPr>
            <p:cNvGrpSpPr/>
            <p:nvPr/>
          </p:nvGrpSpPr>
          <p:grpSpPr>
            <a:xfrm>
              <a:off x="7748689" y="1452499"/>
              <a:ext cx="2519573" cy="1881611"/>
              <a:chOff x="7748689" y="1452499"/>
              <a:chExt cx="2519573" cy="1881611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C30B476D-E5B9-1952-6B2B-BA6A3DD49F35}"/>
                  </a:ext>
                </a:extLst>
              </p:cNvPr>
              <p:cNvCxnSpPr/>
              <p:nvPr/>
            </p:nvCxnSpPr>
            <p:spPr>
              <a:xfrm flipV="1">
                <a:off x="8032173" y="1690688"/>
                <a:ext cx="0" cy="160323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4A149817-FC3F-48BF-4F9C-1FCE70A122C6}"/>
                  </a:ext>
                </a:extLst>
              </p:cNvPr>
              <p:cNvCxnSpPr/>
              <p:nvPr/>
            </p:nvCxnSpPr>
            <p:spPr>
              <a:xfrm flipV="1">
                <a:off x="8107725" y="1730880"/>
                <a:ext cx="0" cy="160323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20B4CDF-954D-3274-BC43-79597DF2C25D}"/>
                  </a:ext>
                </a:extLst>
              </p:cNvPr>
              <p:cNvCxnSpPr/>
              <p:nvPr/>
            </p:nvCxnSpPr>
            <p:spPr>
              <a:xfrm flipV="1">
                <a:off x="8904799" y="1513329"/>
                <a:ext cx="0" cy="160323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FC078A5E-5F9C-C0C9-14F2-BBDD4D285F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32173" y="1460342"/>
                <a:ext cx="790280" cy="232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C0A476-1398-823C-6E4A-E308C5B8C4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14519" y="1513329"/>
                <a:ext cx="790280" cy="232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DE10B5C-1678-A3AC-4FC3-A69982E01C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00408" y="1452499"/>
                <a:ext cx="104390" cy="6083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66B5BEBA-081B-4384-CE96-0534F64DEF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21840" y="1693314"/>
                <a:ext cx="104390" cy="6083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9133797-A759-325B-A9AD-F4A0F8E302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21840" y="3234849"/>
                <a:ext cx="104390" cy="6083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1BBB4C9-F3C5-71F4-DB8E-7652D7519F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14518" y="3052148"/>
                <a:ext cx="790280" cy="232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B337062-F4DB-8557-D66E-ADC6B34FF2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10600" y="2492303"/>
                <a:ext cx="434313" cy="18426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5665E364-C9A7-4693-F5CC-60049ED64D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48689" y="2173270"/>
                <a:ext cx="264980" cy="11242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3AA2DA87-B1C7-B92C-6471-9F359D7AA6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48689" y="2039629"/>
                <a:ext cx="293818" cy="13188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AE946DA-7BB4-0312-D87D-915163345D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98004" y="1591849"/>
                <a:ext cx="293818" cy="13188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CCB88514-76EF-B578-3B3A-C8A5D675EC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44913" y="2138828"/>
                <a:ext cx="1223349" cy="53739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5636A725-3961-2753-CE10-748ADE0A5C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98617" y="1591849"/>
                <a:ext cx="309725" cy="153811"/>
              </a:xfrm>
              <a:prstGeom prst="line">
                <a:avLst/>
              </a:prstGeom>
              <a:ln>
                <a:head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5FA1D56D-D9ED-2411-AA55-0F2D736629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58537" y="1984670"/>
                <a:ext cx="309725" cy="153811"/>
              </a:xfrm>
              <a:prstGeom prst="line">
                <a:avLst/>
              </a:prstGeom>
              <a:ln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CD387317-E3B7-F814-4913-093D34C32DB5}"/>
                      </a:ext>
                    </a:extLst>
                  </p:cNvPr>
                  <p:cNvSpPr txBox="1"/>
                  <p:nvPr/>
                </p:nvSpPr>
                <p:spPr>
                  <a:xfrm>
                    <a:off x="9419035" y="1651741"/>
                    <a:ext cx="65229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CD387317-E3B7-F814-4913-093D34C32DB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19035" y="1651741"/>
                    <a:ext cx="652294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FB537D4-FAF1-A0E9-0AED-185653857D3B}"/>
              </a:ext>
            </a:extLst>
          </p:cNvPr>
          <p:cNvSpPr txBox="1"/>
          <p:nvPr/>
        </p:nvSpPr>
        <p:spPr>
          <a:xfrm>
            <a:off x="651606" y="6169580"/>
            <a:ext cx="3809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Previous work in Obaidullah’s paper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59AFF1-DC53-5209-4630-7DA9B5C48D71}"/>
              </a:ext>
            </a:extLst>
          </p:cNvPr>
          <p:cNvSpPr txBox="1"/>
          <p:nvPr/>
        </p:nvSpPr>
        <p:spPr>
          <a:xfrm>
            <a:off x="4358282" y="2760522"/>
            <a:ext cx="3289367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We consider two piezoelectric patches</a:t>
            </a:r>
          </a:p>
          <a:p>
            <a:pPr>
              <a:spcAft>
                <a:spcPts val="1200"/>
              </a:spcAft>
            </a:pPr>
            <a:r>
              <a:rPr lang="en-US" dirty="0"/>
              <a:t>A voltage signal is applied on the piezoelectric patch near the tip</a:t>
            </a:r>
          </a:p>
          <a:p>
            <a:pPr>
              <a:spcAft>
                <a:spcPts val="1200"/>
              </a:spcAft>
            </a:pPr>
            <a:r>
              <a:rPr lang="en-US" dirty="0"/>
              <a:t>The piezoelectric patches near the base is shunted by the following nonlinear circuit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3407D47-915A-C755-6E41-3B346E2BC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090" y="1701349"/>
            <a:ext cx="2823028" cy="79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174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07784-0F26-01B0-6D16-B0F259DF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7E35D-55CA-5738-5D0F-00807A308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07" y="179640"/>
            <a:ext cx="10515600" cy="1325563"/>
          </a:xfrm>
        </p:spPr>
        <p:txBody>
          <a:bodyPr/>
          <a:lstStyle/>
          <a:p>
            <a:r>
              <a:rPr lang="en-US" dirty="0"/>
              <a:t>EOM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D24337F-F0B6-F0B6-2F6C-2953E53DD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2C6B1B4-E198-32DE-AD91-DA203BB71547}"/>
              </a:ext>
            </a:extLst>
          </p:cNvPr>
          <p:cNvGrpSpPr/>
          <p:nvPr/>
        </p:nvGrpSpPr>
        <p:grpSpPr>
          <a:xfrm>
            <a:off x="7625731" y="1690688"/>
            <a:ext cx="4390560" cy="4903851"/>
            <a:chOff x="7886988" y="1792601"/>
            <a:chExt cx="4390560" cy="490385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144FFB4-35D8-13FB-EE93-41D7A9854CBA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F31F6474-2BBE-B5B1-E4DB-295A07A234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D1D3BE6-0733-D497-5A6F-D16E8846037E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2C849AB0-CDA1-3685-4F21-82E067C63D59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643DD884-B367-5509-3EF4-C8648D3056B3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3791194F-76BF-FBEC-1032-0BEC960664BA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DE89DB06-DB8F-F02A-0EFF-1EC0D92D94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0CACB98B-AA89-8FE4-E179-DD4386EA40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523A1172-C5A0-459B-C650-DEAA0C1BE6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1C79BAF5-03F5-4956-B0C8-8769EB59B8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7AFD6FBC-161B-A572-0606-AB31E7B11A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855CA9DE-9BEB-818D-A776-0A5A527A4D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B9E418B5-972D-CE74-73E6-CCAE341D84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E2F01DF3-3121-C62C-F5AC-9EB2A50E8A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34C12270-0B61-6EC6-8D75-0DF4E9804B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EFC540EA-C45E-9185-2665-8CE491F72E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04D72E2E-E04D-ABF0-DA42-D29B838AB0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60509CAE-8F8A-FBA0-8203-7A293D5C27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13CE0584-0EDD-7C2B-34D6-9510664E6F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46A12B31-0598-5E01-E077-481F183E5FB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46A12B31-0598-5E01-E077-481F183E5FB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CB9A5D6-3232-101B-99BD-1A68F774F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4520" y="3841676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A795BE9-40DF-C9B3-DABF-3B1A2AFC43E7}"/>
                  </a:ext>
                </a:extLst>
              </p:cNvPr>
              <p:cNvSpPr txBox="1"/>
              <p:nvPr/>
            </p:nvSpPr>
            <p:spPr>
              <a:xfrm>
                <a:off x="333518" y="1906943"/>
                <a:ext cx="7785847" cy="650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𝑌𝐼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𝜗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𝜗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A795BE9-40DF-C9B3-DABF-3B1A2AFC4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18" y="1906943"/>
                <a:ext cx="7785847" cy="6505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D6B83B7-5AE7-3595-4F8A-1632138DD098}"/>
                  </a:ext>
                </a:extLst>
              </p:cNvPr>
              <p:cNvSpPr txBox="1"/>
              <p:nvPr/>
            </p:nvSpPr>
            <p:spPr>
              <a:xfrm>
                <a:off x="2375870" y="3009750"/>
                <a:ext cx="2700493" cy="586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D6B83B7-5AE7-3595-4F8A-1632138DD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870" y="3009750"/>
                <a:ext cx="2700493" cy="586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9756F452-B661-2E24-1170-03344D3F0B55}"/>
              </a:ext>
            </a:extLst>
          </p:cNvPr>
          <p:cNvSpPr txBox="1"/>
          <p:nvPr/>
        </p:nvSpPr>
        <p:spPr>
          <a:xfrm>
            <a:off x="2315579" y="2610136"/>
            <a:ext cx="3036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Neglect structural damping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A7A75C-F221-37AC-D7A9-3C45E09636EA}"/>
              </a:ext>
            </a:extLst>
          </p:cNvPr>
          <p:cNvSpPr txBox="1"/>
          <p:nvPr/>
        </p:nvSpPr>
        <p:spPr>
          <a:xfrm>
            <a:off x="2773994" y="1544626"/>
            <a:ext cx="19042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Bending moment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FBB2D92-E307-3A81-28B9-64F01A8663F6}"/>
                  </a:ext>
                </a:extLst>
              </p:cNvPr>
              <p:cNvSpPr txBox="1"/>
              <p:nvPr/>
            </p:nvSpPr>
            <p:spPr>
              <a:xfrm>
                <a:off x="8879946" y="3018862"/>
                <a:ext cx="1195397" cy="616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FBB2D92-E307-3A81-28B9-64F01A866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9946" y="3018862"/>
                <a:ext cx="1195397" cy="6164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FCE7383-7180-B7CE-1ABF-86469CC628FB}"/>
                  </a:ext>
                </a:extLst>
              </p:cNvPr>
              <p:cNvSpPr txBox="1"/>
              <p:nvPr/>
            </p:nvSpPr>
            <p:spPr>
              <a:xfrm>
                <a:off x="8848836" y="1358683"/>
                <a:ext cx="1195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FCE7383-7180-B7CE-1ABF-86469CC62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836" y="1358683"/>
                <a:ext cx="119539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DB45E0B1-ED88-A804-7CD0-8982334397BE}"/>
              </a:ext>
            </a:extLst>
          </p:cNvPr>
          <p:cNvSpPr txBox="1"/>
          <p:nvPr/>
        </p:nvSpPr>
        <p:spPr>
          <a:xfrm>
            <a:off x="2656867" y="3640575"/>
            <a:ext cx="27004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Circuit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71CAC02-0F9A-942D-276F-14A8E7B8DC9A}"/>
                  </a:ext>
                </a:extLst>
              </p:cNvPr>
              <p:cNvSpPr txBox="1"/>
              <p:nvPr/>
            </p:nvSpPr>
            <p:spPr>
              <a:xfrm>
                <a:off x="778269" y="4027827"/>
                <a:ext cx="6847462" cy="6988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subSup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16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𝜗</m:t>
                      </m:r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f>
                            <m:f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num>
                            <m:den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sz="16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71CAC02-0F9A-942D-276F-14A8E7B8D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269" y="4027827"/>
                <a:ext cx="6847462" cy="6988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0440346-5C88-9CB1-F9FD-CC83C4F97BC8}"/>
                  </a:ext>
                </a:extLst>
              </p:cNvPr>
              <p:cNvSpPr txBox="1"/>
              <p:nvPr/>
            </p:nvSpPr>
            <p:spPr>
              <a:xfrm>
                <a:off x="936915" y="4841930"/>
                <a:ext cx="5793353" cy="942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denotes the voltage,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prescribed,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en-US" dirty="0"/>
                  <a:t> denotes the electro-mechanical coupling term given by material and structural parameters</a:t>
                </a: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0440346-5C88-9CB1-F9FD-CC83C4F97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915" y="4841930"/>
                <a:ext cx="5793353" cy="942887"/>
              </a:xfrm>
              <a:prstGeom prst="rect">
                <a:avLst/>
              </a:prstGeom>
              <a:blipFill>
                <a:blip r:embed="rId10"/>
                <a:stretch>
                  <a:fillRect l="-947" t="-1935" r="-1158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9DBCAF6-C96F-6EB1-2518-EB38DD544CC3}"/>
                  </a:ext>
                </a:extLst>
              </p:cNvPr>
              <p:cNvSpPr txBox="1"/>
              <p:nvPr/>
            </p:nvSpPr>
            <p:spPr>
              <a:xfrm>
                <a:off x="897371" y="5900074"/>
                <a:ext cx="5793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9DBCAF6-C96F-6EB1-2518-EB38DD544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71" y="5900074"/>
                <a:ext cx="579335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4420471A-2A03-DA71-DC30-56C16F34FDEE}"/>
              </a:ext>
            </a:extLst>
          </p:cNvPr>
          <p:cNvSpPr txBox="1"/>
          <p:nvPr/>
        </p:nvSpPr>
        <p:spPr>
          <a:xfrm>
            <a:off x="1984256" y="6329299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Base excitation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414F6C-EA13-FF71-CA75-31106875FA7A}"/>
              </a:ext>
            </a:extLst>
          </p:cNvPr>
          <p:cNvSpPr txBox="1"/>
          <p:nvPr/>
        </p:nvSpPr>
        <p:spPr>
          <a:xfrm>
            <a:off x="3949909" y="6340464"/>
            <a:ext cx="26217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Relative displacement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B0DE6D0-FBC9-12A3-7E2F-DB839E1CAE6F}"/>
              </a:ext>
            </a:extLst>
          </p:cNvPr>
          <p:cNvCxnSpPr/>
          <p:nvPr/>
        </p:nvCxnSpPr>
        <p:spPr>
          <a:xfrm flipV="1">
            <a:off x="2904565" y="6205818"/>
            <a:ext cx="302559" cy="1505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902D2EF-1A62-8AE4-702F-71FDCB9ECF3B}"/>
              </a:ext>
            </a:extLst>
          </p:cNvPr>
          <p:cNvCxnSpPr>
            <a:cxnSpLocks/>
          </p:cNvCxnSpPr>
          <p:nvPr/>
        </p:nvCxnSpPr>
        <p:spPr>
          <a:xfrm flipH="1" flipV="1">
            <a:off x="4180345" y="6269406"/>
            <a:ext cx="275228" cy="869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851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6B8FA-CA62-2926-C814-7F8A4C332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F4E83-A616-F857-94C1-7A81659BF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932" y="195201"/>
            <a:ext cx="10515600" cy="1325563"/>
          </a:xfrm>
        </p:spPr>
        <p:txBody>
          <a:bodyPr/>
          <a:lstStyle/>
          <a:p>
            <a:r>
              <a:rPr lang="en-US" dirty="0"/>
              <a:t>ROM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EC8A7D2-7431-B1D8-0C56-6865FEAC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12462D-B855-79CD-F39A-FE0E05882C30}"/>
              </a:ext>
            </a:extLst>
          </p:cNvPr>
          <p:cNvGrpSpPr/>
          <p:nvPr/>
        </p:nvGrpSpPr>
        <p:grpSpPr>
          <a:xfrm>
            <a:off x="7625731" y="1690688"/>
            <a:ext cx="4390560" cy="4903851"/>
            <a:chOff x="7886988" y="1792601"/>
            <a:chExt cx="4390560" cy="490385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0F40DE0-FEC2-C0E9-6017-E4EB42C34133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CA2B198F-08F6-8F9C-B77D-98D7A0D70C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7A1099B-77D1-3388-0D43-A9848C1EAB5E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5825471D-3C45-A6E4-2A72-668C6AFBA383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92594A58-42B0-E90B-D618-9BD28DCCCF0D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637437D8-FC41-29A2-5F3A-23FEE12F0956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68F1C87D-5DD4-34B7-682B-F4A253BACD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106F184F-4E69-443B-49AE-B3F4599638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33000529-E93B-DB16-6A24-F631E754B6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6E2832D9-6725-0454-7A87-74F0D102E8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8AA6D9DB-EC35-415B-7183-CD2EF3186C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71D1BDBA-B1F4-26C9-4320-9CCFDF9B08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5EF0FEDB-B8FD-2900-F4E8-8130D493AB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936F5195-2980-8F01-658B-E441D25FB4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F670B72D-E50A-C93C-1E8E-4BDAB68CE5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017E3B3D-3EBF-5CE5-D6B2-17A54FC256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E9F866E9-45AA-7EA8-D8AD-85BA012D9F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4ADFCA32-EBAA-A5E1-758B-F61C7703F4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F6F8AFC3-626E-4750-B3C9-FD9C87C137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71AC5A90-EECC-4844-9710-3EF2A4918E7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71AC5A90-EECC-4844-9710-3EF2A4918E7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0D3E1EA-8DD4-C84D-E5AE-E618562E4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4520" y="3841676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A9AA907-1DF1-2325-5961-C7A919F88F4C}"/>
                  </a:ext>
                </a:extLst>
              </p:cNvPr>
              <p:cNvSpPr txBox="1"/>
              <p:nvPr/>
            </p:nvSpPr>
            <p:spPr>
              <a:xfrm>
                <a:off x="8879946" y="3018862"/>
                <a:ext cx="1195397" cy="616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A9AA907-1DF1-2325-5961-C7A919F88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9946" y="3018862"/>
                <a:ext cx="1195397" cy="6164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ECC83A8-35A0-751B-D5D5-F61DF9C62EDE}"/>
                  </a:ext>
                </a:extLst>
              </p:cNvPr>
              <p:cNvSpPr txBox="1"/>
              <p:nvPr/>
            </p:nvSpPr>
            <p:spPr>
              <a:xfrm>
                <a:off x="8848836" y="1358683"/>
                <a:ext cx="1195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ECC83A8-35A0-751B-D5D5-F61DF9C62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836" y="1358683"/>
                <a:ext cx="119539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25D0D96-7D21-B643-956A-051D086DC7C8}"/>
                  </a:ext>
                </a:extLst>
              </p:cNvPr>
              <p:cNvSpPr txBox="1"/>
              <p:nvPr/>
            </p:nvSpPr>
            <p:spPr>
              <a:xfrm>
                <a:off x="561312" y="1373869"/>
                <a:ext cx="5793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25D0D96-7D21-B643-956A-051D086DC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12" y="1373869"/>
                <a:ext cx="579335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ADC11B-26C8-8D16-FC4D-859CB8908002}"/>
                  </a:ext>
                </a:extLst>
              </p:cNvPr>
              <p:cNvSpPr txBox="1"/>
              <p:nvPr/>
            </p:nvSpPr>
            <p:spPr>
              <a:xfrm>
                <a:off x="965490" y="2424523"/>
                <a:ext cx="6096000" cy="86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ADC11B-26C8-8D16-FC4D-859CB8908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90" y="2424523"/>
                <a:ext cx="6096000" cy="8607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DBE680D-2C2E-1DD0-2A5F-C5CB9350751B}"/>
              </a:ext>
            </a:extLst>
          </p:cNvPr>
          <p:cNvSpPr txBox="1"/>
          <p:nvPr/>
        </p:nvSpPr>
        <p:spPr>
          <a:xfrm>
            <a:off x="707707" y="1875826"/>
            <a:ext cx="68269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assume that the beam deflection is approximated by the first mode of a cantilever beam,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F5E1DEC-65D9-3377-91A9-9A880405E1B2}"/>
                  </a:ext>
                </a:extLst>
              </p:cNvPr>
              <p:cNvSpPr txBox="1"/>
              <p:nvPr/>
            </p:nvSpPr>
            <p:spPr>
              <a:xfrm>
                <a:off x="836716" y="3823222"/>
                <a:ext cx="6096000" cy="13081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</m:acc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1,1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acc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1,2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acc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acc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1,1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</m:acc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F5E1DEC-65D9-3377-91A9-9A880405E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716" y="3823222"/>
                <a:ext cx="6096000" cy="130817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762BBD4D-D607-E1B0-BC35-E090281FC371}"/>
              </a:ext>
            </a:extLst>
          </p:cNvPr>
          <p:cNvSpPr txBox="1"/>
          <p:nvPr/>
        </p:nvSpPr>
        <p:spPr>
          <a:xfrm>
            <a:off x="682652" y="3368129"/>
            <a:ext cx="6826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ROM equation,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D987B86-EEC3-400E-CA7B-554D70CE869B}"/>
                  </a:ext>
                </a:extLst>
              </p:cNvPr>
              <p:cNvSpPr txBox="1"/>
              <p:nvPr/>
            </p:nvSpPr>
            <p:spPr>
              <a:xfrm>
                <a:off x="682652" y="5217162"/>
                <a:ext cx="5672013" cy="12909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kern="1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where, </a:t>
                </a:r>
                <a14:m>
                  <m:oMath xmlns:m="http://schemas.openxmlformats.org/officeDocument/2006/math">
                    <m:r>
                      <a:rPr lang="en-US" i="1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b="0" i="0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nary>
                      <m:naryPr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nary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𝜒</m:t>
                        </m:r>
                      </m:e>
                      <m:sub>
                        <m:r>
                          <a:rPr lang="en-US" i="1"/>
                          <m:t>1,1</m:t>
                        </m:r>
                      </m:sub>
                    </m:sSub>
                    <m:r>
                      <a:rPr lang="en-US" i="1"/>
                      <m:t>=</m:t>
                    </m:r>
                    <m:r>
                      <a:rPr lang="en-US" i="1"/>
                      <m:t>𝜗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𝜙</m:t>
                        </m:r>
                      </m:e>
                      <m:sub>
                        <m:r>
                          <a:rPr lang="en-US" i="1"/>
                          <m:t>1</m:t>
                        </m:r>
                      </m:sub>
                      <m:sup>
                        <m:r>
                          <a:rPr lang="en-US" i="1"/>
                          <m:t>′</m:t>
                        </m:r>
                      </m:sup>
                    </m:sSubSup>
                    <m:d>
                      <m:dPr>
                        <m:ctrlPr>
                          <a:rPr lang="en-US" i="1"/>
                        </m:ctrlPr>
                      </m:dPr>
                      <m:e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𝑙</m:t>
                            </m:r>
                          </m:num>
                          <m:den>
                            <m:r>
                              <a:rPr lang="en-US" i="1"/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𝜒</m:t>
                        </m:r>
                      </m:e>
                      <m:sub>
                        <m:r>
                          <a:rPr lang="en-US" i="1"/>
                          <m:t>1,2</m:t>
                        </m:r>
                      </m:sub>
                    </m:sSub>
                    <m:r>
                      <a:rPr lang="en-US" i="1"/>
                      <m:t>=</m:t>
                    </m:r>
                    <m:r>
                      <a:rPr lang="en-US" i="1"/>
                      <m:t>𝜗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𝜙</m:t>
                            </m:r>
                          </m:e>
                          <m:sub>
                            <m:r>
                              <a:rPr lang="en-US" i="1"/>
                              <m:t>1</m:t>
                            </m:r>
                          </m:sub>
                          <m:sup>
                            <m:r>
                              <a:rPr lang="en-US" i="1"/>
                              <m:t>′</m:t>
                            </m:r>
                          </m:sup>
                        </m:sSub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𝑙</m:t>
                            </m:r>
                          </m:e>
                        </m:d>
                        <m:r>
                          <a:rPr lang="en-US" i="1"/>
                          <m:t>−</m:t>
                        </m:r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𝜙</m:t>
                            </m:r>
                          </m:e>
                          <m:sub>
                            <m:r>
                              <a:rPr lang="en-US" i="1"/>
                              <m:t>1</m:t>
                            </m:r>
                          </m:sub>
                          <m:sup>
                            <m:r>
                              <a:rPr lang="en-US" i="1"/>
                              <m:t>′</m:t>
                            </m:r>
                          </m:sup>
                        </m:sSub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/>
                                </m:ctrlPr>
                              </m:fPr>
                              <m:num>
                                <m:r>
                                  <a:rPr lang="en-US" i="1"/>
                                  <m:t>𝑙</m:t>
                                </m:r>
                              </m:num>
                              <m:den>
                                <m:r>
                                  <a:rPr lang="en-US" i="1"/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denotes the natural frequency of the first mode</a:t>
                </a: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D987B86-EEC3-400E-CA7B-554D70CE8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52" y="5217162"/>
                <a:ext cx="5672013" cy="1290994"/>
              </a:xfrm>
              <a:prstGeom prst="rect">
                <a:avLst/>
              </a:prstGeom>
              <a:blipFill>
                <a:blip r:embed="rId10"/>
                <a:stretch>
                  <a:fillRect l="-968" t="-35377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2151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094C6-4F34-0B16-F2CE-566E03BF4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85DBF-C3A9-C9B2-254D-35E91E518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009" y="161357"/>
            <a:ext cx="10515600" cy="1325563"/>
          </a:xfrm>
        </p:spPr>
        <p:txBody>
          <a:bodyPr/>
          <a:lstStyle/>
          <a:p>
            <a:r>
              <a:rPr lang="en-US" dirty="0"/>
              <a:t>Normalized ROM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78F1B03-8D6C-5614-D23A-E2CC1E15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DD5089-71A5-D5F2-F11F-F0746AE5E349}"/>
              </a:ext>
            </a:extLst>
          </p:cNvPr>
          <p:cNvGrpSpPr/>
          <p:nvPr/>
        </p:nvGrpSpPr>
        <p:grpSpPr>
          <a:xfrm>
            <a:off x="8273421" y="848969"/>
            <a:ext cx="3346108" cy="5770910"/>
            <a:chOff x="7380812" y="1792601"/>
            <a:chExt cx="3346108" cy="577091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1FA658B-A63C-F463-3EAC-A53F7D3C54BD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4C57C309-791B-3BA5-D824-18AC555B89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45371875-B2E5-57D8-963C-A10CA163073D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134A3DDE-7BCF-386B-9AB0-38251F318AA3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177720CB-1842-F080-969A-47A584704015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3AE25941-6E3B-01A4-9517-29087BD774D9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BCDDF7E0-55FB-9DA3-C107-5B5FE8D869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F4A169F3-9809-8588-1CFF-AFDB102F9C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BCDC2510-8EA7-A580-C065-86277634A4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ECBB69DA-B568-BB1B-CCA0-5783B50094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7E838EE7-7F97-625B-8298-9EA2A48F60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33396B2F-AD82-D6CA-C2D3-D91E6DEF40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740AAD74-5156-BCBA-DE13-F1BCC268E0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637EB100-639D-F4E7-CE03-8D015E0DAE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888AD290-090D-0EF4-0DC3-7BF9B89705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FB3F66E0-9CF1-179A-FA93-D8142DB4BA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3AF3A003-FD31-B35B-6DED-832FBE198A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43B53D5E-10A2-3585-EA4B-08DF23E47D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AEFD48D-D612-CABF-2894-1F5DC6B0B9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D600009B-CC62-A3E8-B766-E0ABE1C4150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D600009B-CC62-A3E8-B766-E0ABE1C4150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D37B585-099A-0E14-9665-685D8DA60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80812" y="6763682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FE0B9DF-FFE3-E8CA-F183-253172450C2C}"/>
                  </a:ext>
                </a:extLst>
              </p:cNvPr>
              <p:cNvSpPr txBox="1"/>
              <p:nvPr/>
            </p:nvSpPr>
            <p:spPr>
              <a:xfrm>
                <a:off x="10033812" y="2177143"/>
                <a:ext cx="1195397" cy="616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FE0B9DF-FFE3-E8CA-F183-253172450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812" y="2177143"/>
                <a:ext cx="1195397" cy="6164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80BDBB6-F76E-E4C9-CBB6-477003A3EEF8}"/>
                  </a:ext>
                </a:extLst>
              </p:cNvPr>
              <p:cNvSpPr txBox="1"/>
              <p:nvPr/>
            </p:nvSpPr>
            <p:spPr>
              <a:xfrm>
                <a:off x="10002702" y="516964"/>
                <a:ext cx="1195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80BDBB6-F76E-E4C9-CBB6-477003A3E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702" y="516964"/>
                <a:ext cx="119539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C4BD04-CB63-000D-7217-2E50593B1877}"/>
                  </a:ext>
                </a:extLst>
              </p:cNvPr>
              <p:cNvSpPr txBox="1"/>
              <p:nvPr/>
            </p:nvSpPr>
            <p:spPr>
              <a:xfrm>
                <a:off x="-31529" y="1656301"/>
                <a:ext cx="6096000" cy="13081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</m:acc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1,1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acc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1,2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acc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acc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1,1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</m:acc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C4BD04-CB63-000D-7217-2E50593B1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529" y="1656301"/>
                <a:ext cx="6096000" cy="130817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7F66066-303E-E52A-AC72-51CCFC1113BB}"/>
                  </a:ext>
                </a:extLst>
              </p:cNvPr>
              <p:cNvSpPr txBox="1"/>
              <p:nvPr/>
            </p:nvSpPr>
            <p:spPr>
              <a:xfrm>
                <a:off x="838200" y="4701217"/>
                <a:ext cx="6096000" cy="1655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7F66066-303E-E52A-AC72-51CCFC111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01217"/>
                <a:ext cx="6096000" cy="16551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rrow: Down 17">
            <a:extLst>
              <a:ext uri="{FF2B5EF4-FFF2-40B4-BE49-F238E27FC236}">
                <a16:creationId xmlns:a16="http://schemas.microsoft.com/office/drawing/2014/main" id="{0B89FFBF-4CA0-6389-2CCD-DE2D4E1B890B}"/>
              </a:ext>
            </a:extLst>
          </p:cNvPr>
          <p:cNvSpPr/>
          <p:nvPr/>
        </p:nvSpPr>
        <p:spPr>
          <a:xfrm>
            <a:off x="3079142" y="3634023"/>
            <a:ext cx="448724" cy="44033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D2B58A9-8592-9A34-2E62-74347E2F91EA}"/>
                  </a:ext>
                </a:extLst>
              </p:cNvPr>
              <p:cNvSpPr txBox="1"/>
              <p:nvPr/>
            </p:nvSpPr>
            <p:spPr>
              <a:xfrm>
                <a:off x="362713" y="3007164"/>
                <a:ext cx="3031138" cy="17059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=1/</m:t>
                      </m:r>
                      <m:rad>
                        <m:radPr>
                          <m:degHide m:val="on"/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</m:rad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D2B58A9-8592-9A34-2E62-74347E2F9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713" y="3007164"/>
                <a:ext cx="3031138" cy="17059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75D57F0-8081-7240-F998-C8F205E0502E}"/>
                  </a:ext>
                </a:extLst>
              </p:cNvPr>
              <p:cNvSpPr txBox="1"/>
              <p:nvPr/>
            </p:nvSpPr>
            <p:spPr>
              <a:xfrm>
                <a:off x="3620450" y="2913977"/>
                <a:ext cx="5345112" cy="17434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  <m:r>
                        <a:rPr lang="en-US" sz="1800" b="0" i="0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; 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rad>
                      <m:r>
                        <a:rPr lang="en-US" sz="1800" b="0" i="0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;</m:t>
                      </m:r>
                      <m:r>
                        <a:rPr lang="en-US" i="1"/>
                        <m:t>𝜁</m:t>
                      </m:r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𝐶</m:t>
                              </m:r>
                            </m:e>
                            <m:sub>
                              <m:r>
                                <a:rPr lang="en-US" i="1"/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𝑅</m:t>
                              </m:r>
                            </m:e>
                            <m:sub>
                              <m:r>
                                <a:rPr lang="en-US" i="1"/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𝜔</m:t>
                              </m:r>
                            </m:e>
                            <m:sub>
                              <m:r>
                                <a:rPr lang="en-US" i="1"/>
                                <m:t>1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n-US"/>
                        <m:t> 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kern="1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en-US" i="1" kern="1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kern="1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b="0" i="1" kern="10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;</m:t>
                      </m:r>
                      <m:r>
                        <a:rPr lang="en-US" i="1" kern="1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1800" b="0" i="0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; 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75D57F0-8081-7240-F998-C8F205E05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450" y="2913977"/>
                <a:ext cx="5345112" cy="174342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F2E12C9-C229-9128-5726-4E2AC982BF18}"/>
                  </a:ext>
                </a:extLst>
              </p:cNvPr>
              <p:cNvSpPr txBox="1"/>
              <p:nvPr/>
            </p:nvSpPr>
            <p:spPr>
              <a:xfrm>
                <a:off x="5156027" y="1239300"/>
                <a:ext cx="3868378" cy="17350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nary>
                            <m:nary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nary>
                        </m:num>
                        <m:den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1,2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1,1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F2E12C9-C229-9128-5726-4E2AC982B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027" y="1239300"/>
                <a:ext cx="3868378" cy="173502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L-Shape 38">
            <a:extLst>
              <a:ext uri="{FF2B5EF4-FFF2-40B4-BE49-F238E27FC236}">
                <a16:creationId xmlns:a16="http://schemas.microsoft.com/office/drawing/2014/main" id="{EC37A7D6-3E2A-4CB6-3A97-D244A7F4751F}"/>
              </a:ext>
            </a:extLst>
          </p:cNvPr>
          <p:cNvSpPr/>
          <p:nvPr/>
        </p:nvSpPr>
        <p:spPr>
          <a:xfrm flipH="1">
            <a:off x="3654051" y="1276983"/>
            <a:ext cx="4982189" cy="3394687"/>
          </a:xfrm>
          <a:prstGeom prst="corner">
            <a:avLst>
              <a:gd name="adj1" fmla="val 50000"/>
              <a:gd name="adj2" fmla="val 85879"/>
            </a:avLst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357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2359A-05B1-BF0C-4DE1-1B1B19AA1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E14B5-5E90-807C-FFC7-AEEDE76F1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41" y="308985"/>
            <a:ext cx="10515600" cy="1325563"/>
          </a:xfrm>
        </p:spPr>
        <p:txBody>
          <a:bodyPr/>
          <a:lstStyle/>
          <a:p>
            <a:r>
              <a:rPr lang="en-US" dirty="0"/>
              <a:t>Normalized ROM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2D0CA8E-604F-B22B-50E9-2A6628961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BD7ACD1-46DE-8D79-5440-22AFDE5F8608}"/>
              </a:ext>
            </a:extLst>
          </p:cNvPr>
          <p:cNvGrpSpPr/>
          <p:nvPr/>
        </p:nvGrpSpPr>
        <p:grpSpPr>
          <a:xfrm>
            <a:off x="8273421" y="848969"/>
            <a:ext cx="3346108" cy="5770910"/>
            <a:chOff x="7380812" y="1792601"/>
            <a:chExt cx="3346108" cy="577091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B891F8B-47BD-242A-4B36-8A5A70D39198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466D784C-DD65-E1AD-58EA-52111C4E81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754B232-610A-AF0D-DFF7-08CC55ABD977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D79B0F3A-DA44-D92F-9712-5BD472EAC2F8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3B69D2F4-A24E-EDB6-BF74-640686AF0F61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24A606E2-A861-9CB3-1C8F-244B1D28EB07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8A3D0167-7F0B-0786-FCF3-9AF6EF3A36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7A3E2311-411F-CD3E-D5E7-6A372B284A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7418F46E-0175-8F55-BEFA-4528D20F72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B69BE030-87B8-8053-73D2-D0E02C0BE2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7073C58A-DF06-D434-3FAD-87DE040DE4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22DB20D6-DA06-7B92-958C-5DF18F0F28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7726980-3909-A4AD-2460-2BC4A36C41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13175E98-25A5-7C5C-9707-1D37995021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76CBEFB0-F9E4-70B3-5710-9D86A5F8AD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08A3E909-71DD-786D-16F2-09F817C2B0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8D5C386-70AF-5E42-BB7D-77E6CADF7E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41B137C0-3EE5-FE1E-5386-50860BF19D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3E0181D-BB77-B89F-82CB-2B867286AD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E4C49E11-C059-F81F-A681-B0F19852959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E4C49E11-C059-F81F-A681-B0F19852959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A1FEF9F-1B0B-FCE5-71EC-CF9459C09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80812" y="6763682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20C8987-CA3D-0710-75B6-5C317AD3E3DB}"/>
                  </a:ext>
                </a:extLst>
              </p:cNvPr>
              <p:cNvSpPr txBox="1"/>
              <p:nvPr/>
            </p:nvSpPr>
            <p:spPr>
              <a:xfrm>
                <a:off x="10033812" y="2177143"/>
                <a:ext cx="1195397" cy="616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20C8987-CA3D-0710-75B6-5C317AD3E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812" y="2177143"/>
                <a:ext cx="1195397" cy="6164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C6E1366-B766-736C-4412-591F34C68E2A}"/>
                  </a:ext>
                </a:extLst>
              </p:cNvPr>
              <p:cNvSpPr txBox="1"/>
              <p:nvPr/>
            </p:nvSpPr>
            <p:spPr>
              <a:xfrm>
                <a:off x="10002702" y="516964"/>
                <a:ext cx="1195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C6E1366-B766-736C-4412-591F34C68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702" y="516964"/>
                <a:ext cx="119539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40D30FE-3AED-502E-7E30-8E50F055A507}"/>
                  </a:ext>
                </a:extLst>
              </p:cNvPr>
              <p:cNvSpPr txBox="1"/>
              <p:nvPr/>
            </p:nvSpPr>
            <p:spPr>
              <a:xfrm>
                <a:off x="1215259" y="1463092"/>
                <a:ext cx="6096000" cy="1655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40D30FE-3AED-502E-7E30-8E50F055A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259" y="1463092"/>
                <a:ext cx="6096000" cy="16551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DC9A82-7B60-AEAE-3135-86E6D32108CF}"/>
                  </a:ext>
                </a:extLst>
              </p:cNvPr>
              <p:cNvSpPr txBox="1"/>
              <p:nvPr/>
            </p:nvSpPr>
            <p:spPr>
              <a:xfrm>
                <a:off x="602195" y="3523603"/>
                <a:ext cx="7562221" cy="1090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f>
                                <m:f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1800" kern="1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In the analysis, we assume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sSup>
                      <m:s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f>
                          <m:fPr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a slowly-varying term.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DC9A82-7B60-AEAE-3135-86E6D3210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95" y="3523603"/>
                <a:ext cx="7562221" cy="1090940"/>
              </a:xfrm>
              <a:prstGeom prst="rect">
                <a:avLst/>
              </a:prstGeom>
              <a:blipFill>
                <a:blip r:embed="rId8"/>
                <a:stretch>
                  <a:fillRect l="-726" b="-8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99F22523-E095-7B06-24E2-8020B1BDEEFF}"/>
              </a:ext>
            </a:extLst>
          </p:cNvPr>
          <p:cNvSpPr txBox="1"/>
          <p:nvPr/>
        </p:nvSpPr>
        <p:spPr>
          <a:xfrm>
            <a:off x="602195" y="31009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Quasi-periodic excitation: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475C23F-BA82-EB9D-B6CC-A0BCF8219563}"/>
                  </a:ext>
                </a:extLst>
              </p:cNvPr>
              <p:cNvSpPr txBox="1"/>
              <p:nvPr/>
            </p:nvSpPr>
            <p:spPr>
              <a:xfrm>
                <a:off x="1164347" y="4917121"/>
                <a:ext cx="6096000" cy="15759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</m:d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475C23F-BA82-EB9D-B6CC-A0BCF8219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347" y="4917121"/>
                <a:ext cx="6096000" cy="15759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3D9D85C-7715-0E85-19C5-4D5C0F2441BA}"/>
                  </a:ext>
                </a:extLst>
              </p:cNvPr>
              <p:cNvSpPr txBox="1"/>
              <p:nvPr/>
            </p:nvSpPr>
            <p:spPr>
              <a:xfrm>
                <a:off x="500596" y="4917121"/>
                <a:ext cx="1659467" cy="6120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3D9D85C-7715-0E85-19C5-4D5C0F244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96" y="4917121"/>
                <a:ext cx="1659467" cy="61202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34E01F6-A85E-7933-9AAD-D3590E5C26E1}"/>
                  </a:ext>
                </a:extLst>
              </p:cNvPr>
              <p:cNvSpPr txBox="1"/>
              <p:nvPr/>
            </p:nvSpPr>
            <p:spPr>
              <a:xfrm>
                <a:off x="665695" y="5692113"/>
                <a:ext cx="1329267" cy="7170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34E01F6-A85E-7933-9AAD-D3590E5C2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695" y="5692113"/>
                <a:ext cx="1329267" cy="71705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7056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4CF8-E903-14F6-2034-7E42445A0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17460-4702-6235-CBA9-FFCBCD018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CX-A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876863C-C5A7-BE26-407C-1365E822C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38E1B2B-8792-2661-4733-3CF53F81CEED}"/>
              </a:ext>
            </a:extLst>
          </p:cNvPr>
          <p:cNvGrpSpPr/>
          <p:nvPr/>
        </p:nvGrpSpPr>
        <p:grpSpPr>
          <a:xfrm>
            <a:off x="8273421" y="848969"/>
            <a:ext cx="3346108" cy="5770910"/>
            <a:chOff x="7380812" y="1792601"/>
            <a:chExt cx="3346108" cy="577091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0F50D34-8D41-478D-8A0F-4511E485124F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2A868DF2-E2A3-7151-B133-406AB9E9BC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E02A571-A869-56EA-673E-9CD526A26E86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50F81854-C270-9025-39E6-1E0AFC10863C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B1BCFFE4-C779-3D3D-FB67-8AD57856AD2C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AD569DA6-3B1B-4CB2-A5DB-5A7F53F0FF1B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171E4F0E-9421-D2D8-04F7-56781513B1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CBD15452-49AB-3EB2-B16B-2E2EE94F7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8C0F0277-A402-CD75-D3E8-D42E4BF21F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338EF7AB-A180-5FDB-FA24-F46914FFEB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CDD75153-0FFE-F29A-0760-A8E9DDA7E3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50ADABDF-6370-ADA5-0618-D0CDF8DB57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25FFF33A-D13F-AEED-6983-8A6777F1A1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4E47E68E-E65F-9E60-127A-8294444C79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D66BA6F4-B5F9-30D5-9B74-2C446BDC1F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2812D44C-5D73-B0B8-CA02-22EC70D876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B989AAD6-0773-41E7-B810-E4832BDA16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49C387F3-5788-07D8-0662-E5ACFD530B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021721D1-F663-9E87-E715-CB7C290EE3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B0302212-A191-B97E-A3CB-4736335EABC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B0302212-A191-B97E-A3CB-4736335EABC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8ABFE5-24EF-579D-29CE-EBE7CAD17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80812" y="6763682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FDFE8C5-9DCE-6157-0393-940CAD32A5BE}"/>
                  </a:ext>
                </a:extLst>
              </p:cNvPr>
              <p:cNvSpPr txBox="1"/>
              <p:nvPr/>
            </p:nvSpPr>
            <p:spPr>
              <a:xfrm>
                <a:off x="10033812" y="2177143"/>
                <a:ext cx="1195397" cy="616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FDFE8C5-9DCE-6157-0393-940CAD32A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812" y="2177143"/>
                <a:ext cx="1195397" cy="6164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16C64BF-F41A-87E6-3374-A84B0746F12F}"/>
                  </a:ext>
                </a:extLst>
              </p:cNvPr>
              <p:cNvSpPr txBox="1"/>
              <p:nvPr/>
            </p:nvSpPr>
            <p:spPr>
              <a:xfrm>
                <a:off x="10002702" y="516964"/>
                <a:ext cx="1195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16C64BF-F41A-87E6-3374-A84B0746F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702" y="516964"/>
                <a:ext cx="119539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5DCEB27-220C-6634-13C8-EB36391BA3C7}"/>
                  </a:ext>
                </a:extLst>
              </p:cNvPr>
              <p:cNvSpPr txBox="1"/>
              <p:nvPr/>
            </p:nvSpPr>
            <p:spPr>
              <a:xfrm>
                <a:off x="829425" y="1384572"/>
                <a:ext cx="6096000" cy="15759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5DCEB27-220C-6634-13C8-EB36391BA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425" y="1384572"/>
                <a:ext cx="6096000" cy="15759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397CFA4-07A8-F6E5-1004-56811702BC10}"/>
                  </a:ext>
                </a:extLst>
              </p:cNvPr>
              <p:cNvSpPr txBox="1"/>
              <p:nvPr/>
            </p:nvSpPr>
            <p:spPr>
              <a:xfrm>
                <a:off x="905015" y="3175867"/>
                <a:ext cx="6096000" cy="15074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/>
                        <m:t>=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/>
                            <m:t>Η</m:t>
                          </m:r>
                          <m:r>
                            <a:rPr lang="en-US"/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i="1"/>
                          </m:ctrlPr>
                        </m:sSupPr>
                        <m:e>
                          <m:r>
                            <a:rPr lang="en-US" i="1"/>
                            <m:t>𝑒</m:t>
                          </m:r>
                        </m:e>
                        <m:sup>
                          <m:r>
                            <a:rPr lang="en-US" i="1"/>
                            <m:t>𝑗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/>
                                <m:t>Ω</m:t>
                              </m:r>
                            </m:e>
                            <m:sub>
                              <m:r>
                                <a:rPr lang="en-US" i="1"/>
                                <m:t>𝑓</m:t>
                              </m:r>
                            </m:sub>
                          </m:sSub>
                          <m:r>
                            <a:rPr lang="en-US" i="1"/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/>
                        <m:t>=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/>
                            <m:t>Λ</m:t>
                          </m:r>
                          <m:r>
                            <a:rPr lang="en-US"/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i="1"/>
                          </m:ctrlPr>
                        </m:sSupPr>
                        <m:e>
                          <m:r>
                            <a:rPr lang="en-US" i="1"/>
                            <m:t>𝑒</m:t>
                          </m:r>
                        </m:e>
                        <m:sup>
                          <m:r>
                            <a:rPr lang="en-US" i="1"/>
                            <m:t>𝑗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/>
                                <m:t>Ω</m:t>
                              </m:r>
                            </m:e>
                            <m:sub>
                              <m:r>
                                <a:rPr lang="en-US" i="1"/>
                                <m:t>𝑓</m:t>
                              </m:r>
                            </m:sub>
                          </m:sSub>
                          <m:r>
                            <a:rPr lang="en-US" i="1"/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397CFA4-07A8-F6E5-1004-56811702B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015" y="3175867"/>
                <a:ext cx="6096000" cy="15074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4578E4DB-CEB6-1ED2-63B2-F23CF7747A2A}"/>
              </a:ext>
            </a:extLst>
          </p:cNvPr>
          <p:cNvSpPr txBox="1"/>
          <p:nvPr/>
        </p:nvSpPr>
        <p:spPr>
          <a:xfrm>
            <a:off x="905015" y="2991201"/>
            <a:ext cx="1159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Ansatz: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775C4E0-2690-6493-CF2D-E56E8CFC2430}"/>
                  </a:ext>
                </a:extLst>
              </p:cNvPr>
              <p:cNvSpPr txBox="1"/>
              <p:nvPr/>
            </p:nvSpPr>
            <p:spPr>
              <a:xfrm>
                <a:off x="882966" y="4963820"/>
                <a:ext cx="6096000" cy="1844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Θ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𝜁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8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b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Θ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775C4E0-2690-6493-CF2D-E56E8CFC2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966" y="4963820"/>
                <a:ext cx="6096000" cy="18449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E8BBD7B-6D8B-9F07-5A33-DD9EB9C57715}"/>
                  </a:ext>
                </a:extLst>
              </p:cNvPr>
              <p:cNvSpPr txBox="1"/>
              <p:nvPr/>
            </p:nvSpPr>
            <p:spPr>
              <a:xfrm>
                <a:off x="905015" y="4683331"/>
                <a:ext cx="2997200" cy="3860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Average out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terms:</a:t>
                </a: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E8BBD7B-6D8B-9F07-5A33-DD9EB9C57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015" y="4683331"/>
                <a:ext cx="2997200" cy="386003"/>
              </a:xfrm>
              <a:prstGeom prst="rect">
                <a:avLst/>
              </a:prstGeom>
              <a:blipFill>
                <a:blip r:embed="rId10"/>
                <a:stretch>
                  <a:fillRect l="-1626" t="-156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6202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6625B-FD2E-AD7E-F3FE-B6FEFC784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ADFA8-F79C-D78C-86C5-353495939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Steady-state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7E220EF-B59F-1554-9960-5E28EFAD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6C2DBD-83AA-A097-B6B9-F2962575D766}"/>
              </a:ext>
            </a:extLst>
          </p:cNvPr>
          <p:cNvGrpSpPr/>
          <p:nvPr/>
        </p:nvGrpSpPr>
        <p:grpSpPr>
          <a:xfrm>
            <a:off x="8273421" y="848969"/>
            <a:ext cx="3346108" cy="5770910"/>
            <a:chOff x="7380812" y="1792601"/>
            <a:chExt cx="3346108" cy="577091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16EC387-E7A6-32A6-61A6-B592792423CC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1B51CF2-780C-C088-1F23-0EC629DE90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F9EC8D1-6B00-6F80-356C-74BF3C89DB6F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05724146-D7A2-9267-2F48-9E33248F1F2F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1A823FF2-78FD-4832-3D31-DFE27765F329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F169B4B6-A1D2-2EDE-DC9D-09CE2F909AE1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EE7D2FAC-EDF4-F881-60CE-C81E135CA5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AA5B7DB9-D24E-2C6A-8527-40390E33CE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FD7DA08B-D269-5C02-0E93-C2442DCB3B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F9530247-5F35-F5BE-990F-D93DE65918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B2B9FB4E-FE07-92BA-CE12-6032ABA005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F1F1CD99-6F89-DD40-51D5-CB94291E6E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5DA01DCF-8FD0-C22F-2838-DFEBB1E0CB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1584A40B-1ABA-8B1D-C49D-4A82C23252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10CB154C-EAF0-22EF-DB1F-484999FF73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F4DF5EBC-FE9F-1420-31D6-609D56D04B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C65EBDE6-A221-A8E7-FC5B-9B0BF65E70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60F26545-82BD-1076-87A8-635DE6E350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CC1AAD0E-3A2D-18E9-866C-458D11BFAC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6BB0AD42-05B9-0C86-6159-819585E61E8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6BB0AD42-05B9-0C86-6159-819585E61E8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F57C0EC-DD2F-AAA0-B7FF-4A2921E66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80812" y="6763682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0FF0743-9A8D-B6C2-B4C4-1E1250E94EF4}"/>
                  </a:ext>
                </a:extLst>
              </p:cNvPr>
              <p:cNvSpPr txBox="1"/>
              <p:nvPr/>
            </p:nvSpPr>
            <p:spPr>
              <a:xfrm>
                <a:off x="10033812" y="2177143"/>
                <a:ext cx="1195397" cy="616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0FF0743-9A8D-B6C2-B4C4-1E1250E94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812" y="2177143"/>
                <a:ext cx="1195397" cy="6164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FACEC60-074C-93E9-76B3-D58D2221BFB1}"/>
                  </a:ext>
                </a:extLst>
              </p:cNvPr>
              <p:cNvSpPr txBox="1"/>
              <p:nvPr/>
            </p:nvSpPr>
            <p:spPr>
              <a:xfrm>
                <a:off x="10002702" y="516964"/>
                <a:ext cx="1195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FACEC60-074C-93E9-76B3-D58D2221B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702" y="516964"/>
                <a:ext cx="119539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F539EFC-0239-314A-CB4E-7C358EA9D673}"/>
                  </a:ext>
                </a:extLst>
              </p:cNvPr>
              <p:cNvSpPr txBox="1"/>
              <p:nvPr/>
            </p:nvSpPr>
            <p:spPr>
              <a:xfrm>
                <a:off x="995063" y="1381140"/>
                <a:ext cx="6096000" cy="1844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Θ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𝜁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8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b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Θ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F539EFC-0239-314A-CB4E-7C358EA9D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063" y="1381140"/>
                <a:ext cx="6096000" cy="18449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783EC97-B3F1-082E-2438-5FD20EFAFDCB}"/>
                  </a:ext>
                </a:extLst>
              </p:cNvPr>
              <p:cNvSpPr txBox="1"/>
              <p:nvPr/>
            </p:nvSpPr>
            <p:spPr>
              <a:xfrm>
                <a:off x="1999510" y="3119813"/>
                <a:ext cx="6096000" cy="618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  <m:r>
                                <a:rPr lang="en-US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b="0" i="1" kern="10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783EC97-B3F1-082E-2438-5FD20EFAF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510" y="3119813"/>
                <a:ext cx="6096000" cy="6183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row: Down 13">
            <a:extLst>
              <a:ext uri="{FF2B5EF4-FFF2-40B4-BE49-F238E27FC236}">
                <a16:creationId xmlns:a16="http://schemas.microsoft.com/office/drawing/2014/main" id="{20E9741A-64F6-B737-1F34-A0AD55559E0C}"/>
              </a:ext>
            </a:extLst>
          </p:cNvPr>
          <p:cNvSpPr/>
          <p:nvPr/>
        </p:nvSpPr>
        <p:spPr>
          <a:xfrm>
            <a:off x="3523279" y="3244305"/>
            <a:ext cx="448724" cy="44033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FC62B1C-2CD9-05AC-AA90-53F470666443}"/>
                  </a:ext>
                </a:extLst>
              </p:cNvPr>
              <p:cNvSpPr txBox="1"/>
              <p:nvPr/>
            </p:nvSpPr>
            <p:spPr>
              <a:xfrm>
                <a:off x="995063" y="3808362"/>
                <a:ext cx="6096000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  <m:r>
                                    <a:rPr 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  <m:r>
                                    <a:rPr 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  <m:r>
                                    <a:rPr 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  <m:r>
                                    <a:rPr 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FC62B1C-2CD9-05AC-AA90-53F470666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063" y="3808362"/>
                <a:ext cx="6096000" cy="369909"/>
              </a:xfrm>
              <a:prstGeom prst="rect">
                <a:avLst/>
              </a:prstGeom>
              <a:blipFill>
                <a:blip r:embed="rId9"/>
                <a:stretch>
                  <a:fillRect r="-1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4F4DB3-E319-E339-4BF8-3FF1FC459F7C}"/>
                  </a:ext>
                </a:extLst>
              </p:cNvPr>
              <p:cNvSpPr txBox="1"/>
              <p:nvPr/>
            </p:nvSpPr>
            <p:spPr>
              <a:xfrm>
                <a:off x="1052444" y="4285345"/>
                <a:ext cx="6096000" cy="14745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/>
                            <m:t>Η</m:t>
                          </m:r>
                          <m:r>
                            <a:rPr lang="en-US"/>
                            <m:t>1</m:t>
                          </m:r>
                        </m:sub>
                      </m:sSub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𝐹</m:t>
                          </m:r>
                          <m:r>
                            <a:rPr lang="en-US" i="1"/>
                            <m:t>+</m:t>
                          </m:r>
                          <m:f>
                            <m:fPr>
                              <m:ctrlPr>
                                <a:rPr lang="en-US" i="1"/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/>
                                <m:t>Θ</m:t>
                              </m:r>
                            </m:num>
                            <m:den>
                              <m:r>
                                <a:rPr lang="en-US" i="1"/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/>
                                <m:t>Λ</m:t>
                              </m:r>
                              <m:r>
                                <a:rPr lang="en-US"/>
                                <m:t>1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US" i="1"/>
                              </m:ctrlPr>
                            </m:fPr>
                            <m:num>
                              <m:r>
                                <a:rPr lang="en-US" i="1"/>
                                <m:t>1−</m:t>
                              </m:r>
                              <m:sSubSup>
                                <m:sSubSupPr>
                                  <m:ctrlPr>
                                    <a:rPr lang="en-US" i="1"/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/>
                                    <m:t>Ω</m:t>
                                  </m:r>
                                </m:e>
                                <m:sub>
                                  <m:r>
                                    <a:rPr lang="en-US" i="1"/>
                                    <m:t>𝑓</m:t>
                                  </m:r>
                                </m:sub>
                                <m:sup>
                                  <m:r>
                                    <a:rPr lang="en-US" i="1"/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i="1"/>
                                <m:t>2</m:t>
                              </m:r>
                              <m:r>
                                <a:rPr lang="en-US" i="1"/>
                                <m:t>𝑗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/>
                                    <m:t>Ω</m:t>
                                  </m:r>
                                </m:e>
                                <m:sub>
                                  <m:r>
                                    <a:rPr lang="en-US" i="1"/>
                                    <m:t>𝑓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  <a:p>
                <a:pPr/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4F4DB3-E319-E339-4BF8-3FF1FC459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444" y="4285345"/>
                <a:ext cx="6096000" cy="147450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79B2929-5C57-9AF2-0169-9DDA82BA6C5B}"/>
                  </a:ext>
                </a:extLst>
              </p:cNvPr>
              <p:cNvSpPr txBox="1"/>
              <p:nvPr/>
            </p:nvSpPr>
            <p:spPr>
              <a:xfrm>
                <a:off x="384481" y="5651480"/>
                <a:ext cx="7588046" cy="988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sz="180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𝜁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sub>
                                <m:sup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d>
                            <m:d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sSubSup>
                                <m:sSubSup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sub>
                                <m:sup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4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800" b="0" i="0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;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Θ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en-US" sz="1800" b="0" i="0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;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  <m:d>
                            <m:d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sSubSup>
                                <m:sSubSup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sub>
                                <m:sup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16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79B2929-5C57-9AF2-0169-9DDA82BA6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81" y="5651480"/>
                <a:ext cx="7588046" cy="9885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4406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038FA-01DB-8ACB-E82A-DB4C74EAD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CE29D-43FA-DDB1-B0FB-C5B6C9217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Stability analysis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A5E9A97-2C6F-C521-8249-F7579089F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149BE98-67B5-FC72-E3EE-852C0EF01B3D}"/>
              </a:ext>
            </a:extLst>
          </p:cNvPr>
          <p:cNvGrpSpPr/>
          <p:nvPr/>
        </p:nvGrpSpPr>
        <p:grpSpPr>
          <a:xfrm>
            <a:off x="8273421" y="848969"/>
            <a:ext cx="3346108" cy="5770910"/>
            <a:chOff x="7380812" y="1792601"/>
            <a:chExt cx="3346108" cy="577091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025C320-80ED-588D-6C72-9CCBD070B147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93A32F63-BE64-4CBE-126B-5BF1231EAB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1CB3EABB-B8CF-636A-5757-35B8D80F596D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19B50FB8-E13F-8531-7DBF-5A99D14A23A3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CD41C89E-39CB-437C-215F-60323C1B7715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2DFA52A1-B035-1AE8-8D36-E95CDE2E17A8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4C6FE368-17A0-4591-2D59-112C857239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593DC331-5289-FD6C-9110-17E5853C57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D3EF6111-ADA5-85D1-DA79-8DAEB2F53A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BB042362-FADE-63C0-F736-E97F556924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1A3B9A92-508B-7575-74B7-5331BE35BE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05D5816C-EB64-F121-99F1-812932007E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9E900828-F8C4-9DED-9BFC-E94A4370B1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5A9426FC-6BB2-8CE9-7ACF-4307AE376E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2D6C49E6-6A12-0FC0-6B11-73AF380678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345171B6-009D-1D33-8698-370C88BD0C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B02BFF8F-2FE6-B000-D965-FB716834A7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1095BA20-66EE-C2B5-ED8A-9BE5CB4C58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CF3CD233-8ACD-4B46-821D-05D0C5C27D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7D8F4277-23F8-7C38-6B95-B4223AED6BA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7D8F4277-23F8-7C38-6B95-B4223AED6BA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F60D532-95CE-8ABD-D466-176EB72DAE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80812" y="6763682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0C3D98B-2C7D-76F2-CFD6-065BBD922BF9}"/>
                  </a:ext>
                </a:extLst>
              </p:cNvPr>
              <p:cNvSpPr txBox="1"/>
              <p:nvPr/>
            </p:nvSpPr>
            <p:spPr>
              <a:xfrm>
                <a:off x="10033812" y="2177143"/>
                <a:ext cx="1195397" cy="616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0C3D98B-2C7D-76F2-CFD6-065BBD922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812" y="2177143"/>
                <a:ext cx="1195397" cy="6164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783BEB2-52A6-24F7-0D83-12FAF08EB63A}"/>
                  </a:ext>
                </a:extLst>
              </p:cNvPr>
              <p:cNvSpPr txBox="1"/>
              <p:nvPr/>
            </p:nvSpPr>
            <p:spPr>
              <a:xfrm>
                <a:off x="10002702" y="516964"/>
                <a:ext cx="1195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783BEB2-52A6-24F7-0D83-12FAF08EB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702" y="516964"/>
                <a:ext cx="119539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B2B57E4-B5CC-4EAF-0DB6-2FE1F8788547}"/>
                  </a:ext>
                </a:extLst>
              </p:cNvPr>
              <p:cNvSpPr txBox="1"/>
              <p:nvPr/>
            </p:nvSpPr>
            <p:spPr>
              <a:xfrm>
                <a:off x="995063" y="1381140"/>
                <a:ext cx="6096000" cy="1844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Θ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𝜁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8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b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Θ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B2B57E4-B5CC-4EAF-0DB6-2FE1F8788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063" y="1381140"/>
                <a:ext cx="6096000" cy="18449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2F03AF-21CF-11B7-7261-73CFF93CDB3B}"/>
                  </a:ext>
                </a:extLst>
              </p:cNvPr>
              <p:cNvSpPr txBox="1"/>
              <p:nvPr/>
            </p:nvSpPr>
            <p:spPr>
              <a:xfrm>
                <a:off x="2141252" y="3093652"/>
                <a:ext cx="6096000" cy="6706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/>
                            <m:t>Η</m:t>
                          </m:r>
                          <m:r>
                            <a:rPr lang="en-US"/>
                            <m:t>1</m:t>
                          </m:r>
                        </m:sub>
                      </m:sSub>
                      <m:r>
                        <a:rPr lang="en-US" i="1"/>
                        <m:t>=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/>
                            <m:t>Η</m:t>
                          </m:r>
                          <m:r>
                            <a:rPr lang="en-US"/>
                            <m:t>1,0</m:t>
                          </m:r>
                        </m:sub>
                      </m:sSub>
                      <m:r>
                        <a:rPr lang="en-US" i="1"/>
                        <m:t>+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𝜙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/>
                            <m:t>Η</m:t>
                          </m:r>
                          <m:r>
                            <a:rPr lang="en-US"/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/>
                            <m:t>Λ</m:t>
                          </m:r>
                          <m:r>
                            <a:rPr lang="en-US"/>
                            <m:t>1</m:t>
                          </m:r>
                        </m:sub>
                      </m:sSub>
                      <m:r>
                        <a:rPr lang="en-US" i="1"/>
                        <m:t>=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/>
                            <m:t>Λ</m:t>
                          </m:r>
                          <m:r>
                            <a:rPr lang="en-US"/>
                            <m:t>1,0</m:t>
                          </m:r>
                        </m:sub>
                      </m:sSub>
                      <m:r>
                        <a:rPr lang="en-US" i="1"/>
                        <m:t>+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𝜙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/>
                            <m:t>Λ</m:t>
                          </m:r>
                          <m:r>
                            <a:rPr lang="en-US"/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2F03AF-21CF-11B7-7261-73CFF93CD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252" y="3093652"/>
                <a:ext cx="6096000" cy="670696"/>
              </a:xfrm>
              <a:prstGeom prst="rect">
                <a:avLst/>
              </a:prstGeom>
              <a:blipFill>
                <a:blip r:embed="rId8"/>
                <a:stretch>
                  <a:fillRect b="-4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row: Down 13">
            <a:extLst>
              <a:ext uri="{FF2B5EF4-FFF2-40B4-BE49-F238E27FC236}">
                <a16:creationId xmlns:a16="http://schemas.microsoft.com/office/drawing/2014/main" id="{D29F0142-4467-A0D5-0058-B38F4578B312}"/>
              </a:ext>
            </a:extLst>
          </p:cNvPr>
          <p:cNvSpPr/>
          <p:nvPr/>
        </p:nvSpPr>
        <p:spPr>
          <a:xfrm>
            <a:off x="3523279" y="3244305"/>
            <a:ext cx="448724" cy="44033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3013CF0-BE7A-B0A9-2727-C4543EA25950}"/>
                  </a:ext>
                </a:extLst>
              </p:cNvPr>
              <p:cNvSpPr txBox="1"/>
              <p:nvPr/>
            </p:nvSpPr>
            <p:spPr>
              <a:xfrm>
                <a:off x="699641" y="3875024"/>
                <a:ext cx="6096000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Λ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Λ</m:t>
                                    </m:r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𝑩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1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1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Λ</m:t>
                                    </m:r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3013CF0-BE7A-B0A9-2727-C4543EA25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41" y="3875024"/>
                <a:ext cx="6096000" cy="7146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F1678F-280C-E70E-D029-47AFC41C0DE5}"/>
                  </a:ext>
                </a:extLst>
              </p:cNvPr>
              <p:cNvSpPr txBox="1"/>
              <p:nvPr/>
            </p:nvSpPr>
            <p:spPr>
              <a:xfrm>
                <a:off x="514084" y="5285420"/>
                <a:ext cx="7759337" cy="14777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Sup>
                                      <m:sSubSupPr>
                                        <m:ctrlPr>
                                          <a:rPr lang="en-US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  <m:sup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sSub>
                                      <m:sSubPr>
                                        <m:ctrlPr>
                                          <a:rPr lang="en-US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b="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num>
                                  <m:den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num>
                                  <m:den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b="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𝜁</m:t>
                                    </m:r>
                                  </m:num>
                                  <m:den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b="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en-US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  <m:sup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sSub>
                                      <m:sSubPr>
                                        <m:ctrlPr>
                                          <a:rPr lang="en-US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b="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sSub>
                                      <m:sSubPr>
                                        <m:ctrlPr>
                                          <a:rPr lang="en-US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Λ</m:t>
                                        </m:r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1,0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b="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0" i="1">
                                                <a:latin typeface="Cambria Math" panose="02040503050406030204" pitchFamily="18" charset="0"/>
                                              </a:rPr>
                                              <m:t>𝜑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Λ</m:t>
                                        </m:r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1,0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sSubSup>
                                      <m:sSubSupPr>
                                        <m:ctrlPr>
                                          <a:rPr lang="en-US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  <m:sup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bSup>
                                  </m:den>
                                </m:f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b="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sSubSup>
                                      <m:sSubSupPr>
                                        <m:ctrlPr>
                                          <a:rPr lang="en-US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Λ</m:t>
                                        </m:r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1,0</m:t>
                                        </m:r>
                                      </m:sub>
                                      <m:sup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sSubSup>
                                      <m:sSubSupPr>
                                        <m:ctrlPr>
                                          <a:rPr lang="en-US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  <m:sup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bSup>
                                  </m:den>
                                </m:f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F1678F-280C-E70E-D029-47AFC41C0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084" y="5285420"/>
                <a:ext cx="7759337" cy="147771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44D05E0-DE1C-6B5C-7E5A-9296EFBD547A}"/>
                  </a:ext>
                </a:extLst>
              </p:cNvPr>
              <p:cNvSpPr txBox="1"/>
              <p:nvPr/>
            </p:nvSpPr>
            <p:spPr>
              <a:xfrm>
                <a:off x="761141" y="4589707"/>
                <a:ext cx="6540676" cy="6202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1800" kern="100" dirty="0">
                    <a:solidFill>
                      <a:srgbClr val="FF0000"/>
                    </a:solidFill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Real parts of the eigenvalue of the matrix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b="1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</m:e>
                            <m:e>
                              <m:r>
                                <a:rPr lang="en-US" sz="1800" b="1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𝑩</m:t>
                              </m:r>
                            </m:e>
                          </m:mr>
                          <m:mr>
                            <m:e>
                              <m:acc>
                                <m:accPr>
                                  <m:chr m:val="̅"/>
                                  <m:ctrlPr>
                                    <a:rPr lang="en-US" sz="1800" b="1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1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𝑩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̅"/>
                                  <m:ctrlP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1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𝑨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r>
                  <a:rPr lang="en-US" sz="1800" kern="100" dirty="0">
                    <a:solidFill>
                      <a:srgbClr val="FF0000"/>
                    </a:solidFill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are negative</a:t>
                </a: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44D05E0-DE1C-6B5C-7E5A-9296EFBD5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141" y="4589707"/>
                <a:ext cx="6540676" cy="620298"/>
              </a:xfrm>
              <a:prstGeom prst="rect">
                <a:avLst/>
              </a:prstGeom>
              <a:blipFill>
                <a:blip r:embed="rId11"/>
                <a:stretch>
                  <a:fillRect l="-839"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1614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AAE28-5F55-A625-A2CD-AE57A48B7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2F447-29BF-46E3-0263-2ACB843F6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Numerical Confirmation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A7D2F1F-1A36-7D92-0023-2ECF85F1F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11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90930EB-D99F-367B-BF6F-50A7C6744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31" y="1783301"/>
            <a:ext cx="6981092" cy="482768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41ACE59-0E2E-1A80-83AE-E6498C71ABCB}"/>
              </a:ext>
            </a:extLst>
          </p:cNvPr>
          <p:cNvSpPr txBox="1"/>
          <p:nvPr/>
        </p:nvSpPr>
        <p:spPr>
          <a:xfrm>
            <a:off x="1606646" y="1413969"/>
            <a:ext cx="3809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Previous work in Obaidullah’s paper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F1A322-B7CA-6BEF-1B0A-11AFFD9BECA3}"/>
                  </a:ext>
                </a:extLst>
              </p:cNvPr>
              <p:cNvSpPr txBox="1"/>
              <p:nvPr/>
            </p:nvSpPr>
            <p:spPr>
              <a:xfrm>
                <a:off x="6397539" y="1853056"/>
                <a:ext cx="5659120" cy="1655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F1A322-B7CA-6BEF-1B0A-11AFFD9BE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539" y="1853056"/>
                <a:ext cx="5659120" cy="16551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>
            <a:extLst>
              <a:ext uri="{FF2B5EF4-FFF2-40B4-BE49-F238E27FC236}">
                <a16:creationId xmlns:a16="http://schemas.microsoft.com/office/drawing/2014/main" id="{8231F90C-8862-D9D8-2594-717E018A7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377" y="1105387"/>
            <a:ext cx="4357223" cy="71279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565CEB7-6D02-799E-37E8-9BF741090E65}"/>
                  </a:ext>
                </a:extLst>
              </p:cNvPr>
              <p:cNvSpPr txBox="1"/>
              <p:nvPr/>
            </p:nvSpPr>
            <p:spPr>
              <a:xfrm>
                <a:off x="252338" y="3030696"/>
                <a:ext cx="13773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=185/2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565CEB7-6D02-799E-37E8-9BF741090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38" y="3030696"/>
                <a:ext cx="1377365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4088778-3650-BBA6-CB25-D9163655AF9F}"/>
                  </a:ext>
                </a:extLst>
              </p:cNvPr>
              <p:cNvSpPr txBox="1"/>
              <p:nvPr/>
            </p:nvSpPr>
            <p:spPr>
              <a:xfrm>
                <a:off x="8328269" y="3676942"/>
                <a:ext cx="21670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=0.0233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4088778-3650-BBA6-CB25-D9163655A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8269" y="3676942"/>
                <a:ext cx="2167011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A0D1DF2-7AF7-9FFB-89ED-C2E7557077D1}"/>
                  </a:ext>
                </a:extLst>
              </p:cNvPr>
              <p:cNvSpPr txBox="1"/>
              <p:nvPr/>
            </p:nvSpPr>
            <p:spPr>
              <a:xfrm>
                <a:off x="8328269" y="4109550"/>
                <a:ext cx="21670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=566.44</m:t>
                      </m:r>
                      <m:r>
                        <m:rPr>
                          <m:sty m:val="p"/>
                        </m:rPr>
                        <a:rPr lang="en-US" sz="1800" b="0" i="0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rad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A0D1DF2-7AF7-9FFB-89ED-C2E755707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8269" y="4109550"/>
                <a:ext cx="2167011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BA26D0C-6440-2098-03BE-9DD7EB402417}"/>
                  </a:ext>
                </a:extLst>
              </p:cNvPr>
              <p:cNvSpPr txBox="1"/>
              <p:nvPr/>
            </p:nvSpPr>
            <p:spPr>
              <a:xfrm>
                <a:off x="8328269" y="4615676"/>
                <a:ext cx="21670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=599.4</m:t>
                      </m:r>
                      <m:r>
                        <a:rPr lang="en-US" sz="1800" b="0" i="0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8</m:t>
                      </m:r>
                      <m:r>
                        <m:rPr>
                          <m:sty m:val="p"/>
                        </m:rPr>
                        <a:rPr lang="en-US" sz="1800" b="0" i="0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rad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BA26D0C-6440-2098-03BE-9DD7EB402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8269" y="4615676"/>
                <a:ext cx="2167011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C741E3C-8DCE-92CA-376D-2CB34BF15291}"/>
                  </a:ext>
                </a:extLst>
              </p:cNvPr>
              <p:cNvSpPr txBox="1"/>
              <p:nvPr/>
            </p:nvSpPr>
            <p:spPr>
              <a:xfrm>
                <a:off x="8094588" y="5200991"/>
                <a:ext cx="263437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dirty="0"/>
                  <a:t>Define: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ad</m:t>
                    </m:r>
                    <m:r>
                      <a:rPr lang="en-US" i="1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i="1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ad</m:t>
                    </m:r>
                    <m:r>
                      <a:rPr lang="en-US" i="1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i="1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C741E3C-8DCE-92CA-376D-2CB34BF15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588" y="5200991"/>
                <a:ext cx="2634372" cy="646331"/>
              </a:xfrm>
              <a:prstGeom prst="rect">
                <a:avLst/>
              </a:prstGeom>
              <a:blipFill>
                <a:blip r:embed="rId9"/>
                <a:stretch>
                  <a:fillRect l="-2083" t="-3774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7273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03553-7311-A0AC-D8BF-F8B95134B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99E27-9550-297E-D6E0-7593FC291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altLang="zh-CN" dirty="0"/>
              <a:t>Hysteresis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E19F10-BC19-40B7-8843-08E9A9B69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12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64FFA23-19DF-22AD-5212-B673660E23BD}"/>
                  </a:ext>
                </a:extLst>
              </p:cNvPr>
              <p:cNvSpPr txBox="1"/>
              <p:nvPr/>
            </p:nvSpPr>
            <p:spPr>
              <a:xfrm>
                <a:off x="6397539" y="1853056"/>
                <a:ext cx="5659120" cy="1655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64FFA23-19DF-22AD-5212-B673660E2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539" y="1853056"/>
                <a:ext cx="5659120" cy="16551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C83F349-7C4D-C876-8440-9567EAF62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47" y="1609620"/>
            <a:ext cx="5334000" cy="40005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6C59ED-6146-786C-2024-08DC8C58B9D2}"/>
                  </a:ext>
                </a:extLst>
              </p:cNvPr>
              <p:cNvSpPr txBox="1"/>
              <p:nvPr/>
            </p:nvSpPr>
            <p:spPr>
              <a:xfrm>
                <a:off x="6096000" y="4124340"/>
                <a:ext cx="6096000" cy="1844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Θ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𝜁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8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b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Θ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6C59ED-6146-786C-2024-08DC8C58B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124340"/>
                <a:ext cx="6096000" cy="18449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F77606-535C-434B-CE2A-23CBEA621447}"/>
                  </a:ext>
                </a:extLst>
              </p:cNvPr>
              <p:cNvSpPr txBox="1"/>
              <p:nvPr/>
            </p:nvSpPr>
            <p:spPr>
              <a:xfrm>
                <a:off x="6397539" y="3631598"/>
                <a:ext cx="43466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1800" kern="1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Assume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F77606-535C-434B-CE2A-23CBEA621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539" y="3631598"/>
                <a:ext cx="4346661" cy="369332"/>
              </a:xfrm>
              <a:prstGeom prst="rect">
                <a:avLst/>
              </a:prstGeom>
              <a:blipFill>
                <a:blip r:embed="rId5"/>
                <a:stretch>
                  <a:fillRect l="-1120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0856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3277B-5DEC-0AA5-3EB7-8B3246FD3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60EAF-9551-5BA6-C1A1-AEDDC5805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altLang="zh-CN" dirty="0"/>
              <a:t>Trivial initial condition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0B63549-B88E-B69B-278B-7F64AA960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13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2A8034D-5FA2-2FE6-C946-CCF23561F5D6}"/>
                  </a:ext>
                </a:extLst>
              </p:cNvPr>
              <p:cNvSpPr txBox="1"/>
              <p:nvPr/>
            </p:nvSpPr>
            <p:spPr>
              <a:xfrm>
                <a:off x="6397539" y="1853056"/>
                <a:ext cx="5659120" cy="1655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2A8034D-5FA2-2FE6-C946-CCF23561F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539" y="1853056"/>
                <a:ext cx="5659120" cy="16551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06406AE-B4EA-A5DA-138D-D526CFAD6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" y="1767840"/>
            <a:ext cx="4844627" cy="36334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5CDE8E-EC70-12EF-D210-2E2D81BC3204}"/>
              </a:ext>
            </a:extLst>
          </p:cNvPr>
          <p:cNvSpPr txBox="1"/>
          <p:nvPr/>
        </p:nvSpPr>
        <p:spPr>
          <a:xfrm>
            <a:off x="1199655" y="5596570"/>
            <a:ext cx="6105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Simulate the system from trivial initial conditions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CBCAF69-22DB-8FF2-21AC-EE3A364265EE}"/>
                  </a:ext>
                </a:extLst>
              </p:cNvPr>
              <p:cNvSpPr txBox="1"/>
              <p:nvPr/>
            </p:nvSpPr>
            <p:spPr>
              <a:xfrm>
                <a:off x="7427932" y="4420741"/>
                <a:ext cx="3598333" cy="9036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Λ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CBCAF69-22DB-8FF2-21AC-EE3A36426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7932" y="4420741"/>
                <a:ext cx="3598333" cy="9036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E6197D4-E9D3-C823-DE26-B80866812E69}"/>
              </a:ext>
            </a:extLst>
          </p:cNvPr>
          <p:cNvSpPr txBox="1"/>
          <p:nvPr/>
        </p:nvSpPr>
        <p:spPr>
          <a:xfrm>
            <a:off x="4521976" y="2416462"/>
            <a:ext cx="23734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Due to the overshoot, the higher branch is excited with trivial BC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276261-209A-5065-0B29-38479F265B0B}"/>
                  </a:ext>
                </a:extLst>
              </p:cNvPr>
              <p:cNvSpPr txBox="1"/>
              <p:nvPr/>
            </p:nvSpPr>
            <p:spPr>
              <a:xfrm>
                <a:off x="7777668" y="3788665"/>
                <a:ext cx="26464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Count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=3000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276261-209A-5065-0B29-38479F2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668" y="3788665"/>
                <a:ext cx="2646492" cy="369332"/>
              </a:xfrm>
              <a:prstGeom prst="rect">
                <a:avLst/>
              </a:prstGeom>
              <a:blipFill>
                <a:blip r:embed="rId5"/>
                <a:stretch>
                  <a:fillRect l="-2074" t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766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D4901-E1CD-1887-58AA-2BDF1F48E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58660-2EC4-B95F-4AC9-E40D4CB3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altLang="zh-CN" dirty="0"/>
              <a:t>Lower branch initial condition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B21013A-6AD4-FE9D-ED4A-032B09E4D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14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33601D-8D78-F527-CC71-ED0782F0453F}"/>
                  </a:ext>
                </a:extLst>
              </p:cNvPr>
              <p:cNvSpPr txBox="1"/>
              <p:nvPr/>
            </p:nvSpPr>
            <p:spPr>
              <a:xfrm>
                <a:off x="5781040" y="1414202"/>
                <a:ext cx="5659120" cy="1655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33601D-8D78-F527-CC71-ED0782F04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1040" y="1414202"/>
                <a:ext cx="5659120" cy="16551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304221-9823-02B6-2549-AA99131E883D}"/>
                  </a:ext>
                </a:extLst>
              </p:cNvPr>
              <p:cNvSpPr txBox="1"/>
              <p:nvPr/>
            </p:nvSpPr>
            <p:spPr>
              <a:xfrm>
                <a:off x="3920716" y="1668390"/>
                <a:ext cx="1764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304221-9823-02B6-2549-AA99131E8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716" y="1668390"/>
                <a:ext cx="1764931" cy="369332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063AD29B-5640-5BFC-C53C-B1B46E84D731}"/>
              </a:ext>
            </a:extLst>
          </p:cNvPr>
          <p:cNvGrpSpPr/>
          <p:nvPr/>
        </p:nvGrpSpPr>
        <p:grpSpPr>
          <a:xfrm>
            <a:off x="728782" y="1394715"/>
            <a:ext cx="3191934" cy="2393950"/>
            <a:chOff x="701040" y="1767840"/>
            <a:chExt cx="4844627" cy="363347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BCC3BF8-3AFB-BC6B-554D-9E9976B2E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1040" y="1767840"/>
              <a:ext cx="4844627" cy="3633470"/>
            </a:xfrm>
            <a:prstGeom prst="rect">
              <a:avLst/>
            </a:prstGeom>
          </p:spPr>
        </p:pic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23B4971-E91C-35C2-E862-7C8BF0202D67}"/>
                </a:ext>
              </a:extLst>
            </p:cNvPr>
            <p:cNvCxnSpPr/>
            <p:nvPr/>
          </p:nvCxnSpPr>
          <p:spPr>
            <a:xfrm flipV="1">
              <a:off x="4094480" y="2133600"/>
              <a:ext cx="0" cy="287528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C53E0B-9AA9-F840-98B8-BC680D96C149}"/>
                  </a:ext>
                </a:extLst>
              </p:cNvPr>
              <p:cNvSpPr txBox="1"/>
              <p:nvPr/>
            </p:nvSpPr>
            <p:spPr>
              <a:xfrm>
                <a:off x="3920715" y="2126624"/>
                <a:ext cx="1764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=−0.0146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C53E0B-9AA9-F840-98B8-BC680D96C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715" y="2126624"/>
                <a:ext cx="176493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4AE24D-C72E-C43F-8CA9-F3B7E1A065CC}"/>
                  </a:ext>
                </a:extLst>
              </p:cNvPr>
              <p:cNvSpPr txBox="1"/>
              <p:nvPr/>
            </p:nvSpPr>
            <p:spPr>
              <a:xfrm>
                <a:off x="6563485" y="3069335"/>
                <a:ext cx="4236595" cy="712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1800" kern="1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Compute the IC based on the lower branch solution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4AE24D-C72E-C43F-8CA9-F3B7E1A06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485" y="3069335"/>
                <a:ext cx="4236595" cy="712311"/>
              </a:xfrm>
              <a:prstGeom prst="rect">
                <a:avLst/>
              </a:prstGeom>
              <a:blipFill>
                <a:blip r:embed="rId6"/>
                <a:stretch>
                  <a:fillRect l="-1295" b="-13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26C5837-72AD-A312-E62A-2FFC30033A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615" y="3754716"/>
            <a:ext cx="3980909" cy="298568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5B5C2F3-14EB-0702-79D7-8BD48E80B2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9728" y="3788665"/>
            <a:ext cx="3980909" cy="29856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52A6735-96B2-B00D-421C-B79C3C16421B}"/>
              </a:ext>
            </a:extLst>
          </p:cNvPr>
          <p:cNvSpPr txBox="1"/>
          <p:nvPr/>
        </p:nvSpPr>
        <p:spPr>
          <a:xfrm>
            <a:off x="9164383" y="4717494"/>
            <a:ext cx="2672018" cy="713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Lower branch steady-state solution is excited</a:t>
            </a:r>
          </a:p>
        </p:txBody>
      </p:sp>
    </p:spTree>
    <p:extLst>
      <p:ext uri="{BB962C8B-B14F-4D97-AF65-F5344CB8AC3E}">
        <p14:creationId xmlns:p14="http://schemas.microsoft.com/office/powerpoint/2010/main" val="251733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D724-7C57-A832-4FC6-DF2401459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5EFD7-DFF9-B1E2-0751-F3FF1255B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altLang="zh-CN" dirty="0"/>
              <a:t>Quasiperiodic modulation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18EF9EE-1089-4760-8B31-C81B39D42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15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BC3805D-389E-2B6C-EFB3-26F5B46FAD81}"/>
                  </a:ext>
                </a:extLst>
              </p:cNvPr>
              <p:cNvSpPr txBox="1"/>
              <p:nvPr/>
            </p:nvSpPr>
            <p:spPr>
              <a:xfrm>
                <a:off x="5781040" y="1414202"/>
                <a:ext cx="5659120" cy="1655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sSup>
                        <m:sSup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 kern="1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BC3805D-389E-2B6C-EFB3-26F5B46FA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1040" y="1414202"/>
                <a:ext cx="5659120" cy="16551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BFD10F-7119-4E76-765C-0E5780E07C35}"/>
                  </a:ext>
                </a:extLst>
              </p:cNvPr>
              <p:cNvSpPr txBox="1"/>
              <p:nvPr/>
            </p:nvSpPr>
            <p:spPr>
              <a:xfrm>
                <a:off x="3920716" y="1668390"/>
                <a:ext cx="1764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BFD10F-7119-4E76-765C-0E5780E07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716" y="1668390"/>
                <a:ext cx="1764931" cy="369332"/>
              </a:xfrm>
              <a:prstGeom prst="rect">
                <a:avLst/>
              </a:prstGeom>
              <a:blipFill>
                <a:blip r:embed="rId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9E544BF-13A8-938E-6693-5504184A1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81" y="1426569"/>
            <a:ext cx="3191934" cy="239395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A25EDF-90DB-EFDD-BE42-B588541F8104}"/>
              </a:ext>
            </a:extLst>
          </p:cNvPr>
          <p:cNvCxnSpPr/>
          <p:nvPr/>
        </p:nvCxnSpPr>
        <p:spPr>
          <a:xfrm flipV="1">
            <a:off x="2964586" y="1635700"/>
            <a:ext cx="0" cy="189440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B69A63-1B7E-0CB5-D095-F90AED3B36DE}"/>
                  </a:ext>
                </a:extLst>
              </p:cNvPr>
              <p:cNvSpPr txBox="1"/>
              <p:nvPr/>
            </p:nvSpPr>
            <p:spPr>
              <a:xfrm>
                <a:off x="3920715" y="2126624"/>
                <a:ext cx="1764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=−0.0146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B69A63-1B7E-0CB5-D095-F90AED3B3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715" y="2126624"/>
                <a:ext cx="176493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4B6CA3-4127-A7D0-C690-BA6AA5D77F3C}"/>
                  </a:ext>
                </a:extLst>
              </p:cNvPr>
              <p:cNvSpPr txBox="1"/>
              <p:nvPr/>
            </p:nvSpPr>
            <p:spPr>
              <a:xfrm>
                <a:off x="6096000" y="3275962"/>
                <a:ext cx="4876675" cy="5127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kern="1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Plot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sub>
                        </m:sSub>
                        <m:sSup>
                          <m:sSup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f>
                              <m:f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f>
                          <m:f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b="0" i="1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b="0" i="1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b="0" i="1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b="0" i="1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1800" kern="1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versus </a:t>
                </a:r>
                <a14:m>
                  <m:oMath xmlns:m="http://schemas.openxmlformats.org/officeDocument/2006/math"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4B6CA3-4127-A7D0-C690-BA6AA5D77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75962"/>
                <a:ext cx="4876675" cy="512704"/>
              </a:xfrm>
              <a:prstGeom prst="rect">
                <a:avLst/>
              </a:prstGeom>
              <a:blipFill>
                <a:blip r:embed="rId6"/>
                <a:stretch>
                  <a:fillRect l="-1000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A77B1DE2-4ADB-9ED5-D64C-6645A22486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845" y="3851785"/>
            <a:ext cx="3980911" cy="29856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E9DD00D-84EE-0B7E-B62E-41649FF230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3485" y="3965303"/>
            <a:ext cx="3501594" cy="2626195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C0851E6-4C75-6DA2-D9D6-B931BACFD10F}"/>
              </a:ext>
            </a:extLst>
          </p:cNvPr>
          <p:cNvCxnSpPr/>
          <p:nvPr/>
        </p:nvCxnSpPr>
        <p:spPr>
          <a:xfrm flipV="1">
            <a:off x="3614826" y="1635699"/>
            <a:ext cx="0" cy="189440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0F65050-D64C-5230-B480-C7C7C3796B33}"/>
              </a:ext>
            </a:extLst>
          </p:cNvPr>
          <p:cNvCxnSpPr/>
          <p:nvPr/>
        </p:nvCxnSpPr>
        <p:spPr>
          <a:xfrm flipV="1">
            <a:off x="2324748" y="1627109"/>
            <a:ext cx="0" cy="189440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0F8B9D9-72EF-9163-0633-A6E9118399AB}"/>
                  </a:ext>
                </a:extLst>
              </p:cNvPr>
              <p:cNvSpPr txBox="1"/>
              <p:nvPr/>
            </p:nvSpPr>
            <p:spPr>
              <a:xfrm>
                <a:off x="3920714" y="2619872"/>
                <a:ext cx="1764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0F8B9D9-72EF-9163-0633-A6E911839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714" y="2619872"/>
                <a:ext cx="176493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441AD5D-5595-DF90-588D-92E902D3E5D2}"/>
                  </a:ext>
                </a:extLst>
              </p:cNvPr>
              <p:cNvSpPr txBox="1"/>
              <p:nvPr/>
            </p:nvSpPr>
            <p:spPr>
              <a:xfrm>
                <a:off x="3918431" y="3050000"/>
                <a:ext cx="1764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0052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441AD5D-5595-DF90-588D-92E902D3E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431" y="3050000"/>
                <a:ext cx="176493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2885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A7237-7D23-DB02-6B68-3BF91C262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3AA4-691C-D985-A4F0-9433091FA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altLang="zh-CN" dirty="0"/>
              <a:t>Concluding Remark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743CB47-C14E-18F9-4BA7-EA73C004C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16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9D5C5-C7F2-C78E-7AD5-5583A92E5256}"/>
              </a:ext>
            </a:extLst>
          </p:cNvPr>
          <p:cNvSpPr txBox="1"/>
          <p:nvPr/>
        </p:nvSpPr>
        <p:spPr>
          <a:xfrm>
            <a:off x="847237" y="1905506"/>
            <a:ext cx="9533892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We have designed a piezoelectric system with base excitation and two piezoelectric patches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Shunted with cubic nonlinear circuits, such piezoelectric beam exhibit hysteresis loop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We can apply voltage signal with the frequency close to the base excitation to modulate the effective amplitude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Such quasiperiodic modulation can lead to the switching between lower and higher branches of the hysteresis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Potential next steps: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dirty="0"/>
              <a:t>Analyze the power flow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dirty="0"/>
              <a:t>Simulate the full system (the beam) to confirm our results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dirty="0"/>
              <a:t>Optimize our system to adapt to the engineering need</a:t>
            </a:r>
          </a:p>
        </p:txBody>
      </p:sp>
    </p:spTree>
    <p:extLst>
      <p:ext uri="{BB962C8B-B14F-4D97-AF65-F5344CB8AC3E}">
        <p14:creationId xmlns:p14="http://schemas.microsoft.com/office/powerpoint/2010/main" val="3706018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30981</TotalTime>
  <Words>1202</Words>
  <Application>Microsoft Office PowerPoint</Application>
  <PresentationFormat>Widescreen</PresentationFormat>
  <Paragraphs>164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DengXian</vt:lpstr>
      <vt:lpstr>Aptos</vt:lpstr>
      <vt:lpstr>Aptos Display</vt:lpstr>
      <vt:lpstr>Arial</vt:lpstr>
      <vt:lpstr>Cambria Math</vt:lpstr>
      <vt:lpstr>Wingdings</vt:lpstr>
      <vt:lpstr>Office Theme</vt:lpstr>
      <vt:lpstr>Update: Piezo-energy harvesting</vt:lpstr>
      <vt:lpstr>System Description</vt:lpstr>
      <vt:lpstr>Schematic</vt:lpstr>
      <vt:lpstr>EOM</vt:lpstr>
      <vt:lpstr>ROM</vt:lpstr>
      <vt:lpstr>Normalized ROM</vt:lpstr>
      <vt:lpstr>Normalized ROM</vt:lpstr>
      <vt:lpstr>CX-A</vt:lpstr>
      <vt:lpstr>Steady-state</vt:lpstr>
      <vt:lpstr>Stability analysis</vt:lpstr>
      <vt:lpstr>Numerical Confirmation</vt:lpstr>
      <vt:lpstr>Hysteresis</vt:lpstr>
      <vt:lpstr>Trivial initial condition</vt:lpstr>
      <vt:lpstr>Lower branch initial condition</vt:lpstr>
      <vt:lpstr>Quasiperiodic modulation</vt:lpstr>
      <vt:lpstr>Concluding Remark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Chongan</dc:creator>
  <cp:lastModifiedBy>Wang, Chongan</cp:lastModifiedBy>
  <cp:revision>12</cp:revision>
  <dcterms:created xsi:type="dcterms:W3CDTF">2024-08-07T05:48:52Z</dcterms:created>
  <dcterms:modified xsi:type="dcterms:W3CDTF">2024-11-20T08:01:02Z</dcterms:modified>
</cp:coreProperties>
</file>