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B9F50-68F9-5AAA-393D-79FB41B9A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6F777-D554-8EB7-A89E-76ADB4C74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E329C-C8BB-A055-A3A3-48EB5F1F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212D2-D6A5-7327-6F37-1E6D205F6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02CB-C32F-D6A0-1570-8BAC9D25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2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6823-64E6-291D-3974-2AE0102C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35FAF-4866-7CA9-3D3E-8C451F583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0EB5C-23AE-D31C-AB16-A92DC86D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ADD3C-BEFD-9D74-D3CB-3B14973E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1EEBE-C75D-EF11-C1F4-64EDDBE1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0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1FD3-4200-B716-3C15-26917985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E2E19-01E8-82E5-84A9-4BC288F62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328AE-EFC0-B626-FCBC-FDA2D6A6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A64DB-A07A-DFEB-F46D-CC2E414B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3E79C-FE6E-0D3D-7B0F-BD27DED7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15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42D4-D9E7-242E-6FDE-8FF41653E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0C0F5-BEB4-6CF3-9A9B-007E134EE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43DEB-C1C0-2DBF-D594-838F8D4E9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24DA5-D127-ADBF-A243-A7298E45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CC614-A6DE-89CA-ACC7-1881407FF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6F31E-B655-980B-46D6-55E2BA9A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C75A-9D65-C808-D195-1648188C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4C404-451C-5CBB-675D-B4FAF1F1C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F30D-D151-D766-9538-732A05F72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458B6-41B7-1A44-8105-009D24D50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7A7DD-D3DC-E0CF-1038-04CF71585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20BAD-BD2B-62B1-E997-844C3A79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C2AAD1-33EF-FB4E-F192-E7BB623B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648CAC-2588-6E11-64EF-BC5F6026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8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D056-0F96-C9BC-865B-573EBBD5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6A95F-BB0A-8EDB-EA4F-AC2887BE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4B755-D731-D023-1498-D7D49F9B6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EABFE-1649-DDD1-7AF5-B55BD7E4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2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ACEDA4-FE4B-81F0-6218-F173564B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F26CA-729E-4A15-E9C9-0DE3FADA2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2D90E-528F-002F-CB96-80CB7393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5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A4B0-782B-4000-7FAA-121FD3DF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9C1AB-D9CF-5D2E-A1BE-78A0A49FD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73A29-73D1-89B2-F7AE-43F98D624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4B5CB-5DCB-EC50-C796-8E6432C3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A543A-43DA-98A4-CC43-36D79929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5C8A9-E58E-CAF2-D34D-3009D748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3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9B3E7-597E-C64B-D57E-F4331FEB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8B853-BC6A-A29D-AF81-15A7A48518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642C2-25FB-4764-C524-18EA0714C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98F73-FB51-6F4D-A03E-D5BD02D8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3E5E7-D378-95B4-A426-69A01745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760FC-EE2F-AA1C-09B7-7C9E4129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2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6345-B81D-4E9F-3202-0C57D29D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28D32-45EA-32DC-C001-328184DCA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846C8-00AC-AADA-9C01-6902304B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D84C-C4CD-D2BD-A0A3-E08F24AEB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5756-8004-A40E-244C-D2F36BDA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041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16AB00-7E8D-33A0-25D7-B86A5DB9C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1DB60-A055-FBA1-1A62-7F0188777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216A0-6FED-012C-A455-CF6281C78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DF7A3-A2CD-768A-14B9-8E9DCB3B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DFFA2-BA70-6387-F4A0-66246630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9840E-7F7F-068A-F32B-3886A247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E549C-8EEB-D4B5-239E-0E5CBFBA7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5DD2-272B-6B64-280D-5F3DC5D46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4F416-B27C-44B8-92F6-39A562452E0E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CD868-C1F5-349A-D907-3B5A7AD22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31FF8-5D86-CD81-F994-A0E0C0CA9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95A90-788F-45A4-9BB0-EBD927124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54BDE4-1C74-6A8C-C07E-82484B46B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99" y="2435352"/>
            <a:ext cx="3927764" cy="29458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2CE4C-4AC0-80A2-8F05-C4239A097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363" y="2435352"/>
            <a:ext cx="3927764" cy="2945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8559AA-58BE-B9CE-F370-C699CC9D3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09" y="2435351"/>
            <a:ext cx="3927764" cy="29458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E16AAB-BCAD-9494-4857-3C6237E6BF20}"/>
              </a:ext>
            </a:extLst>
          </p:cNvPr>
          <p:cNvSpPr txBox="1"/>
          <p:nvPr/>
        </p:nvSpPr>
        <p:spPr>
          <a:xfrm>
            <a:off x="3410607" y="5555154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Menlo"/>
              </a:rPr>
              <a:t>v0 = 0.5;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Amplitude of the voltage on the second piezo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w0 = 0.5e-6;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Amplitude of the base excitation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 err="1">
                <a:effectLst/>
                <a:latin typeface="Menlo"/>
              </a:rPr>
              <a:t>omega_b</a:t>
            </a:r>
            <a:r>
              <a:rPr lang="en-US" sz="1800" b="0" i="0" dirty="0">
                <a:effectLst/>
                <a:latin typeface="Menlo"/>
              </a:rPr>
              <a:t> = 500;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Frequency of base excitation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 err="1">
                <a:effectLst/>
                <a:latin typeface="Menlo"/>
              </a:rPr>
              <a:t>omega_v</a:t>
            </a:r>
            <a:r>
              <a:rPr lang="en-US" sz="1800" b="0" i="0" dirty="0">
                <a:effectLst/>
                <a:latin typeface="Menlo"/>
              </a:rPr>
              <a:t> = 502;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Frequency of modulator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10794-F972-439C-51C2-C2CD03C0C181}"/>
              </a:ext>
            </a:extLst>
          </p:cNvPr>
          <p:cNvSpPr txBox="1"/>
          <p:nvPr/>
        </p:nvSpPr>
        <p:spPr>
          <a:xfrm>
            <a:off x="2042664" y="535104"/>
            <a:ext cx="810667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800" b="0" i="0" dirty="0">
                <a:effectLst/>
                <a:latin typeface="Menlo"/>
              </a:rPr>
              <a:t>We note both lower bound and higher bound of the multi-valued region shifts up</a:t>
            </a:r>
          </a:p>
          <a:p>
            <a:pPr>
              <a:spcAft>
                <a:spcPts val="1200"/>
              </a:spcAft>
            </a:pPr>
            <a:r>
              <a:rPr lang="en-US" sz="1800" b="0" i="0" dirty="0">
                <a:effectLst/>
                <a:latin typeface="Menlo"/>
              </a:rPr>
              <a:t>The modulated forcing amplitude also has an upper and lower bound. For the previous simulation case, as we increase th</a:t>
            </a:r>
            <a:r>
              <a:rPr lang="en-US" dirty="0">
                <a:latin typeface="Menlo"/>
              </a:rPr>
              <a:t>e damping ratio to 0.01, the responses are expected to stay on lower bound</a:t>
            </a:r>
            <a:endParaRPr lang="en-US" sz="1800" b="0" i="0" dirty="0"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4142425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62B29-8183-C7FC-94EE-DF10F36C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ED0227-C5A0-7DB7-3179-250BF393B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56213"/>
            <a:ext cx="4655127" cy="3491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0E3B49-D765-A75E-F05D-7431A21CB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873" y="2956212"/>
            <a:ext cx="4655128" cy="34913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FE36BC-E6FA-7D73-FE07-0E74ADE1C6E1}"/>
              </a:ext>
            </a:extLst>
          </p:cNvPr>
          <p:cNvSpPr txBox="1"/>
          <p:nvPr/>
        </p:nvSpPr>
        <p:spPr>
          <a:xfrm>
            <a:off x="4919230" y="1452039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Menlo"/>
              </a:rPr>
              <a:t>v0 = 0.5;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Amplitude of the voltage on the second piezo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w0 = 0.5e-6;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Amplitude of the base excitation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 err="1">
                <a:effectLst/>
                <a:latin typeface="Menlo"/>
              </a:rPr>
              <a:t>omega_b</a:t>
            </a:r>
            <a:r>
              <a:rPr lang="en-US" sz="1800" b="0" i="0" dirty="0">
                <a:effectLst/>
                <a:latin typeface="Menlo"/>
              </a:rPr>
              <a:t> = 500;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Frequency of base excitation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 err="1">
                <a:effectLst/>
                <a:latin typeface="Menlo"/>
              </a:rPr>
              <a:t>omega_v</a:t>
            </a:r>
            <a:r>
              <a:rPr lang="en-US" sz="1800" b="0" i="0" dirty="0">
                <a:effectLst/>
                <a:latin typeface="Menlo"/>
              </a:rPr>
              <a:t> = 502;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Frequency of modulator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50A36-27BE-D10D-ABCB-3FFC17FA5769}"/>
              </a:ext>
            </a:extLst>
          </p:cNvPr>
          <p:cNvSpPr txBox="1"/>
          <p:nvPr/>
        </p:nvSpPr>
        <p:spPr>
          <a:xfrm>
            <a:off x="1178502" y="1452039"/>
            <a:ext cx="3518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Menlo"/>
              </a:rPr>
              <a:t>As expected, if we use the previous set of parameters, we will end up with lower branch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D12062-28D0-37AE-006D-CCA9ED93FCDB}"/>
                  </a:ext>
                </a:extLst>
              </p:cNvPr>
              <p:cNvSpPr txBox="1"/>
              <p:nvPr/>
            </p:nvSpPr>
            <p:spPr>
              <a:xfrm>
                <a:off x="3368548" y="746119"/>
                <a:ext cx="42380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dirty="0">
                    <a:effectLst/>
                    <a:latin typeface="Menlo"/>
                  </a:rPr>
                  <a:t>We simulate the system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sz="1800" b="0" i="0" dirty="0">
                  <a:effectLst/>
                  <a:latin typeface="Menlo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D12062-28D0-37AE-006D-CCA9ED93F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548" y="746119"/>
                <a:ext cx="4238054" cy="369332"/>
              </a:xfrm>
              <a:prstGeom prst="rect">
                <a:avLst/>
              </a:prstGeom>
              <a:blipFill>
                <a:blip r:embed="rId4"/>
                <a:stretch>
                  <a:fillRect l="-129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716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20BD-9311-3E22-AAE5-3575CAF1B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D32D37-0B02-5AC5-5030-4495F86D282F}"/>
              </a:ext>
            </a:extLst>
          </p:cNvPr>
          <p:cNvSpPr txBox="1"/>
          <p:nvPr/>
        </p:nvSpPr>
        <p:spPr>
          <a:xfrm>
            <a:off x="4919230" y="1452039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Menlo"/>
              </a:rPr>
              <a:t>v0 = 0.55;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Amplitude of the voltage on the second piezo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w0 = 0.5e-6;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Amplitude of the base excitation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 err="1">
                <a:effectLst/>
                <a:latin typeface="Menlo"/>
              </a:rPr>
              <a:t>omega_b</a:t>
            </a:r>
            <a:r>
              <a:rPr lang="en-US" sz="1800" b="0" i="0" dirty="0">
                <a:effectLst/>
                <a:latin typeface="Menlo"/>
              </a:rPr>
              <a:t> = 500;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Frequency of base excitation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 err="1">
                <a:effectLst/>
                <a:latin typeface="Menlo"/>
              </a:rPr>
              <a:t>omega_v</a:t>
            </a:r>
            <a:r>
              <a:rPr lang="en-US" sz="1800" b="0" i="0" dirty="0">
                <a:effectLst/>
                <a:latin typeface="Menlo"/>
              </a:rPr>
              <a:t> = 502;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Frequency of modulator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4A987D-6D13-601F-6B33-F2755C981D12}"/>
              </a:ext>
            </a:extLst>
          </p:cNvPr>
          <p:cNvSpPr txBox="1"/>
          <p:nvPr/>
        </p:nvSpPr>
        <p:spPr>
          <a:xfrm>
            <a:off x="1178502" y="1452039"/>
            <a:ext cx="35181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Menlo"/>
              </a:rPr>
              <a:t>As expected, if we use the previous set of parameters, we will end up with lower branch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8E9D7-D8F4-0104-794B-3C1531E33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56212"/>
            <a:ext cx="4655127" cy="34913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6CC24-0614-4740-E874-0A9842083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963" y="2956211"/>
            <a:ext cx="4655127" cy="34913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28BED9-055E-1F41-7ED0-9994EA4FCF37}"/>
                  </a:ext>
                </a:extLst>
              </p:cNvPr>
              <p:cNvSpPr txBox="1"/>
              <p:nvPr/>
            </p:nvSpPr>
            <p:spPr>
              <a:xfrm>
                <a:off x="3213298" y="653786"/>
                <a:ext cx="576540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dirty="0">
                    <a:effectLst/>
                    <a:latin typeface="Menlo"/>
                  </a:rPr>
                  <a:t>We simulate the system 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lang="en-US" sz="1800" b="0" i="0" dirty="0">
                    <a:effectLst/>
                    <a:latin typeface="Menlo"/>
                  </a:rPr>
                  <a:t>. With a higher excitation amplitude, we can excite the higher branch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28BED9-055E-1F41-7ED0-9994EA4FC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298" y="653786"/>
                <a:ext cx="5765404" cy="646331"/>
              </a:xfrm>
              <a:prstGeom prst="rect">
                <a:avLst/>
              </a:prstGeom>
              <a:blipFill>
                <a:blip r:embed="rId4"/>
                <a:stretch>
                  <a:fillRect l="-84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156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249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Menlo</vt:lpstr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Chongan Wang</dc:creator>
  <cp:lastModifiedBy>Chongan Wang</cp:lastModifiedBy>
  <cp:revision>1</cp:revision>
  <dcterms:created xsi:type="dcterms:W3CDTF">2025-02-23T21:36:51Z</dcterms:created>
  <dcterms:modified xsi:type="dcterms:W3CDTF">2025-02-24T00:27:37Z</dcterms:modified>
</cp:coreProperties>
</file>