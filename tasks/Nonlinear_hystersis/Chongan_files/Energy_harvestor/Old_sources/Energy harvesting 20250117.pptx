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305" r:id="rId3"/>
    <p:sldId id="319" r:id="rId4"/>
    <p:sldId id="320" r:id="rId5"/>
    <p:sldId id="321" r:id="rId6"/>
    <p:sldId id="322" r:id="rId7"/>
    <p:sldId id="323" r:id="rId8"/>
    <p:sldId id="324" r:id="rId9"/>
    <p:sldId id="31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6" d="100"/>
          <a:sy n="76" d="100"/>
        </p:scale>
        <p:origin x="86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922983-65D5-450E-B313-12E3224DDE68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CCF7D2-8AC6-413C-B08F-B46CAE9F34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218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CF7D2-8AC6-413C-B08F-B46CAE9F34E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2623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1206D-8CC8-D226-2185-B80C32AD5A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196B9A-F9B0-3CB9-FFEC-010CFF5CC5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7F90A-6499-A6D4-7C86-BFC6C9A1C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6283B-7C59-4350-800E-2D64C9A7762D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10F58-50B1-B4AC-9B58-E021B5E6F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5FDAB-E970-E623-4F37-B185435FE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45DE4-0305-4D97-95BD-245A0DDEB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464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4CFAC-428E-5F63-E50C-CE876F0E3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7AC36-5EEC-78B2-6AC2-E31E35AF29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03DDEE-BD6A-85B8-B564-594C8DF4E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6283B-7C59-4350-800E-2D64C9A7762D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797150-FFDC-317A-A5A1-595C8D43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BD4145-DDEB-7163-77D3-1F073C5F5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45DE4-0305-4D97-95BD-245A0DDEB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531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FB1D7-1E0B-8D3F-5F92-BE8EA636C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1C2E51-3A4A-D68B-9C9A-C23E7F968C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03A867-AFFF-F620-0E9B-90EE7123C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6283B-7C59-4350-800E-2D64C9A7762D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4C6F41-5263-A641-E762-AE999D65C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DE4C99-9501-7638-14EA-B96EBFDDE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45DE4-0305-4D97-95BD-245A0DDEB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635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5EF35-043F-EC1D-3101-683AD9B8F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62D01-06EB-4271-CCC6-DB46BC56A8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D2D544-B885-38C9-8213-DCEE93FD78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30BA1E-F139-F06C-9FE5-6B0BDA69D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6283B-7C59-4350-800E-2D64C9A7762D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DC3344-3B1A-7879-83E2-BBA70DBBD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17064E-4ED3-F306-CB4B-1B0611BA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45DE4-0305-4D97-95BD-245A0DDEB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847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8DA8B-5D9F-E32E-CCCD-B50A662A9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75FEE4-56B1-00DC-03DC-701373F642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F48F5B-A032-E4CC-E548-11ACF5DBE3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EE84C1-B7E6-A981-6577-04E43BF338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0F3C19-8530-19E0-505B-99832D91BE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371AC8-9182-802D-25B6-DBCB75D94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6283B-7C59-4350-800E-2D64C9A7762D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1D7F06-C4A7-51B8-788C-3AF839D5E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16BBE7-8F2D-39F0-047B-4E6FC8947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45DE4-0305-4D97-95BD-245A0DDEB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111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BF036-4F68-080B-1C35-CD0C6463C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C39440-8687-090B-9648-B92EE8553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6283B-7C59-4350-800E-2D64C9A7762D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9DE667-201D-0D9A-082A-CB24A82A3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0844C8-4136-AB29-0BB2-FAD16EFAC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45DE4-0305-4D97-95BD-245A0DDEB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609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0E53CE-4E2D-4C2D-6564-B561D6672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6283B-7C59-4350-800E-2D64C9A7762D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1563A8-5855-A512-742B-C6D2AE207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D9B25D-05A8-63EA-FC42-7BD478F58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45DE4-0305-4D97-95BD-245A0DDEB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814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AE865-335A-EDAA-00A0-A06C6455F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F7D51-8D19-D415-2C48-AC57682CB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3ECDAC-1577-C68D-EF34-1DA74FB706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A24AC9-C3A3-0095-1A72-45EF18969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6283B-7C59-4350-800E-2D64C9A7762D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27F24D-881D-D933-E03C-70DE0DB77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1AA8E1-3CF0-BF02-C835-F9B24D812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45DE4-0305-4D97-95BD-245A0DDEB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496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D6A35-DC9A-62D8-F8A1-05474AB58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4C548B-CF5E-7044-3642-687F2B4B2C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A6BA9C-0AE3-349C-5722-75A5595629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2958A-E3D6-8E4C-B127-6B238A0D9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6283B-7C59-4350-800E-2D64C9A7762D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7BAFF0-40B9-CF25-CDC5-0680180CC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3E1906-8242-B3B6-3ADA-91F3247A2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45DE4-0305-4D97-95BD-245A0DDEB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220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CE819-EBA9-8D07-2E65-41F989C09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3CF636-C7F2-2960-DF28-BA683553C4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B85C0-52CC-6CF1-0AA6-5FD691E63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6283B-7C59-4350-800E-2D64C9A7762D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693D1-2B2F-95BB-0258-B317E6C5A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BE378-AC65-26C2-CFFF-12F8C0DC4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45DE4-0305-4D97-95BD-245A0DDEB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656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44000D-51D9-698E-6FD0-527D70F824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88BE10-5192-90AD-C862-93C245B882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F39F32-847C-4F6A-8EEE-D8B23FB26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6283B-7C59-4350-800E-2D64C9A7762D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73FCC6-A878-A3F9-6EFF-F7D940FDE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DD98CC-0396-0B30-C5EB-D81A0F760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45DE4-0305-4D97-95BD-245A0DDEB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745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3DAC16-02B0-220E-3C43-7008D0493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48D148-CDCF-225F-7DDF-774E91172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957D75-39FF-5186-2CA1-C1D0FEF68D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D6283B-7C59-4350-800E-2D64C9A7762D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23C1D5-8C58-CD54-FE24-4B33B18212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9137FE-FEA9-4181-09A7-CFE03F8E26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745DE4-0305-4D97-95BD-245A0DDEB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412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emf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0.png"/><Relationship Id="rId7" Type="http://schemas.openxmlformats.org/officeDocument/2006/relationships/image" Target="../media/image1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11" Type="http://schemas.openxmlformats.org/officeDocument/2006/relationships/image" Target="../media/image15.png"/><Relationship Id="rId5" Type="http://schemas.openxmlformats.org/officeDocument/2006/relationships/image" Target="../media/image12.png"/><Relationship Id="rId10" Type="http://schemas.openxmlformats.org/officeDocument/2006/relationships/image" Target="../media/image14.png"/><Relationship Id="rId4" Type="http://schemas.openxmlformats.org/officeDocument/2006/relationships/image" Target="../media/image11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8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emf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6.png"/><Relationship Id="rId7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5.png"/><Relationship Id="rId10" Type="http://schemas.openxmlformats.org/officeDocument/2006/relationships/image" Target="../media/image24.png"/><Relationship Id="rId4" Type="http://schemas.openxmlformats.org/officeDocument/2006/relationships/image" Target="../media/image2.png"/><Relationship Id="rId9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emf"/><Relationship Id="rId3" Type="http://schemas.openxmlformats.org/officeDocument/2006/relationships/image" Target="../media/image25.png"/><Relationship Id="rId7" Type="http://schemas.openxmlformats.org/officeDocument/2006/relationships/image" Target="../media/image28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.png"/><Relationship Id="rId9" Type="http://schemas.openxmlformats.org/officeDocument/2006/relationships/image" Target="../media/image30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emf"/><Relationship Id="rId3" Type="http://schemas.openxmlformats.org/officeDocument/2006/relationships/image" Target="../media/image1.png"/><Relationship Id="rId7" Type="http://schemas.openxmlformats.org/officeDocument/2006/relationships/image" Target="../media/image32.png"/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.png"/><Relationship Id="rId4" Type="http://schemas.openxmlformats.org/officeDocument/2006/relationships/image" Target="../media/image25.png"/><Relationship Id="rId9" Type="http://schemas.openxmlformats.org/officeDocument/2006/relationships/image" Target="../media/image34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CE5E0F0-D06E-8966-4394-D898EE18E2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rmAutofit/>
          </a:bodyPr>
          <a:lstStyle/>
          <a:p>
            <a:r>
              <a:rPr lang="en-US" dirty="0"/>
              <a:t>Update: Piezo-energy harvesting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426BC22-FBD1-FB20-A1DA-E2A1684745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rPr lang="en-US" dirty="0"/>
              <a:t>Chongan Wang</a:t>
            </a:r>
          </a:p>
          <a:p>
            <a:r>
              <a:rPr lang="en-US" dirty="0"/>
              <a:t>2025-01-17</a:t>
            </a:r>
          </a:p>
        </p:txBody>
      </p:sp>
    </p:spTree>
    <p:extLst>
      <p:ext uri="{BB962C8B-B14F-4D97-AF65-F5344CB8AC3E}">
        <p14:creationId xmlns:p14="http://schemas.microsoft.com/office/powerpoint/2010/main" val="384523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26663-2986-0723-FDFE-B5E4D0A67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9E069-804C-78A2-6EC6-A7C3F7073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Previous problem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51CE3DD-00A4-96A0-5107-833EC2BAE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3FD2-108E-45E4-951C-277CC0F0149D}" type="slidenum">
              <a:rPr lang="en-US" smtClean="0"/>
              <a:t>2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07D636E-1338-0F58-BE77-0EEC9D12136F}"/>
              </a:ext>
            </a:extLst>
          </p:cNvPr>
          <p:cNvGrpSpPr/>
          <p:nvPr/>
        </p:nvGrpSpPr>
        <p:grpSpPr>
          <a:xfrm>
            <a:off x="7583689" y="1452499"/>
            <a:ext cx="4390560" cy="4903851"/>
            <a:chOff x="7886988" y="1792601"/>
            <a:chExt cx="4390560" cy="4903851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B2625BB-7FE7-8B1F-086B-F37F8220FD6C}"/>
                </a:ext>
              </a:extLst>
            </p:cNvPr>
            <p:cNvGrpSpPr/>
            <p:nvPr/>
          </p:nvGrpSpPr>
          <p:grpSpPr>
            <a:xfrm>
              <a:off x="7886988" y="1792601"/>
              <a:ext cx="2839932" cy="4903851"/>
              <a:chOff x="7428330" y="1452499"/>
              <a:chExt cx="2839932" cy="4903851"/>
            </a:xfrm>
          </p:grpSpPr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63E24458-BB80-6199-CD82-CCD3A2963D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428330" y="3066751"/>
                <a:ext cx="2060328" cy="3289599"/>
              </a:xfrm>
              <a:prstGeom prst="rect">
                <a:avLst/>
              </a:prstGeom>
            </p:spPr>
          </p:pic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18958C57-28D9-72FE-A14F-94D88D1C8D46}"/>
                  </a:ext>
                </a:extLst>
              </p:cNvPr>
              <p:cNvGrpSpPr/>
              <p:nvPr/>
            </p:nvGrpSpPr>
            <p:grpSpPr>
              <a:xfrm>
                <a:off x="7748689" y="1452499"/>
                <a:ext cx="2519573" cy="1881611"/>
                <a:chOff x="7748689" y="1452499"/>
                <a:chExt cx="2519573" cy="1881611"/>
              </a:xfrm>
            </p:grpSpPr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1F5F76EA-4DDF-7BF7-5C2A-1895345B5F4C}"/>
                    </a:ext>
                  </a:extLst>
                </p:cNvPr>
                <p:cNvCxnSpPr/>
                <p:nvPr/>
              </p:nvCxnSpPr>
              <p:spPr>
                <a:xfrm flipV="1">
                  <a:off x="8032173" y="1690688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94AF9741-A388-5D31-9F41-CE830682B0D0}"/>
                    </a:ext>
                  </a:extLst>
                </p:cNvPr>
                <p:cNvCxnSpPr/>
                <p:nvPr/>
              </p:nvCxnSpPr>
              <p:spPr>
                <a:xfrm flipV="1">
                  <a:off x="8107725" y="1730880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88BC9542-24FB-7E07-763D-2551C31EF48D}"/>
                    </a:ext>
                  </a:extLst>
                </p:cNvPr>
                <p:cNvCxnSpPr/>
                <p:nvPr/>
              </p:nvCxnSpPr>
              <p:spPr>
                <a:xfrm flipV="1">
                  <a:off x="8904799" y="1513329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1B02F613-3C90-E57E-97F8-FAE85585B1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032173" y="1460342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418DB64B-9358-6889-8419-8BC985081D6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14519" y="1513329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3D6CB70B-D76D-1E92-FBCB-44794A80D82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800408" y="1452499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CFD6D3E5-6A63-ADBE-1E5B-B7732359282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021840" y="1693314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55527BE8-0FC3-E8E2-0240-483AE7FBBEB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021840" y="3234849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914991A8-DCFF-9BA9-993F-B96280CD186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14518" y="3052148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0FF55075-1756-FBB1-5A24-DAC13C7DE3A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10600" y="2492303"/>
                  <a:ext cx="434313" cy="18426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1E9C1843-3966-4D90-6BC5-87B0291441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748689" y="2173270"/>
                  <a:ext cx="264980" cy="112424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01CC4472-F9FF-B81C-E7E6-48841B448E3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748689" y="2039629"/>
                  <a:ext cx="293818" cy="13188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E71C5E3A-A4D7-D074-6899-D4248BB59C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898004" y="1591849"/>
                  <a:ext cx="293818" cy="13188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4FC073E0-6688-4A9A-AD94-0DFA2F444C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044913" y="2138828"/>
                  <a:ext cx="1223349" cy="537395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360B67B1-840A-A583-4AAA-CD5316EA1A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98617" y="1591849"/>
                  <a:ext cx="309725" cy="153811"/>
                </a:xfrm>
                <a:prstGeom prst="line">
                  <a:avLst/>
                </a:prstGeom>
                <a:ln>
                  <a:head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C7325B89-C191-26BA-15A1-FA7BB563CC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958537" y="1984670"/>
                  <a:ext cx="309725" cy="153811"/>
                </a:xfrm>
                <a:prstGeom prst="line">
                  <a:avLst/>
                </a:prstGeom>
                <a:ln>
                  <a:tail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9" name="TextBox 48">
                      <a:extLst>
                        <a:ext uri="{FF2B5EF4-FFF2-40B4-BE49-F238E27FC236}">
                          <a16:creationId xmlns:a16="http://schemas.microsoft.com/office/drawing/2014/main" id="{0133A49A-3261-21FE-A4E7-5352A4EFD5E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419035" y="1651741"/>
                      <a:ext cx="65229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56" name="TextBox 55">
                      <a:extLst>
                        <a:ext uri="{FF2B5EF4-FFF2-40B4-BE49-F238E27FC236}">
                          <a16:creationId xmlns:a16="http://schemas.microsoft.com/office/drawing/2014/main" id="{54AEFB3B-D250-CDBE-BDAE-63A083E6014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419035" y="1651741"/>
                      <a:ext cx="652294" cy="369332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79AC97B8-F0DC-249C-26A0-0882AF2044E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54520" y="3841676"/>
              <a:ext cx="2823028" cy="799829"/>
            </a:xfrm>
            <a:prstGeom prst="rect">
              <a:avLst/>
            </a:prstGeom>
          </p:spPr>
        </p:pic>
      </p:grpSp>
      <p:pic>
        <p:nvPicPr>
          <p:cNvPr id="50" name="Picture 49">
            <a:extLst>
              <a:ext uri="{FF2B5EF4-FFF2-40B4-BE49-F238E27FC236}">
                <a16:creationId xmlns:a16="http://schemas.microsoft.com/office/drawing/2014/main" id="{A222A716-37E2-80F7-22EE-7593D47B5C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506" y="3234849"/>
            <a:ext cx="4276840" cy="3207630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A75C4168-6297-FBCE-C5EC-4E0EBD7D2ADE}"/>
              </a:ext>
            </a:extLst>
          </p:cNvPr>
          <p:cNvSpPr txBox="1"/>
          <p:nvPr/>
        </p:nvSpPr>
        <p:spPr>
          <a:xfrm>
            <a:off x="767360" y="1814250"/>
            <a:ext cx="57933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Last time we found out that the ROM results do not agree with the full simulation</a:t>
            </a:r>
          </a:p>
        </p:txBody>
      </p:sp>
    </p:spTree>
    <p:extLst>
      <p:ext uri="{BB962C8B-B14F-4D97-AF65-F5344CB8AC3E}">
        <p14:creationId xmlns:p14="http://schemas.microsoft.com/office/powerpoint/2010/main" val="1157174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E40D8-FB91-047C-072C-12F0F5569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B7BAA-BEFA-7FA7-EBF8-8FF22109C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ROM Ansatz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FDA297A-5538-0DD0-1B27-A3F6A2BB5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3FD2-108E-45E4-951C-277CC0F0149D}" type="slidenum">
              <a:rPr lang="en-US" smtClean="0"/>
              <a:t>3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FF4F217-78AF-E3F4-3F03-872921B6C80E}"/>
                  </a:ext>
                </a:extLst>
              </p:cNvPr>
              <p:cNvSpPr txBox="1"/>
              <p:nvPr/>
            </p:nvSpPr>
            <p:spPr>
              <a:xfrm>
                <a:off x="2594397" y="2449554"/>
                <a:ext cx="7785847" cy="6505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6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𝑌𝐼</m:t>
                      </m:r>
                      <m:f>
                        <m:f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num>
                        <m:den>
                          <m: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6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𝜗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num>
                                <m:den>
                                  <m:r>
                                    <a:rPr lang="en-US" sz="16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d>
                      <m:r>
                        <a:rPr lang="en-US" sz="16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𝜗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num>
                                <m:den>
                                  <m:r>
                                    <a:rPr lang="en-US" sz="16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  <m: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FF4F217-78AF-E3F4-3F03-872921B6C8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4397" y="2449554"/>
                <a:ext cx="7785847" cy="65056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4587EEE-F94C-9303-FE6A-8AA800B6B704}"/>
                  </a:ext>
                </a:extLst>
              </p:cNvPr>
              <p:cNvSpPr txBox="1"/>
              <p:nvPr/>
            </p:nvSpPr>
            <p:spPr>
              <a:xfrm>
                <a:off x="4917942" y="1863111"/>
                <a:ext cx="2700493" cy="586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𝑀</m:t>
                          </m:r>
                        </m:num>
                        <m:den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6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𝑚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num>
                        <m:den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600" i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4587EEE-F94C-9303-FE6A-8AA800B6B7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7942" y="1863111"/>
                <a:ext cx="2700493" cy="586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AFE0CB2-B39E-DB52-D723-5ADA4212ECE2}"/>
                  </a:ext>
                </a:extLst>
              </p:cNvPr>
              <p:cNvSpPr txBox="1"/>
              <p:nvPr/>
            </p:nvSpPr>
            <p:spPr>
              <a:xfrm>
                <a:off x="2969092" y="3313295"/>
                <a:ext cx="6847462" cy="6988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f>
                        <m:f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600" i="0">
                              <a:latin typeface="Cambria Math" panose="020405030504060302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US" sz="1600" i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sz="1600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sz="1600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nary>
                        <m:naryPr>
                          <m:limLoc m:val="subSup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sz="1600" i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nary>
                      <m:r>
                        <a:rPr lang="en-US" sz="1600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limLoc m:val="subSup"/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600" i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sz="160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6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</m:d>
                                  <m:r>
                                    <m:rPr>
                                      <m:sty m:val="p"/>
                                    </m:rPr>
                                    <a:rPr lang="en-US" sz="160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16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𝜗</m:t>
                      </m:r>
                      <m:nary>
                        <m:naryPr>
                          <m:limLoc m:val="subSup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</m:sup>
                        <m:e>
                          <m:f>
                            <m:f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6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p>
                                  <m:r>
                                    <a:rPr lang="en-US" sz="160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num>
                            <m:den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en-US" sz="16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16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en-US" sz="1600" i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a:rPr lang="en-US" sz="1600" i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AFE0CB2-B39E-DB52-D723-5ADA4212EC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9092" y="3313295"/>
                <a:ext cx="6847462" cy="69884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A4F17F8C-0B90-12D2-6FF3-4B20AB8E7789}"/>
              </a:ext>
            </a:extLst>
          </p:cNvPr>
          <p:cNvSpPr txBox="1"/>
          <p:nvPr/>
        </p:nvSpPr>
        <p:spPr>
          <a:xfrm>
            <a:off x="932962" y="2051710"/>
            <a:ext cx="20361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Full model: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7B6CAA-62E7-0E57-AA15-1501F1A7A896}"/>
              </a:ext>
            </a:extLst>
          </p:cNvPr>
          <p:cNvSpPr txBox="1"/>
          <p:nvPr/>
        </p:nvSpPr>
        <p:spPr>
          <a:xfrm>
            <a:off x="1003300" y="5307283"/>
            <a:ext cx="20361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ROM: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1828AAA-BC27-54F4-BEEA-3A3D4AB37652}"/>
                  </a:ext>
                </a:extLst>
              </p:cNvPr>
              <p:cNvSpPr txBox="1"/>
              <p:nvPr/>
            </p:nvSpPr>
            <p:spPr>
              <a:xfrm>
                <a:off x="3439320" y="4201882"/>
                <a:ext cx="6096000" cy="7754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𝑟𝑒𝑙</m:t>
                          </m:r>
                        </m:sub>
                      </m:sSub>
                      <m:r>
                        <a:rPr lang="en-US" sz="1600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  <m:r>
                        <a:rPr lang="en-US" sz="1600" i="0">
                          <a:latin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b>
                        <m:sSub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;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.</m:t>
                      </m:r>
                      <m:nary>
                        <m:naryPr>
                          <m:limLoc m:val="subSup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𝑚</m:t>
                          </m:r>
                          <m:sSubSup>
                            <m:sSubSup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6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sz="160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a:rPr lang="en-US" sz="160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1828AAA-BC27-54F4-BEEA-3A3D4AB37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9320" y="4201882"/>
                <a:ext cx="6096000" cy="77540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BB01E84-B2C6-CFB0-2B39-2ADD784F337B}"/>
                  </a:ext>
                </a:extLst>
              </p:cNvPr>
              <p:cNvSpPr txBox="1"/>
              <p:nvPr/>
            </p:nvSpPr>
            <p:spPr>
              <a:xfrm>
                <a:off x="3439320" y="5022525"/>
                <a:ext cx="6096000" cy="11958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kern="10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̈"/>
                              <m:ctrlP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𝜂</m:t>
                              </m:r>
                            </m:e>
                          </m:acc>
                        </m:e>
                        <m:sub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6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sSub>
                        <m:sSubPr>
                          <m:ctrlP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1,1</m:t>
                          </m:r>
                        </m:sub>
                      </m:sSub>
                      <m:sSub>
                        <m:sSubPr>
                          <m:ctrlP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e>
                          </m:acc>
                        </m:e>
                        <m:sub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1,2</m:t>
                          </m:r>
                        </m:sub>
                      </m:sSub>
                      <m:sSub>
                        <m:sSubPr>
                          <m:ctrlP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6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16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̈"/>
                              <m:ctrlP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e>
                          </m:acc>
                        </m:e>
                        <m:sub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e>
                          </m:acc>
                        </m:e>
                        <m:sub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𝐿</m:t>
                          </m:r>
                        </m:den>
                      </m:f>
                      <m:sSub>
                        <m:sSubPr>
                          <m:ctrlP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  <m:sSubSup>
                        <m:sSubSupPr>
                          <m:ctrlP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US" sz="16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1,1</m:t>
                          </m:r>
                        </m:sub>
                      </m:sSub>
                      <m:sSub>
                        <m:sSubPr>
                          <m:ctrlP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𝜂</m:t>
                              </m:r>
                            </m:e>
                          </m:acc>
                        </m:e>
                        <m:sub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sz="16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BB01E84-B2C6-CFB0-2B39-2ADD784F33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9320" y="5022525"/>
                <a:ext cx="6096000" cy="119584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58A77C6A-8779-774E-84CB-BB109CA2AA36}"/>
              </a:ext>
            </a:extLst>
          </p:cNvPr>
          <p:cNvSpPr txBox="1"/>
          <p:nvPr/>
        </p:nvSpPr>
        <p:spPr>
          <a:xfrm>
            <a:off x="1003300" y="4475046"/>
            <a:ext cx="20361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Ansatz</a:t>
            </a:r>
            <a:r>
              <a:rPr lang="en-US" dirty="0"/>
              <a:t>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486308-7701-7FDC-78AD-1F682CB05FCF}"/>
              </a:ext>
            </a:extLst>
          </p:cNvPr>
          <p:cNvSpPr txBox="1"/>
          <p:nvPr/>
        </p:nvSpPr>
        <p:spPr>
          <a:xfrm>
            <a:off x="1003299" y="6308209"/>
            <a:ext cx="69650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Approach: Focus on the linear regime and check the ansatz</a:t>
            </a:r>
          </a:p>
        </p:txBody>
      </p:sp>
    </p:spTree>
    <p:extLst>
      <p:ext uri="{BB962C8B-B14F-4D97-AF65-F5344CB8AC3E}">
        <p14:creationId xmlns:p14="http://schemas.microsoft.com/office/powerpoint/2010/main" val="3495652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619C9-3812-DFA4-0F22-ECCF8A626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8F695-AC4D-5C39-6ABF-CD9517EA0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Frequency comparison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39EBB9D-0622-D5F5-5B7D-1EB5B3EEA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3FD2-108E-45E4-951C-277CC0F0149D}" type="slidenum">
              <a:rPr lang="en-US" smtClean="0"/>
              <a:t>4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75A73A0-7E51-385B-B9C0-2EECC50B3F0D}"/>
                  </a:ext>
                </a:extLst>
              </p:cNvPr>
              <p:cNvSpPr txBox="1"/>
              <p:nvPr/>
            </p:nvSpPr>
            <p:spPr>
              <a:xfrm>
                <a:off x="182495" y="2445951"/>
                <a:ext cx="7785847" cy="6505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6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𝑌𝐼</m:t>
                      </m:r>
                      <m:f>
                        <m:f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num>
                        <m:den>
                          <m: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6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𝜗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num>
                                <m:den>
                                  <m:r>
                                    <a:rPr lang="en-US" sz="16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d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75A73A0-7E51-385B-B9C0-2EECC50B3F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495" y="2445951"/>
                <a:ext cx="7785847" cy="65056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9BDA8E6-5F23-6B99-F39D-3127D77081C8}"/>
                  </a:ext>
                </a:extLst>
              </p:cNvPr>
              <p:cNvSpPr txBox="1"/>
              <p:nvPr/>
            </p:nvSpPr>
            <p:spPr>
              <a:xfrm>
                <a:off x="2506040" y="1859508"/>
                <a:ext cx="2700493" cy="586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𝑀</m:t>
                          </m:r>
                        </m:num>
                        <m:den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6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𝑚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num>
                        <m:den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600" i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9BDA8E6-5F23-6B99-F39D-3127D77081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6040" y="1859508"/>
                <a:ext cx="2700493" cy="586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2816495-43AD-F0C7-F0AB-5AE3010AF674}"/>
                  </a:ext>
                </a:extLst>
              </p:cNvPr>
              <p:cNvSpPr txBox="1"/>
              <p:nvPr/>
            </p:nvSpPr>
            <p:spPr>
              <a:xfrm>
                <a:off x="557190" y="3309692"/>
                <a:ext cx="6847462" cy="6558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f>
                        <m:f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600" i="0">
                              <a:latin typeface="Cambria Math" panose="020405030504060302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US" sz="1600" i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sz="1600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nary>
                        <m:naryPr>
                          <m:limLoc m:val="subSup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sz="1600" i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nary>
                      <m:r>
                        <a:rPr lang="en-US" sz="16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𝜗</m:t>
                      </m:r>
                      <m:nary>
                        <m:naryPr>
                          <m:limLoc m:val="subSup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</m:sup>
                        <m:e>
                          <m:f>
                            <m:f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6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p>
                                  <m:r>
                                    <a:rPr lang="en-US" sz="160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num>
                            <m:den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en-US" sz="16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16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en-US" sz="1600" i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a:rPr lang="en-US" sz="1600" i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2816495-43AD-F0C7-F0AB-5AE3010AF6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190" y="3309692"/>
                <a:ext cx="6847462" cy="6558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5497D6F0-13ED-BA7A-6AB0-82E1226E9394}"/>
              </a:ext>
            </a:extLst>
          </p:cNvPr>
          <p:cNvSpPr txBox="1"/>
          <p:nvPr/>
        </p:nvSpPr>
        <p:spPr>
          <a:xfrm>
            <a:off x="932962" y="2051710"/>
            <a:ext cx="20361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Full model: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CBFFC0-3BA7-1C63-5279-2EA6C75377DD}"/>
              </a:ext>
            </a:extLst>
          </p:cNvPr>
          <p:cNvSpPr txBox="1"/>
          <p:nvPr/>
        </p:nvSpPr>
        <p:spPr>
          <a:xfrm>
            <a:off x="1003300" y="5307283"/>
            <a:ext cx="20361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ROM: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7768B3B-CF45-2B12-3D4F-5358B4252726}"/>
                  </a:ext>
                </a:extLst>
              </p:cNvPr>
              <p:cNvSpPr txBox="1"/>
              <p:nvPr/>
            </p:nvSpPr>
            <p:spPr>
              <a:xfrm>
                <a:off x="726265" y="5029670"/>
                <a:ext cx="6096000" cy="11462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kern="10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̈"/>
                              <m:ctrlP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𝜂</m:t>
                              </m:r>
                            </m:e>
                          </m:acc>
                        </m:e>
                        <m:sub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6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sSub>
                        <m:sSubPr>
                          <m:ctrlP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1,1</m:t>
                          </m:r>
                        </m:sub>
                      </m:sSub>
                      <m:sSub>
                        <m:sSubPr>
                          <m:ctrlP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e>
                          </m:acc>
                        </m:e>
                        <m:sub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1,2</m:t>
                          </m:r>
                        </m:sub>
                      </m:sSub>
                      <m:sSub>
                        <m:sSubPr>
                          <m:ctrlP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6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6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sz="16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̈"/>
                              <m:ctrlP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e>
                          </m:acc>
                        </m:e>
                        <m:sub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𝐿</m:t>
                          </m:r>
                        </m:den>
                      </m:f>
                      <m:sSub>
                        <m:sSubPr>
                          <m:ctrlP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1,1</m:t>
                          </m:r>
                        </m:sub>
                      </m:sSub>
                      <m:sSub>
                        <m:sSubPr>
                          <m:ctrlP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𝜂</m:t>
                              </m:r>
                            </m:e>
                          </m:acc>
                        </m:e>
                        <m:sub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sz="16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7768B3B-CF45-2B12-3D4F-5358B42527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265" y="5029670"/>
                <a:ext cx="6096000" cy="114627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AA8430A9-D256-86DE-878F-BBA431C24A29}"/>
              </a:ext>
            </a:extLst>
          </p:cNvPr>
          <p:cNvSpPr txBox="1"/>
          <p:nvPr/>
        </p:nvSpPr>
        <p:spPr>
          <a:xfrm>
            <a:off x="932962" y="4613666"/>
            <a:ext cx="52223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Assume that the beam vibrate in its first mode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4A39C21-97E4-B384-210F-D218EE0AD3AF}"/>
              </a:ext>
            </a:extLst>
          </p:cNvPr>
          <p:cNvGrpSpPr/>
          <p:nvPr/>
        </p:nvGrpSpPr>
        <p:grpSpPr>
          <a:xfrm>
            <a:off x="7568562" y="1276680"/>
            <a:ext cx="3854069" cy="4304640"/>
            <a:chOff x="7886988" y="1792601"/>
            <a:chExt cx="4390560" cy="4903851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7A585B1-2CC6-56AB-D439-01D31FAFE724}"/>
                </a:ext>
              </a:extLst>
            </p:cNvPr>
            <p:cNvGrpSpPr/>
            <p:nvPr/>
          </p:nvGrpSpPr>
          <p:grpSpPr>
            <a:xfrm>
              <a:off x="7886988" y="1792601"/>
              <a:ext cx="2839932" cy="4903851"/>
              <a:chOff x="7428330" y="1452499"/>
              <a:chExt cx="2839932" cy="4903851"/>
            </a:xfrm>
          </p:grpSpPr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A80E48EC-BBD7-436F-878C-9D456BCA08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428330" y="3066751"/>
                <a:ext cx="2060328" cy="3289599"/>
              </a:xfrm>
              <a:prstGeom prst="rect">
                <a:avLst/>
              </a:prstGeom>
            </p:spPr>
          </p:pic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77373CAC-7E70-9F57-C337-753B851674F9}"/>
                  </a:ext>
                </a:extLst>
              </p:cNvPr>
              <p:cNvGrpSpPr/>
              <p:nvPr/>
            </p:nvGrpSpPr>
            <p:grpSpPr>
              <a:xfrm>
                <a:off x="7748689" y="1452499"/>
                <a:ext cx="2519573" cy="1881611"/>
                <a:chOff x="7748689" y="1452499"/>
                <a:chExt cx="2519573" cy="1881611"/>
              </a:xfrm>
            </p:grpSpPr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619F6228-301F-EDF8-4C60-021FCDE72159}"/>
                    </a:ext>
                  </a:extLst>
                </p:cNvPr>
                <p:cNvCxnSpPr/>
                <p:nvPr/>
              </p:nvCxnSpPr>
              <p:spPr>
                <a:xfrm flipV="1">
                  <a:off x="8032173" y="1690688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BD983FE3-936E-FA0D-E4AB-6D50462A8564}"/>
                    </a:ext>
                  </a:extLst>
                </p:cNvPr>
                <p:cNvCxnSpPr/>
                <p:nvPr/>
              </p:nvCxnSpPr>
              <p:spPr>
                <a:xfrm flipV="1">
                  <a:off x="8107725" y="1730880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D050742B-DBF7-43E1-2A60-AFF98B6F9AF5}"/>
                    </a:ext>
                  </a:extLst>
                </p:cNvPr>
                <p:cNvCxnSpPr/>
                <p:nvPr/>
              </p:nvCxnSpPr>
              <p:spPr>
                <a:xfrm flipV="1">
                  <a:off x="8904799" y="1513329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F151005C-CA53-8393-4252-0BA5B9D2EE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032173" y="1460342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0FACA967-5672-D91E-6211-2CEE67FEA9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14519" y="1513329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A20A1857-775A-B96A-1668-8DE26FDC3D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800408" y="1452499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6F417B56-EDD8-B5DC-E16D-5979A825C75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021840" y="1693314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F4F1A545-429E-7D3A-61BD-0203984FA83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021840" y="3234849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FA0C4130-D23E-B6EB-80E0-0A4AC7C6D8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14518" y="3052148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D3D1D71C-B19D-449B-7221-F00AAE98088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10600" y="2492303"/>
                  <a:ext cx="434313" cy="18426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B88B064B-5C70-9339-9341-B888917A1B9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748689" y="2173270"/>
                  <a:ext cx="264980" cy="112424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60C12EC3-107F-3057-8AD9-A026F3B4313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748689" y="2039629"/>
                  <a:ext cx="293818" cy="13188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38F03A9A-4A5E-53C4-FD7E-6A04B148D74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898004" y="1591849"/>
                  <a:ext cx="293818" cy="13188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CB04308C-751B-6D5F-9694-BC84C6D2879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044913" y="2138828"/>
                  <a:ext cx="1223349" cy="537395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397B94F5-FB7D-528B-CE89-569393262F6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98617" y="1591849"/>
                  <a:ext cx="309725" cy="153811"/>
                </a:xfrm>
                <a:prstGeom prst="line">
                  <a:avLst/>
                </a:prstGeom>
                <a:ln>
                  <a:head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D021797B-859C-C185-5A8D-14BF7CA2411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958537" y="1984670"/>
                  <a:ext cx="309725" cy="153811"/>
                </a:xfrm>
                <a:prstGeom prst="line">
                  <a:avLst/>
                </a:prstGeom>
                <a:ln>
                  <a:tail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4" name="TextBox 33">
                      <a:extLst>
                        <a:ext uri="{FF2B5EF4-FFF2-40B4-BE49-F238E27FC236}">
                          <a16:creationId xmlns:a16="http://schemas.microsoft.com/office/drawing/2014/main" id="{5684C37D-DA76-41BF-0F3C-2E81E6C89F2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419035" y="1651741"/>
                      <a:ext cx="65229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56" name="TextBox 55">
                      <a:extLst>
                        <a:ext uri="{FF2B5EF4-FFF2-40B4-BE49-F238E27FC236}">
                          <a16:creationId xmlns:a16="http://schemas.microsoft.com/office/drawing/2014/main" id="{54AEFB3B-D250-CDBE-BDAE-63A083E6014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419035" y="1651741"/>
                      <a:ext cx="652294" cy="369332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FFF1EDD3-63D9-BC29-E62E-032C9A9EE75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454520" y="3841676"/>
              <a:ext cx="2823028" cy="799829"/>
            </a:xfrm>
            <a:prstGeom prst="rect">
              <a:avLst/>
            </a:prstGeom>
          </p:spPr>
        </p:pic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DD67681D-ADC7-B77B-9F82-85714C7C33D1}"/>
              </a:ext>
            </a:extLst>
          </p:cNvPr>
          <p:cNvSpPr txBox="1"/>
          <p:nvPr/>
        </p:nvSpPr>
        <p:spPr>
          <a:xfrm>
            <a:off x="7514951" y="472919"/>
            <a:ext cx="44234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Compute the frequency for zero modulator voltage and base displacement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A5ABDA1-F445-86C3-A394-9826917B4C08}"/>
                  </a:ext>
                </a:extLst>
              </p:cNvPr>
              <p:cNvSpPr txBox="1"/>
              <p:nvPr/>
            </p:nvSpPr>
            <p:spPr>
              <a:xfrm>
                <a:off x="932962" y="4044908"/>
                <a:ext cx="468918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FEM results (40 elements):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=475.4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rad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A5ABDA1-F445-86C3-A394-9826917B4C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962" y="4044908"/>
                <a:ext cx="4689188" cy="369332"/>
              </a:xfrm>
              <a:prstGeom prst="rect">
                <a:avLst/>
              </a:prstGeom>
              <a:blipFill>
                <a:blip r:embed="rId9"/>
                <a:stretch>
                  <a:fillRect l="-1040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004EC83-C6AA-E9A6-6659-312CFEBEE4D7}"/>
                  </a:ext>
                </a:extLst>
              </p:cNvPr>
              <p:cNvSpPr txBox="1"/>
              <p:nvPr/>
            </p:nvSpPr>
            <p:spPr>
              <a:xfrm>
                <a:off x="932962" y="6144237"/>
                <a:ext cx="468918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ROM results: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=477.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rad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004EC83-C6AA-E9A6-6659-312CFEBEE4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962" y="6144237"/>
                <a:ext cx="4689188" cy="369332"/>
              </a:xfrm>
              <a:prstGeom prst="rect">
                <a:avLst/>
              </a:prstGeom>
              <a:blipFill>
                <a:blip r:embed="rId10"/>
                <a:stretch>
                  <a:fillRect l="-1040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AB9BBEFE-141C-385C-9A85-0BC40857E094}"/>
              </a:ext>
            </a:extLst>
          </p:cNvPr>
          <p:cNvSpPr txBox="1"/>
          <p:nvPr/>
        </p:nvSpPr>
        <p:spPr>
          <a:xfrm>
            <a:off x="5643825" y="5963012"/>
            <a:ext cx="53679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error of linear estimation may lead to incorrect critical amplitude of nonlinear solutions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03FDC0B-ED69-4884-5653-46BC54373E22}"/>
                  </a:ext>
                </a:extLst>
              </p:cNvPr>
              <p:cNvSpPr txBox="1"/>
              <p:nvPr/>
            </p:nvSpPr>
            <p:spPr>
              <a:xfrm>
                <a:off x="9316019" y="2372513"/>
                <a:ext cx="207749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ext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=500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rad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s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03FDC0B-ED69-4884-5653-46BC54373E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6019" y="2372513"/>
                <a:ext cx="2077496" cy="369332"/>
              </a:xfrm>
              <a:prstGeom prst="rect">
                <a:avLst/>
              </a:prstGeom>
              <a:blipFill>
                <a:blip r:embed="rId11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5435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132FE-A96A-17A3-EA92-87EAFEF5C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EE8D0-2D17-5710-8AA7-A8877A5D7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Frequency comparison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41B016F-671D-8DFD-4CE2-B726BBBE6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3FD2-108E-45E4-951C-277CC0F0149D}" type="slidenum">
              <a:rPr lang="en-US" smtClean="0"/>
              <a:t>5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475A5EF-E82B-DB2D-5CF6-83BEDCC8B660}"/>
              </a:ext>
            </a:extLst>
          </p:cNvPr>
          <p:cNvGrpSpPr/>
          <p:nvPr/>
        </p:nvGrpSpPr>
        <p:grpSpPr>
          <a:xfrm>
            <a:off x="7568562" y="1276680"/>
            <a:ext cx="3854069" cy="4304640"/>
            <a:chOff x="7886988" y="1792601"/>
            <a:chExt cx="4390560" cy="4903851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029BFCC-A693-EDA7-BCD6-2414F92299CC}"/>
                </a:ext>
              </a:extLst>
            </p:cNvPr>
            <p:cNvGrpSpPr/>
            <p:nvPr/>
          </p:nvGrpSpPr>
          <p:grpSpPr>
            <a:xfrm>
              <a:off x="7886988" y="1792601"/>
              <a:ext cx="2839932" cy="4903851"/>
              <a:chOff x="7428330" y="1452499"/>
              <a:chExt cx="2839932" cy="4903851"/>
            </a:xfrm>
          </p:grpSpPr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2E2F124A-B976-0680-EB59-F7A21214AE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428330" y="3066751"/>
                <a:ext cx="2060328" cy="3289599"/>
              </a:xfrm>
              <a:prstGeom prst="rect">
                <a:avLst/>
              </a:prstGeom>
            </p:spPr>
          </p:pic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4A19D6D2-F413-EC07-EA4F-7558718863FE}"/>
                  </a:ext>
                </a:extLst>
              </p:cNvPr>
              <p:cNvGrpSpPr/>
              <p:nvPr/>
            </p:nvGrpSpPr>
            <p:grpSpPr>
              <a:xfrm>
                <a:off x="7748689" y="1452499"/>
                <a:ext cx="2519573" cy="1881611"/>
                <a:chOff x="7748689" y="1452499"/>
                <a:chExt cx="2519573" cy="1881611"/>
              </a:xfrm>
            </p:grpSpPr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F04A9378-DE14-3ED8-82A4-E5031311BA0F}"/>
                    </a:ext>
                  </a:extLst>
                </p:cNvPr>
                <p:cNvCxnSpPr/>
                <p:nvPr/>
              </p:nvCxnSpPr>
              <p:spPr>
                <a:xfrm flipV="1">
                  <a:off x="8032173" y="1690688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7D0D00FC-B50A-DD4C-4580-D698214A6D57}"/>
                    </a:ext>
                  </a:extLst>
                </p:cNvPr>
                <p:cNvCxnSpPr/>
                <p:nvPr/>
              </p:nvCxnSpPr>
              <p:spPr>
                <a:xfrm flipV="1">
                  <a:off x="8107725" y="1730880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CF252F7E-BE6E-7924-1FE5-E0060D00BA76}"/>
                    </a:ext>
                  </a:extLst>
                </p:cNvPr>
                <p:cNvCxnSpPr/>
                <p:nvPr/>
              </p:nvCxnSpPr>
              <p:spPr>
                <a:xfrm flipV="1">
                  <a:off x="8904799" y="1513329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34930EF1-56F5-4AF0-EE0A-5A326A287D1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032173" y="1460342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7F8BF033-940C-9AED-6145-29E4861B229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14519" y="1513329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CACC56ED-B8DB-8642-3A1A-00399EB922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800408" y="1452499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90513440-75AE-C76E-2374-E91323810E9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021840" y="1693314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947DF770-8FF8-D09D-0500-72A9F27F782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021840" y="3234849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390DDA45-6FBC-C57F-504A-FC564EA3C57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14518" y="3052148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263A66E7-1D1E-557E-F14E-C944AD2535A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10600" y="2492303"/>
                  <a:ext cx="434313" cy="18426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C21C9BD2-A5DE-4EF5-9244-6D3CD05CF3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748689" y="2173270"/>
                  <a:ext cx="264980" cy="112424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DA3B9809-93EE-05FD-7561-FBAF0F71F7A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748689" y="2039629"/>
                  <a:ext cx="293818" cy="13188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4A4CFA2B-93FF-63AF-09B2-F0520EC1A4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898004" y="1591849"/>
                  <a:ext cx="293818" cy="13188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56232B79-58DC-DE1B-13D0-6ADAD3A11DE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044913" y="2138828"/>
                  <a:ext cx="1223349" cy="537395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4EAC90F6-D05A-26FA-0379-84626A11CB2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98617" y="1591849"/>
                  <a:ext cx="309725" cy="153811"/>
                </a:xfrm>
                <a:prstGeom prst="line">
                  <a:avLst/>
                </a:prstGeom>
                <a:ln>
                  <a:head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3F293AA7-0A75-0998-11F7-94C8D3BA205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958537" y="1984670"/>
                  <a:ext cx="309725" cy="153811"/>
                </a:xfrm>
                <a:prstGeom prst="line">
                  <a:avLst/>
                </a:prstGeom>
                <a:ln>
                  <a:tail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34" name="TextBox 33">
                      <a:extLst>
                        <a:ext uri="{FF2B5EF4-FFF2-40B4-BE49-F238E27FC236}">
                          <a16:creationId xmlns:a16="http://schemas.microsoft.com/office/drawing/2014/main" id="{2568A0E4-17E9-9B33-51EC-B9D6F77E072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419035" y="1651741"/>
                      <a:ext cx="65229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>
                <p:sp>
                  <p:nvSpPr>
                    <p:cNvPr id="34" name="TextBox 33">
                      <a:extLst>
                        <a:ext uri="{FF2B5EF4-FFF2-40B4-BE49-F238E27FC236}">
                          <a16:creationId xmlns:a16="http://schemas.microsoft.com/office/drawing/2014/main" id="{2568A0E4-17E9-9B33-51EC-B9D6F77E072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419035" y="1651741"/>
                      <a:ext cx="652294" cy="369332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b="-377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0AC8BA92-EBEC-3CA1-C4AA-92F9D638D4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54520" y="3841676"/>
              <a:ext cx="2823028" cy="799829"/>
            </a:xfrm>
            <a:prstGeom prst="rect">
              <a:avLst/>
            </a:prstGeom>
          </p:spPr>
        </p:pic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26F68A5B-0005-08CB-9140-C03CBFC615FE}"/>
              </a:ext>
            </a:extLst>
          </p:cNvPr>
          <p:cNvSpPr txBox="1"/>
          <p:nvPr/>
        </p:nvSpPr>
        <p:spPr>
          <a:xfrm>
            <a:off x="7514951" y="472919"/>
            <a:ext cx="44234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Compute the frequency for zero modulator voltage and base displacement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3569F9B-E1EC-7325-1430-058F4974D678}"/>
              </a:ext>
            </a:extLst>
          </p:cNvPr>
          <p:cNvSpPr txBox="1"/>
          <p:nvPr/>
        </p:nvSpPr>
        <p:spPr>
          <a:xfrm>
            <a:off x="5643825" y="5963012"/>
            <a:ext cx="53679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error of linear estimation may lead to incorrect critical amplitude of nonlinear solutions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B821E84-EF38-9890-E597-20615F81D968}"/>
                  </a:ext>
                </a:extLst>
              </p:cNvPr>
              <p:cNvSpPr txBox="1"/>
              <p:nvPr/>
            </p:nvSpPr>
            <p:spPr>
              <a:xfrm>
                <a:off x="9316019" y="2372513"/>
                <a:ext cx="207749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ext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=500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rad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s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B821E84-EF38-9890-E597-20615F81D9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6019" y="2372513"/>
                <a:ext cx="2077496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1" name="Picture 40">
            <a:extLst>
              <a:ext uri="{FF2B5EF4-FFF2-40B4-BE49-F238E27FC236}">
                <a16:creationId xmlns:a16="http://schemas.microsoft.com/office/drawing/2014/main" id="{70B072D3-7AA1-887A-33CE-D946E797C3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5220" y="1474643"/>
            <a:ext cx="3406728" cy="2555046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4F700948-57EC-A70D-D080-307C638192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5220" y="4105834"/>
            <a:ext cx="3406728" cy="2555046"/>
          </a:xfrm>
          <a:prstGeom prst="rect">
            <a:avLst/>
          </a:prstGeom>
        </p:spPr>
      </p:pic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14D41DF-9933-7BB1-E45B-552427E8D3D9}"/>
              </a:ext>
            </a:extLst>
          </p:cNvPr>
          <p:cNvCxnSpPr>
            <a:cxnSpLocks/>
          </p:cNvCxnSpPr>
          <p:nvPr/>
        </p:nvCxnSpPr>
        <p:spPr>
          <a:xfrm>
            <a:off x="2461846" y="4682532"/>
            <a:ext cx="1510102" cy="3717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CCAA2EF6-52ED-AD13-1F1B-1015670D3B21}"/>
              </a:ext>
            </a:extLst>
          </p:cNvPr>
          <p:cNvSpPr txBox="1"/>
          <p:nvPr/>
        </p:nvSpPr>
        <p:spPr>
          <a:xfrm>
            <a:off x="4156594" y="4420579"/>
            <a:ext cx="28169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torque resulting from the piezoelectric patches</a:t>
            </a:r>
          </a:p>
        </p:txBody>
      </p:sp>
    </p:spTree>
    <p:extLst>
      <p:ext uri="{BB962C8B-B14F-4D97-AF65-F5344CB8AC3E}">
        <p14:creationId xmlns:p14="http://schemas.microsoft.com/office/powerpoint/2010/main" val="3512354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A858F-EA75-D1E4-FF35-9E21AFD61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5EC67-BE8A-E6EC-1D6D-7627D694F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Modification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256C399-6FC0-DBEB-0FD4-80E1B38EC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3FD2-108E-45E4-951C-277CC0F0149D}" type="slidenum">
              <a:rPr lang="en-US" smtClean="0"/>
              <a:t>6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418B15B-39E8-B5A0-AE3D-349823CFB8F1}"/>
              </a:ext>
            </a:extLst>
          </p:cNvPr>
          <p:cNvGrpSpPr/>
          <p:nvPr/>
        </p:nvGrpSpPr>
        <p:grpSpPr>
          <a:xfrm>
            <a:off x="7568562" y="1276680"/>
            <a:ext cx="3854069" cy="4304640"/>
            <a:chOff x="7886988" y="1792601"/>
            <a:chExt cx="4390560" cy="4903851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2652F2E-D77E-CE37-5F2A-DF028487739A}"/>
                </a:ext>
              </a:extLst>
            </p:cNvPr>
            <p:cNvGrpSpPr/>
            <p:nvPr/>
          </p:nvGrpSpPr>
          <p:grpSpPr>
            <a:xfrm>
              <a:off x="7886988" y="1792601"/>
              <a:ext cx="2839932" cy="4903851"/>
              <a:chOff x="7428330" y="1452499"/>
              <a:chExt cx="2839932" cy="4903851"/>
            </a:xfrm>
          </p:grpSpPr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ACB814C1-1E2A-98B1-0081-E22AEAD698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428330" y="3066751"/>
                <a:ext cx="2060328" cy="3289599"/>
              </a:xfrm>
              <a:prstGeom prst="rect">
                <a:avLst/>
              </a:prstGeom>
            </p:spPr>
          </p:pic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CC052774-BE7E-32B1-A845-36E7AC33F505}"/>
                  </a:ext>
                </a:extLst>
              </p:cNvPr>
              <p:cNvGrpSpPr/>
              <p:nvPr/>
            </p:nvGrpSpPr>
            <p:grpSpPr>
              <a:xfrm>
                <a:off x="7748689" y="1452499"/>
                <a:ext cx="2519573" cy="1881611"/>
                <a:chOff x="7748689" y="1452499"/>
                <a:chExt cx="2519573" cy="1881611"/>
              </a:xfrm>
            </p:grpSpPr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2608A22C-0270-354A-60C9-50607533B21C}"/>
                    </a:ext>
                  </a:extLst>
                </p:cNvPr>
                <p:cNvCxnSpPr/>
                <p:nvPr/>
              </p:nvCxnSpPr>
              <p:spPr>
                <a:xfrm flipV="1">
                  <a:off x="8032173" y="1690688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80357E3D-2367-4A1E-C3A8-66D9F523AACA}"/>
                    </a:ext>
                  </a:extLst>
                </p:cNvPr>
                <p:cNvCxnSpPr/>
                <p:nvPr/>
              </p:nvCxnSpPr>
              <p:spPr>
                <a:xfrm flipV="1">
                  <a:off x="8107725" y="1730880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54F209EF-A07F-5D54-FADD-834A3AC80B71}"/>
                    </a:ext>
                  </a:extLst>
                </p:cNvPr>
                <p:cNvCxnSpPr/>
                <p:nvPr/>
              </p:nvCxnSpPr>
              <p:spPr>
                <a:xfrm flipV="1">
                  <a:off x="8904799" y="1513329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A8CC2624-B276-F0E8-CC80-1483C60CF36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032173" y="1460342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62C5F224-8A44-B1D7-20D9-A0AC5816FA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14519" y="1513329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52379B4D-61ED-A19D-EFFF-12606B7219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800408" y="1452499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131AFA49-1F45-E45C-89A4-7D14EA82719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021840" y="1693314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6AB837A5-4317-97EA-803A-3D74D0C849E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021840" y="3234849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0EC1ECB0-ED4E-A20E-EA4F-9B9CF918FF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14518" y="3052148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1A6608CF-388A-E517-9F5C-14677956E62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10600" y="2492303"/>
                  <a:ext cx="434313" cy="18426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6D3E6290-C895-6FC9-082A-9CBF0339040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748689" y="2173270"/>
                  <a:ext cx="264980" cy="112424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534E026D-1F74-BD47-D9B1-1DA53297877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748689" y="2039629"/>
                  <a:ext cx="293818" cy="13188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AEB7A540-DABD-832C-99D6-13CFFF0C06B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898004" y="1591849"/>
                  <a:ext cx="293818" cy="13188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7EAAD84B-D273-64FC-67B5-029B91701D8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044913" y="2138828"/>
                  <a:ext cx="1223349" cy="537395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0DDB0B5F-C259-79AB-1C97-0FEB49517A5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98617" y="1591849"/>
                  <a:ext cx="309725" cy="153811"/>
                </a:xfrm>
                <a:prstGeom prst="line">
                  <a:avLst/>
                </a:prstGeom>
                <a:ln>
                  <a:head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4EA7AACE-A2F6-E10C-6BD4-EB3D44025C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958537" y="1984670"/>
                  <a:ext cx="309725" cy="153811"/>
                </a:xfrm>
                <a:prstGeom prst="line">
                  <a:avLst/>
                </a:prstGeom>
                <a:ln>
                  <a:tail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34" name="TextBox 33">
                      <a:extLst>
                        <a:ext uri="{FF2B5EF4-FFF2-40B4-BE49-F238E27FC236}">
                          <a16:creationId xmlns:a16="http://schemas.microsoft.com/office/drawing/2014/main" id="{97EE209C-1075-1098-7C52-BC4F1B2E3B8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419035" y="1651741"/>
                      <a:ext cx="65229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>
                <p:sp>
                  <p:nvSpPr>
                    <p:cNvPr id="34" name="TextBox 33">
                      <a:extLst>
                        <a:ext uri="{FF2B5EF4-FFF2-40B4-BE49-F238E27FC236}">
                          <a16:creationId xmlns:a16="http://schemas.microsoft.com/office/drawing/2014/main" id="{97EE209C-1075-1098-7C52-BC4F1B2E3B8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419035" y="1651741"/>
                      <a:ext cx="652294" cy="369332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b="-377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913264E5-D18A-AA7E-FBA3-FE33726715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54520" y="3841676"/>
              <a:ext cx="2823028" cy="799829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B6A6DFD-8817-BD5D-4833-D90E341AF029}"/>
                  </a:ext>
                </a:extLst>
              </p:cNvPr>
              <p:cNvSpPr txBox="1"/>
              <p:nvPr/>
            </p:nvSpPr>
            <p:spPr>
              <a:xfrm>
                <a:off x="9316019" y="2372513"/>
                <a:ext cx="207749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ext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=500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rad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s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B6A6DFD-8817-BD5D-4833-D90E341AF0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6019" y="2372513"/>
                <a:ext cx="2077496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Box 46">
            <a:extLst>
              <a:ext uri="{FF2B5EF4-FFF2-40B4-BE49-F238E27FC236}">
                <a16:creationId xmlns:a16="http://schemas.microsoft.com/office/drawing/2014/main" id="{E9E5BCE7-87A1-08BB-A35F-4CEF8BAE5FEF}"/>
              </a:ext>
            </a:extLst>
          </p:cNvPr>
          <p:cNvSpPr txBox="1"/>
          <p:nvPr/>
        </p:nvSpPr>
        <p:spPr>
          <a:xfrm>
            <a:off x="894911" y="1607401"/>
            <a:ext cx="28169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Ansatz: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872056D-CC76-2BD4-8776-9D17F159C8D3}"/>
                  </a:ext>
                </a:extLst>
              </p:cNvPr>
              <p:cNvSpPr txBox="1"/>
              <p:nvPr/>
            </p:nvSpPr>
            <p:spPr>
              <a:xfrm>
                <a:off x="475985" y="1576891"/>
                <a:ext cx="579335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𝑟𝑒𝑙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872056D-CC76-2BD4-8776-9D17F159C8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985" y="1576891"/>
                <a:ext cx="579335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6EE2F747-616A-3D99-0234-6C12CA11C98D}"/>
              </a:ext>
            </a:extLst>
          </p:cNvPr>
          <p:cNvSpPr txBox="1"/>
          <p:nvPr/>
        </p:nvSpPr>
        <p:spPr>
          <a:xfrm>
            <a:off x="1562870" y="2006116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Base excitation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04CF01-8233-E716-AC65-2226DB2B861D}"/>
              </a:ext>
            </a:extLst>
          </p:cNvPr>
          <p:cNvSpPr txBox="1"/>
          <p:nvPr/>
        </p:nvSpPr>
        <p:spPr>
          <a:xfrm>
            <a:off x="3528523" y="2017281"/>
            <a:ext cx="26217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Relative displacement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754098D-256D-1FB8-5E08-BF27AD529ED3}"/>
              </a:ext>
            </a:extLst>
          </p:cNvPr>
          <p:cNvCxnSpPr/>
          <p:nvPr/>
        </p:nvCxnSpPr>
        <p:spPr>
          <a:xfrm flipV="1">
            <a:off x="2483179" y="1882635"/>
            <a:ext cx="302559" cy="1505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01D87EC-9777-2068-AE16-68210525B4BB}"/>
              </a:ext>
            </a:extLst>
          </p:cNvPr>
          <p:cNvCxnSpPr>
            <a:cxnSpLocks/>
          </p:cNvCxnSpPr>
          <p:nvPr/>
        </p:nvCxnSpPr>
        <p:spPr>
          <a:xfrm flipH="1" flipV="1">
            <a:off x="3758959" y="1946223"/>
            <a:ext cx="275228" cy="8694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D57F7C9-F642-9206-C5E8-96502493F89E}"/>
                  </a:ext>
                </a:extLst>
              </p:cNvPr>
              <p:cNvSpPr txBox="1"/>
              <p:nvPr/>
            </p:nvSpPr>
            <p:spPr>
              <a:xfrm>
                <a:off x="965490" y="2424523"/>
                <a:ext cx="6096000" cy="86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𝑟𝑒𝑙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  <m:r>
                        <a:rPr lang="en-US" i="0">
                          <a:latin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;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.</m:t>
                      </m:r>
                      <m:nary>
                        <m:naryPr>
                          <m:limLoc m:val="subSu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  <m:sSubSup>
                            <m:sSubSup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a:rPr lang="en-US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D57F7C9-F642-9206-C5E8-96502493F8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90" y="2424523"/>
                <a:ext cx="6096000" cy="86074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D450F63-8B9A-45FE-D1D8-3504E1E281FD}"/>
                  </a:ext>
                </a:extLst>
              </p:cNvPr>
              <p:cNvSpPr txBox="1"/>
              <p:nvPr/>
            </p:nvSpPr>
            <p:spPr>
              <a:xfrm>
                <a:off x="965490" y="3454305"/>
                <a:ext cx="5793353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r>
                  <a:rPr lang="en-US" dirty="0"/>
                  <a:t>Since the harvester affects the mode shape, we use FEM-simulated mode shape considering the harvester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D450F63-8B9A-45FE-D1D8-3504E1E281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90" y="3454305"/>
                <a:ext cx="5793353" cy="646331"/>
              </a:xfrm>
              <a:prstGeom prst="rect">
                <a:avLst/>
              </a:prstGeom>
              <a:blipFill>
                <a:blip r:embed="rId8"/>
                <a:stretch>
                  <a:fillRect l="-841" t="-4717" r="-841" b="-15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D0EAF860-73DF-BB43-E4C0-5504159822AF}"/>
              </a:ext>
            </a:extLst>
          </p:cNvPr>
          <p:cNvSpPr txBox="1"/>
          <p:nvPr/>
        </p:nvSpPr>
        <p:spPr>
          <a:xfrm>
            <a:off x="988762" y="4694334"/>
            <a:ext cx="20361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ROM: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746C9F6-8E09-2B04-E66D-A8A2EE8D8091}"/>
                  </a:ext>
                </a:extLst>
              </p:cNvPr>
              <p:cNvSpPr txBox="1"/>
              <p:nvPr/>
            </p:nvSpPr>
            <p:spPr>
              <a:xfrm>
                <a:off x="1219026" y="4385480"/>
                <a:ext cx="6096000" cy="11958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kern="10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̈"/>
                              <m:ctrlP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𝜂</m:t>
                              </m:r>
                            </m:e>
                          </m:acc>
                        </m:e>
                        <m:sub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6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sSub>
                        <m:sSubPr>
                          <m:ctrlP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1,1</m:t>
                          </m:r>
                        </m:sub>
                      </m:sSub>
                      <m:sSub>
                        <m:sSubPr>
                          <m:ctrlP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e>
                          </m:acc>
                        </m:e>
                        <m:sub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1,2</m:t>
                          </m:r>
                        </m:sub>
                      </m:sSub>
                      <m:sSub>
                        <m:sSubPr>
                          <m:ctrlP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6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16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̈"/>
                              <m:ctrlP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e>
                          </m:acc>
                        </m:e>
                        <m:sub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e>
                          </m:acc>
                        </m:e>
                        <m:sub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𝐿</m:t>
                          </m:r>
                        </m:den>
                      </m:f>
                      <m:sSub>
                        <m:sSubPr>
                          <m:ctrlP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  <m:sSubSup>
                        <m:sSubSupPr>
                          <m:ctrlP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US" sz="16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1,1</m:t>
                          </m:r>
                        </m:sub>
                      </m:sSub>
                      <m:sSub>
                        <m:sSubPr>
                          <m:ctrlP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𝜂</m:t>
                              </m:r>
                            </m:e>
                          </m:acc>
                        </m:e>
                        <m:sub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sz="16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746C9F6-8E09-2B04-E66D-A8A2EE8D80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026" y="4385480"/>
                <a:ext cx="6096000" cy="119584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E959110-332B-2763-4522-1DC714D83951}"/>
                  </a:ext>
                </a:extLst>
              </p:cNvPr>
              <p:cNvSpPr txBox="1"/>
              <p:nvPr/>
            </p:nvSpPr>
            <p:spPr>
              <a:xfrm>
                <a:off x="869375" y="5652483"/>
                <a:ext cx="10710863" cy="8591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kern="100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where, </a:t>
                </a:r>
                <a14:m>
                  <m:oMath xmlns:m="http://schemas.openxmlformats.org/officeDocument/2006/math">
                    <m:r>
                      <a:rPr lang="en-US" i="1" kern="10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i="1" kern="1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 kern="1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  <m:r>
                      <a:rPr lang="en-US" b="0" i="0" kern="10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p>
                            <m:r>
                              <a:rPr lang="en-US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nary>
                      <m:naryPr>
                        <m:limLoc m:val="subSup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1,1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𝜗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1,2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𝜗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denotes the natural frequency of the first mode are updated accordingly</a:t>
                </a:r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E959110-332B-2763-4522-1DC714D839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375" y="5652483"/>
                <a:ext cx="10710863" cy="859146"/>
              </a:xfrm>
              <a:prstGeom prst="rect">
                <a:avLst/>
              </a:prstGeom>
              <a:blipFill>
                <a:blip r:embed="rId10"/>
                <a:stretch>
                  <a:fillRect l="-512" b="-106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40290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A61D3-F50B-8E7D-F36A-2320A3F97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E3F16-ECB6-6D40-2B04-F70BCDFB9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Updated Results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0085CA-08DE-80D9-2C61-FC492DB8B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3FD2-108E-45E4-951C-277CC0F0149D}" type="slidenum">
              <a:rPr lang="en-US" smtClean="0"/>
              <a:t>7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F38A44-C31D-0406-8F3E-B338CEFDAC2D}"/>
              </a:ext>
            </a:extLst>
          </p:cNvPr>
          <p:cNvGrpSpPr/>
          <p:nvPr/>
        </p:nvGrpSpPr>
        <p:grpSpPr>
          <a:xfrm>
            <a:off x="7859964" y="241700"/>
            <a:ext cx="3854069" cy="4304640"/>
            <a:chOff x="7886988" y="1792601"/>
            <a:chExt cx="4390560" cy="4903851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211F5F3D-2C60-E75A-DA58-504E5531571B}"/>
                </a:ext>
              </a:extLst>
            </p:cNvPr>
            <p:cNvGrpSpPr/>
            <p:nvPr/>
          </p:nvGrpSpPr>
          <p:grpSpPr>
            <a:xfrm>
              <a:off x="7886988" y="1792601"/>
              <a:ext cx="2839932" cy="4903851"/>
              <a:chOff x="7428330" y="1452499"/>
              <a:chExt cx="2839932" cy="4903851"/>
            </a:xfrm>
          </p:grpSpPr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0B86F602-DE15-C2A5-0943-9362C2D897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428330" y="3066751"/>
                <a:ext cx="2060328" cy="3289599"/>
              </a:xfrm>
              <a:prstGeom prst="rect">
                <a:avLst/>
              </a:prstGeom>
            </p:spPr>
          </p:pic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62122949-F7A9-A155-CBDC-85B706883069}"/>
                  </a:ext>
                </a:extLst>
              </p:cNvPr>
              <p:cNvGrpSpPr/>
              <p:nvPr/>
            </p:nvGrpSpPr>
            <p:grpSpPr>
              <a:xfrm>
                <a:off x="7748689" y="1452499"/>
                <a:ext cx="2519573" cy="1881611"/>
                <a:chOff x="7748689" y="1452499"/>
                <a:chExt cx="2519573" cy="1881611"/>
              </a:xfrm>
            </p:grpSpPr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AFC6A6D5-0767-B2FB-C2B7-DEBDD1DAC643}"/>
                    </a:ext>
                  </a:extLst>
                </p:cNvPr>
                <p:cNvCxnSpPr/>
                <p:nvPr/>
              </p:nvCxnSpPr>
              <p:spPr>
                <a:xfrm flipV="1">
                  <a:off x="8032173" y="1690688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CBE4B792-DFAC-E889-B1A3-0917E7EEFE6E}"/>
                    </a:ext>
                  </a:extLst>
                </p:cNvPr>
                <p:cNvCxnSpPr/>
                <p:nvPr/>
              </p:nvCxnSpPr>
              <p:spPr>
                <a:xfrm flipV="1">
                  <a:off x="8107725" y="1730880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6CFEAAAE-4312-E87F-FDB1-37451DACC9A5}"/>
                    </a:ext>
                  </a:extLst>
                </p:cNvPr>
                <p:cNvCxnSpPr/>
                <p:nvPr/>
              </p:nvCxnSpPr>
              <p:spPr>
                <a:xfrm flipV="1">
                  <a:off x="8904799" y="1513329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29A7F349-E4B5-3CC2-C9BC-BA6A5491730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032173" y="1460342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C929557C-5C24-1C9A-1929-806A3DB2882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14519" y="1513329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BD02BE07-E874-812A-1B19-6153C1872DD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800408" y="1452499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643C258A-C44D-5470-0AD0-6AB0E651CC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021840" y="1693314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96459AF7-671E-881B-D93C-4E2E3387F16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021840" y="3234849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27923717-EA95-81F3-CDDE-590DA81FEF7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14518" y="3052148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34B1C775-83CD-9876-9020-691F4D8A2EE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10600" y="2492303"/>
                  <a:ext cx="434313" cy="18426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D48C0299-0F1F-16CA-62D1-332754C1A0F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748689" y="2173270"/>
                  <a:ext cx="264980" cy="112424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2E979465-CB3B-B251-61F4-83E08FEE404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748689" y="2039629"/>
                  <a:ext cx="293818" cy="13188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56993A07-EB2C-CE34-1845-F6EB129111F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898004" y="1591849"/>
                  <a:ext cx="293818" cy="13188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E0905B7E-358C-DDC6-F4CE-E81CD344528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044913" y="2138828"/>
                  <a:ext cx="1223349" cy="537395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5A9B0B2F-1846-856E-3321-BB15C9B35B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98617" y="1591849"/>
                  <a:ext cx="309725" cy="153811"/>
                </a:xfrm>
                <a:prstGeom prst="line">
                  <a:avLst/>
                </a:prstGeom>
                <a:ln>
                  <a:head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899C78CD-8F29-01E9-5030-5A5672F789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958537" y="1984670"/>
                  <a:ext cx="309725" cy="153811"/>
                </a:xfrm>
                <a:prstGeom prst="line">
                  <a:avLst/>
                </a:prstGeom>
                <a:ln>
                  <a:tail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34" name="TextBox 33">
                      <a:extLst>
                        <a:ext uri="{FF2B5EF4-FFF2-40B4-BE49-F238E27FC236}">
                          <a16:creationId xmlns:a16="http://schemas.microsoft.com/office/drawing/2014/main" id="{28C3ED42-9533-BD62-71E3-0BCD90B7947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419035" y="1651741"/>
                      <a:ext cx="65229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>
                <p:sp>
                  <p:nvSpPr>
                    <p:cNvPr id="34" name="TextBox 33">
                      <a:extLst>
                        <a:ext uri="{FF2B5EF4-FFF2-40B4-BE49-F238E27FC236}">
                          <a16:creationId xmlns:a16="http://schemas.microsoft.com/office/drawing/2014/main" id="{28C3ED42-9533-BD62-71E3-0BCD90B7947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419035" y="1651741"/>
                      <a:ext cx="652294" cy="369332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b="-185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D7DD85CC-1FED-A0AC-C368-882679B49E2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54520" y="3841676"/>
              <a:ext cx="2823028" cy="799829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5F7EDED-7777-4DA2-5243-09C7268DE1E7}"/>
                  </a:ext>
                </a:extLst>
              </p:cNvPr>
              <p:cNvSpPr txBox="1"/>
              <p:nvPr/>
            </p:nvSpPr>
            <p:spPr>
              <a:xfrm>
                <a:off x="9607421" y="1337533"/>
                <a:ext cx="207749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ext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=500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rad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s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5F7EDED-7777-4DA2-5243-09C7268DE1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7421" y="1337533"/>
                <a:ext cx="2077496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7D27D2B-D544-E2B0-2E4F-3F26D3F15809}"/>
                  </a:ext>
                </a:extLst>
              </p:cNvPr>
              <p:cNvSpPr txBox="1"/>
              <p:nvPr/>
            </p:nvSpPr>
            <p:spPr>
              <a:xfrm>
                <a:off x="733941" y="1623972"/>
                <a:ext cx="544239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We consider the case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=0.022</m:t>
                    </m:r>
                  </m:oMath>
                </a14:m>
                <a:r>
                  <a:rPr lang="en-US" dirty="0"/>
                  <a:t>, where previous ROM does not match the FEM results 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7D27D2B-D544-E2B0-2E4F-3F26D3F158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941" y="1623972"/>
                <a:ext cx="5442398" cy="646331"/>
              </a:xfrm>
              <a:prstGeom prst="rect">
                <a:avLst/>
              </a:prstGeom>
              <a:blipFill>
                <a:blip r:embed="rId6"/>
                <a:stretch>
                  <a:fillRect l="-896" t="-3774" b="-15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9" name="Picture 38">
            <a:extLst>
              <a:ext uri="{FF2B5EF4-FFF2-40B4-BE49-F238E27FC236}">
                <a16:creationId xmlns:a16="http://schemas.microsoft.com/office/drawing/2014/main" id="{0B2E1112-C425-9D48-5844-5E6692FD39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2571" y="4574101"/>
            <a:ext cx="3045199" cy="2283899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A115D267-0030-F13B-F967-94469F964E1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6471" y="4541574"/>
            <a:ext cx="3045200" cy="228390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2B929BC1-ED99-043E-39D6-3786AF8100E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20369" y="2353418"/>
            <a:ext cx="3556501" cy="2667376"/>
          </a:xfrm>
          <a:prstGeom prst="rect">
            <a:avLst/>
          </a:prstGeom>
        </p:spPr>
      </p:pic>
      <p:sp>
        <p:nvSpPr>
          <p:cNvPr id="45" name="Oval 44">
            <a:extLst>
              <a:ext uri="{FF2B5EF4-FFF2-40B4-BE49-F238E27FC236}">
                <a16:creationId xmlns:a16="http://schemas.microsoft.com/office/drawing/2014/main" id="{20B4CC78-463A-D4E5-D529-DE9596C7C805}"/>
              </a:ext>
            </a:extLst>
          </p:cNvPr>
          <p:cNvSpPr/>
          <p:nvPr/>
        </p:nvSpPr>
        <p:spPr>
          <a:xfrm>
            <a:off x="3044651" y="2742491"/>
            <a:ext cx="532562" cy="197018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8485531-29C2-987D-6D48-67271EF6EC0F}"/>
              </a:ext>
            </a:extLst>
          </p:cNvPr>
          <p:cNvCxnSpPr>
            <a:stCxn id="45" idx="2"/>
          </p:cNvCxnSpPr>
          <p:nvPr/>
        </p:nvCxnSpPr>
        <p:spPr>
          <a:xfrm flipH="1">
            <a:off x="2090057" y="3727584"/>
            <a:ext cx="954594" cy="8139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40806703-5820-C36F-2B0D-FE2EF997303E}"/>
              </a:ext>
            </a:extLst>
          </p:cNvPr>
          <p:cNvSpPr/>
          <p:nvPr/>
        </p:nvSpPr>
        <p:spPr>
          <a:xfrm>
            <a:off x="4262181" y="2702013"/>
            <a:ext cx="532562" cy="197018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68841C1B-A292-E8AB-951D-36F7DFDCC4A3}"/>
              </a:ext>
            </a:extLst>
          </p:cNvPr>
          <p:cNvCxnSpPr>
            <a:cxnSpLocks/>
            <a:stCxn id="49" idx="5"/>
          </p:cNvCxnSpPr>
          <p:nvPr/>
        </p:nvCxnSpPr>
        <p:spPr>
          <a:xfrm>
            <a:off x="4716751" y="4383672"/>
            <a:ext cx="1135820" cy="7202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8488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57442-C10C-3CBD-7D59-16112AD3D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94860C6-E2E8-E823-57D8-245D93F39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684" y="2243287"/>
            <a:ext cx="3850184" cy="28876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D0FD6BA-2AC7-CC03-EA95-038198CA6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Updated Results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6C6EF90-6AB3-7CA2-A76B-221B382E2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3FD2-108E-45E4-951C-277CC0F0149D}" type="slidenum">
              <a:rPr lang="en-US" smtClean="0"/>
              <a:t>8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37F2091-BA39-3A0E-3B55-CAFB990F70D9}"/>
              </a:ext>
            </a:extLst>
          </p:cNvPr>
          <p:cNvGrpSpPr/>
          <p:nvPr/>
        </p:nvGrpSpPr>
        <p:grpSpPr>
          <a:xfrm>
            <a:off x="7859964" y="241700"/>
            <a:ext cx="3854069" cy="4304640"/>
            <a:chOff x="7886988" y="1792601"/>
            <a:chExt cx="4390560" cy="4903851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1251069-2B90-1EE4-7F51-FD6B59264A53}"/>
                </a:ext>
              </a:extLst>
            </p:cNvPr>
            <p:cNvGrpSpPr/>
            <p:nvPr/>
          </p:nvGrpSpPr>
          <p:grpSpPr>
            <a:xfrm>
              <a:off x="7886988" y="1792601"/>
              <a:ext cx="2839932" cy="4903851"/>
              <a:chOff x="7428330" y="1452499"/>
              <a:chExt cx="2839932" cy="4903851"/>
            </a:xfrm>
          </p:grpSpPr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899D2ECE-4879-46BD-E7A2-C6471977B1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428330" y="3066751"/>
                <a:ext cx="2060328" cy="3289599"/>
              </a:xfrm>
              <a:prstGeom prst="rect">
                <a:avLst/>
              </a:prstGeom>
            </p:spPr>
          </p:pic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FD62DA2C-2F5A-CBAC-E40F-6DAA76335620}"/>
                  </a:ext>
                </a:extLst>
              </p:cNvPr>
              <p:cNvGrpSpPr/>
              <p:nvPr/>
            </p:nvGrpSpPr>
            <p:grpSpPr>
              <a:xfrm>
                <a:off x="7748689" y="1452499"/>
                <a:ext cx="2519573" cy="1881611"/>
                <a:chOff x="7748689" y="1452499"/>
                <a:chExt cx="2519573" cy="1881611"/>
              </a:xfrm>
            </p:grpSpPr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7769A081-CB81-6B4C-D23C-38DA1EC6E245}"/>
                    </a:ext>
                  </a:extLst>
                </p:cNvPr>
                <p:cNvCxnSpPr/>
                <p:nvPr/>
              </p:nvCxnSpPr>
              <p:spPr>
                <a:xfrm flipV="1">
                  <a:off x="8032173" y="1690688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4EB20C8A-27F8-2331-82E8-BC574564069A}"/>
                    </a:ext>
                  </a:extLst>
                </p:cNvPr>
                <p:cNvCxnSpPr/>
                <p:nvPr/>
              </p:nvCxnSpPr>
              <p:spPr>
                <a:xfrm flipV="1">
                  <a:off x="8107725" y="1730880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33350BB1-109D-0FB0-D2F7-222323C4019C}"/>
                    </a:ext>
                  </a:extLst>
                </p:cNvPr>
                <p:cNvCxnSpPr/>
                <p:nvPr/>
              </p:nvCxnSpPr>
              <p:spPr>
                <a:xfrm flipV="1">
                  <a:off x="8904799" y="1513329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400AF55A-4DD1-4C19-6D20-A65A489EDF7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032173" y="1460342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EA7DACC1-55CE-B3BC-0EAD-8C94A981094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14519" y="1513329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434F3C63-0BE0-A3B5-4BA0-487D0923260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800408" y="1452499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E4A80819-BEAD-A0FE-4DB4-82CD1719689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021840" y="1693314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ACD68AAA-B2AA-56E0-B9D8-76C653D0839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021840" y="3234849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760B2D3F-8E41-D2FE-24BD-AE040EC585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14518" y="3052148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41436EAB-6727-652E-B4AB-2262DA5B51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10600" y="2492303"/>
                  <a:ext cx="434313" cy="18426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82BEA7F1-0121-1F0D-2A89-B4BA4BD70CA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748689" y="2173270"/>
                  <a:ext cx="264980" cy="112424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8AA9DCC1-31CE-1DA9-B5C2-F8DD8C5563E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748689" y="2039629"/>
                  <a:ext cx="293818" cy="13188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0FCC1648-E2F8-D953-AA82-D8D9266DDAB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898004" y="1591849"/>
                  <a:ext cx="293818" cy="13188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4480C68A-C218-FA62-0C49-6054E14F0D1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044913" y="2138828"/>
                  <a:ext cx="1223349" cy="537395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F5A7EFBF-AD18-28DC-204F-CC11E383C28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98617" y="1591849"/>
                  <a:ext cx="309725" cy="153811"/>
                </a:xfrm>
                <a:prstGeom prst="line">
                  <a:avLst/>
                </a:prstGeom>
                <a:ln>
                  <a:head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C5622A67-2B98-7A48-6A3E-615887AE18F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958537" y="1984670"/>
                  <a:ext cx="309725" cy="153811"/>
                </a:xfrm>
                <a:prstGeom prst="line">
                  <a:avLst/>
                </a:prstGeom>
                <a:ln>
                  <a:tail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34" name="TextBox 33">
                      <a:extLst>
                        <a:ext uri="{FF2B5EF4-FFF2-40B4-BE49-F238E27FC236}">
                          <a16:creationId xmlns:a16="http://schemas.microsoft.com/office/drawing/2014/main" id="{937430E5-87CD-F8BB-ACE7-0AF499D587E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419035" y="1651741"/>
                      <a:ext cx="65229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>
                <p:sp>
                  <p:nvSpPr>
                    <p:cNvPr id="34" name="TextBox 33">
                      <a:extLst>
                        <a:ext uri="{FF2B5EF4-FFF2-40B4-BE49-F238E27FC236}">
                          <a16:creationId xmlns:a16="http://schemas.microsoft.com/office/drawing/2014/main" id="{937430E5-87CD-F8BB-ACE7-0AF499D587E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419035" y="1651741"/>
                      <a:ext cx="652294" cy="369332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b="-185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F8E56EC-4DAE-A233-A567-801A0A00DB8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454520" y="3841676"/>
              <a:ext cx="2823028" cy="799829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ACD6042-6608-F163-2CCB-DF587AED4A1A}"/>
                  </a:ext>
                </a:extLst>
              </p:cNvPr>
              <p:cNvSpPr txBox="1"/>
              <p:nvPr/>
            </p:nvSpPr>
            <p:spPr>
              <a:xfrm>
                <a:off x="9607421" y="1337533"/>
                <a:ext cx="207749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ext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=500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rad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s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ACD6042-6608-F163-2CCB-DF587AED4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7421" y="1337533"/>
                <a:ext cx="2077496" cy="369332"/>
              </a:xfrm>
              <a:prstGeom prst="rect">
                <a:avLst/>
              </a:prstGeom>
              <a:blipFill>
                <a:blip r:embed="rId6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0FCC967-A8F7-2E77-E02D-1C8A30B2A43E}"/>
                  </a:ext>
                </a:extLst>
              </p:cNvPr>
              <p:cNvSpPr txBox="1"/>
              <p:nvPr/>
            </p:nvSpPr>
            <p:spPr>
              <a:xfrm>
                <a:off x="733941" y="1623972"/>
                <a:ext cx="544239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We consider the case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=0.0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lang="en-US" dirty="0"/>
                  <a:t>, where we hit the high-branch with stronger nonlinearity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0FCC967-A8F7-2E77-E02D-1C8A30B2A4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941" y="1623972"/>
                <a:ext cx="5442398" cy="646331"/>
              </a:xfrm>
              <a:prstGeom prst="rect">
                <a:avLst/>
              </a:prstGeom>
              <a:blipFill>
                <a:blip r:embed="rId7"/>
                <a:stretch>
                  <a:fillRect l="-896" t="-3774" b="-15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Oval 44">
            <a:extLst>
              <a:ext uri="{FF2B5EF4-FFF2-40B4-BE49-F238E27FC236}">
                <a16:creationId xmlns:a16="http://schemas.microsoft.com/office/drawing/2014/main" id="{CA3E98C1-AD5E-B3C2-8D3B-AE02E5B0B1F8}"/>
              </a:ext>
            </a:extLst>
          </p:cNvPr>
          <p:cNvSpPr/>
          <p:nvPr/>
        </p:nvSpPr>
        <p:spPr>
          <a:xfrm>
            <a:off x="3044651" y="2742491"/>
            <a:ext cx="532562" cy="197018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F6EA943-ED09-8F6D-355C-BDF8DCCDFC78}"/>
              </a:ext>
            </a:extLst>
          </p:cNvPr>
          <p:cNvCxnSpPr>
            <a:cxnSpLocks/>
            <a:stCxn id="45" idx="2"/>
            <a:endCxn id="6" idx="0"/>
          </p:cNvCxnSpPr>
          <p:nvPr/>
        </p:nvCxnSpPr>
        <p:spPr>
          <a:xfrm flipH="1">
            <a:off x="1705930" y="3727584"/>
            <a:ext cx="1338721" cy="9013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4EB90C26-115D-A776-1244-A3FEA7CF8376}"/>
              </a:ext>
            </a:extLst>
          </p:cNvPr>
          <p:cNvSpPr/>
          <p:nvPr/>
        </p:nvSpPr>
        <p:spPr>
          <a:xfrm>
            <a:off x="3980828" y="2702013"/>
            <a:ext cx="532562" cy="197018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8068EE1E-FB74-97D9-9126-0A62D7EA883A}"/>
              </a:ext>
            </a:extLst>
          </p:cNvPr>
          <p:cNvCxnSpPr>
            <a:cxnSpLocks/>
            <a:stCxn id="49" idx="5"/>
          </p:cNvCxnSpPr>
          <p:nvPr/>
        </p:nvCxnSpPr>
        <p:spPr>
          <a:xfrm>
            <a:off x="4435398" y="4383672"/>
            <a:ext cx="1309352" cy="125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0CEB31FD-EC6D-A2AF-9AD7-2F852A1C8F3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9897" y="4628951"/>
            <a:ext cx="2972066" cy="2229049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02D37A08-ABE2-B78D-35ED-3D56702FFEA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19013" y="4568999"/>
            <a:ext cx="2972066" cy="2229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7194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A7237-7D23-DB02-6B68-3BF91C262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B3AA4-691C-D985-A4F0-9433091FA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615" y="247017"/>
            <a:ext cx="10515600" cy="1325563"/>
          </a:xfrm>
        </p:spPr>
        <p:txBody>
          <a:bodyPr/>
          <a:lstStyle/>
          <a:p>
            <a:r>
              <a:rPr lang="en-US" altLang="zh-CN" dirty="0"/>
              <a:t>Concluding Remark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743CB47-C14E-18F9-4BA7-EA73C004C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3FD2-108E-45E4-951C-277CC0F0149D}" type="slidenum">
              <a:rPr lang="en-US" smtClean="0"/>
              <a:t>9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39D5C5-C7F2-C78E-7AD5-5583A92E5256}"/>
              </a:ext>
            </a:extLst>
          </p:cNvPr>
          <p:cNvSpPr txBox="1"/>
          <p:nvPr/>
        </p:nvSpPr>
        <p:spPr>
          <a:xfrm>
            <a:off x="847237" y="1905506"/>
            <a:ext cx="9533892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dirty="0"/>
              <a:t>We show that the ansatz in the previous ROM is the reason for the disparity between ROM and full beam simulation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dirty="0"/>
              <a:t>Specifically, previous ROM assumes that the beam is vibrating at its first bending mode, which leads to the error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dirty="0"/>
              <a:t>We found one way to improve the ROM. We can still use one DOF for the beam, but the beam-deflection takes the mode shape considering the piezoelectric patch.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dirty="0"/>
              <a:t>The updated ROM still cannot perfectly match the FEM simulations. However, the accuracy has been </a:t>
            </a:r>
            <a:r>
              <a:rPr lang="en-US"/>
              <a:t>much improved.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6018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31389</TotalTime>
  <Words>564</Words>
  <Application>Microsoft Office PowerPoint</Application>
  <PresentationFormat>Widescreen</PresentationFormat>
  <Paragraphs>73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DengXian</vt:lpstr>
      <vt:lpstr>Aptos</vt:lpstr>
      <vt:lpstr>Aptos Display</vt:lpstr>
      <vt:lpstr>Arial</vt:lpstr>
      <vt:lpstr>Cambria Math</vt:lpstr>
      <vt:lpstr>Wingdings</vt:lpstr>
      <vt:lpstr>Office Theme</vt:lpstr>
      <vt:lpstr>Update: Piezo-energy harvesting</vt:lpstr>
      <vt:lpstr>Previous problem</vt:lpstr>
      <vt:lpstr>ROM Ansatz</vt:lpstr>
      <vt:lpstr>Frequency comparison</vt:lpstr>
      <vt:lpstr>Frequency comparison</vt:lpstr>
      <vt:lpstr>Modification</vt:lpstr>
      <vt:lpstr>Updated Results</vt:lpstr>
      <vt:lpstr>Updated Results</vt:lpstr>
      <vt:lpstr>Concluding Remark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Wang, Chongan</dc:creator>
  <cp:lastModifiedBy>Wang, Chongan</cp:lastModifiedBy>
  <cp:revision>14</cp:revision>
  <dcterms:created xsi:type="dcterms:W3CDTF">2024-08-07T05:48:52Z</dcterms:created>
  <dcterms:modified xsi:type="dcterms:W3CDTF">2025-01-17T11:19:30Z</dcterms:modified>
</cp:coreProperties>
</file>