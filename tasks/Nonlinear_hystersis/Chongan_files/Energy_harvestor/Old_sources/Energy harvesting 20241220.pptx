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05" r:id="rId3"/>
    <p:sldId id="306" r:id="rId4"/>
    <p:sldId id="317" r:id="rId5"/>
    <p:sldId id="318" r:id="rId6"/>
    <p:sldId id="319" r:id="rId7"/>
    <p:sldId id="326" r:id="rId8"/>
    <p:sldId id="327" r:id="rId9"/>
    <p:sldId id="328" r:id="rId10"/>
    <p:sldId id="329" r:id="rId11"/>
    <p:sldId id="325" r:id="rId12"/>
    <p:sldId id="33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22983-65D5-450E-B313-12E3224DDE68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CF7D2-8AC6-413C-B08F-B46CAE9F34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18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CF7D2-8AC6-413C-B08F-B46CAE9F34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62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B473-11E5-D04D-DAFC-73F35F34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8E9C7-59E7-A6AC-F441-56ABEE09E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2B2BF-E2CE-C883-4C5E-9158E9062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17CA0-C8BD-1038-D1D3-929F5F5B6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CF7D2-8AC6-413C-B08F-B46CAE9F34E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06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5989A-A821-24BF-4E84-D4BA0049B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F516E-FF3C-5ADF-C8D5-DA2B022BB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74150-B0F0-6044-5082-22C8493FC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1E90F-1B2B-ED31-200E-1899281DC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CF7D2-8AC6-413C-B08F-B46CAE9F34E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39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206D-8CC8-D226-2185-B80C32AD5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96B9A-F9B0-3CB9-FFEC-010CFF5CC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7F90A-6499-A6D4-7C86-BFC6C9A1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10F58-50B1-B4AC-9B58-E021B5E6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FDAB-E970-E623-4F37-B185435F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6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CFAC-428E-5F63-E50C-CE876F0E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7AC36-5EEC-78B2-6AC2-E31E35AF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3DDEE-BD6A-85B8-B564-594C8DF4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97150-FFDC-317A-A5A1-595C8D43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D4145-DDEB-7163-77D3-1F073C5F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3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B1D7-1E0B-8D3F-5F92-BE8EA636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C2E51-3A4A-D68B-9C9A-C23E7F968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A867-AFFF-F620-0E9B-90EE7123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6F41-5263-A641-E762-AE999D65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E4C99-9501-7638-14EA-B96EBFDD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3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EF35-043F-EC1D-3101-683AD9B8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62D01-06EB-4271-CCC6-DB46BC56A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2D544-B885-38C9-8213-DCEE93FD7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0BA1E-F139-F06C-9FE5-6B0BDA69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C3344-3B1A-7879-83E2-BBA70DBB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7064E-4ED3-F306-CB4B-1B0611BA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47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DA8B-5D9F-E32E-CCCD-B50A662A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5FEE4-56B1-00DC-03DC-701373F64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48F5B-A032-E4CC-E548-11ACF5DBE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E84C1-B7E6-A981-6577-04E43BF33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F3C19-8530-19E0-505B-99832D91B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71AC8-9182-802D-25B6-DBCB75D9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D7F06-C4A7-51B8-788C-3AF839D5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16BBE7-8F2D-39F0-047B-4E6FC894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11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F036-4F68-080B-1C35-CD0C6463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C39440-8687-090B-9648-B92EE8553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DE667-201D-0D9A-082A-CB24A82A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844C8-4136-AB29-0BB2-FAD16EFA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09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E53CE-4E2D-4C2D-6564-B561D667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1563A8-5855-A512-742B-C6D2AE20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9B25D-05A8-63EA-FC42-7BD478F5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4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E865-335A-EDAA-00A0-A06C6455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7D51-8D19-D415-2C48-AC57682CB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ECDAC-1577-C68D-EF34-1DA74FB70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24AC9-C3A3-0095-1A72-45EF1896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7F24D-881D-D933-E03C-70DE0DB7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AA8E1-3CF0-BF02-C835-F9B24D81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9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6A35-DC9A-62D8-F8A1-05474AB5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C548B-CF5E-7044-3642-687F2B4B2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6BA9C-0AE3-349C-5722-75A559562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2958A-E3D6-8E4C-B127-6B238A0D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BAFF0-40B9-CF25-CDC5-0680180C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E1906-8242-B3B6-3ADA-91F3247A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2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E819-EBA9-8D07-2E65-41F989C0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CF636-C7F2-2960-DF28-BA683553C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B85C0-52CC-6CF1-0AA6-5FD691E6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693D1-2B2F-95BB-0258-B317E6C5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BE378-AC65-26C2-CFFF-12F8C0DC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5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4000D-51D9-698E-6FD0-527D70F82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8BE10-5192-90AD-C862-93C245B88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39F32-847C-4F6A-8EEE-D8B23FB2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6283B-7C59-4350-800E-2D64C9A7762D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3FCC6-A878-A3F9-6EFF-F7D940FD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D98CC-0396-0B30-C5EB-D81A0F76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4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DAC16-02B0-220E-3C43-7008D049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8D148-CDCF-225F-7DDF-774E91172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57D75-39FF-5186-2CA1-C1D0FEF68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6283B-7C59-4350-800E-2D64C9A7762D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C1D5-8C58-CD54-FE24-4B33B1821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137FE-FEA9-4181-09A7-CFE03F8E2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45DE4-0305-4D97-95BD-245A0DDE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1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65.png"/><Relationship Id="rId7" Type="http://schemas.openxmlformats.org/officeDocument/2006/relationships/image" Target="../media/image4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70.png"/><Relationship Id="rId4" Type="http://schemas.openxmlformats.org/officeDocument/2006/relationships/image" Target="../media/image3.emf"/><Relationship Id="rId9" Type="http://schemas.openxmlformats.org/officeDocument/2006/relationships/image" Target="../media/image6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9.png"/><Relationship Id="rId7" Type="http://schemas.openxmlformats.org/officeDocument/2006/relationships/image" Target="../media/image1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E5E0F0-D06E-8966-4394-D898EE18E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Update: Piezo-energy harvesting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26BC22-FBD1-FB20-A1DA-E2A168474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Chongan Wang</a:t>
            </a:r>
          </a:p>
          <a:p>
            <a:r>
              <a:rPr lang="en-US" dirty="0"/>
              <a:t>2024-12-20</a:t>
            </a:r>
          </a:p>
        </p:txBody>
      </p:sp>
    </p:spTree>
    <p:extLst>
      <p:ext uri="{BB962C8B-B14F-4D97-AF65-F5344CB8AC3E}">
        <p14:creationId xmlns:p14="http://schemas.microsoft.com/office/powerpoint/2010/main" val="384523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26663-2986-0723-FDFE-B5E4D0A67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E069-804C-78A2-6EC6-A7C3F7073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51CE3DD-00A4-96A0-5107-833EC2BA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250225-E91C-14DF-7768-D8798F71D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440" y="2747627"/>
            <a:ext cx="2060328" cy="32895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6F8FD96-2C9F-AE82-B9B9-3AD1E9DBA157}"/>
              </a:ext>
            </a:extLst>
          </p:cNvPr>
          <p:cNvGrpSpPr/>
          <p:nvPr/>
        </p:nvGrpSpPr>
        <p:grpSpPr>
          <a:xfrm>
            <a:off x="7886988" y="1792601"/>
            <a:ext cx="2839932" cy="4903851"/>
            <a:chOff x="7428330" y="1452499"/>
            <a:chExt cx="2839932" cy="490385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8E13497-C91C-C95A-A369-818C88793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8330" y="3066751"/>
              <a:ext cx="2060328" cy="3289599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7EE9325-4ECF-1A26-8B90-C6553438FC20}"/>
                </a:ext>
              </a:extLst>
            </p:cNvPr>
            <p:cNvGrpSpPr/>
            <p:nvPr/>
          </p:nvGrpSpPr>
          <p:grpSpPr>
            <a:xfrm>
              <a:off x="7748689" y="1452499"/>
              <a:ext cx="2519573" cy="1881611"/>
              <a:chOff x="7748689" y="1452499"/>
              <a:chExt cx="2519573" cy="188161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30B476D-E5B9-1952-6B2B-BA6A3DD49F35}"/>
                  </a:ext>
                </a:extLst>
              </p:cNvPr>
              <p:cNvCxnSpPr/>
              <p:nvPr/>
            </p:nvCxnSpPr>
            <p:spPr>
              <a:xfrm flipV="1">
                <a:off x="8032173" y="1690688"/>
                <a:ext cx="0" cy="16032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A149817-FC3F-48BF-4F9C-1FCE70A122C6}"/>
                  </a:ext>
                </a:extLst>
              </p:cNvPr>
              <p:cNvCxnSpPr/>
              <p:nvPr/>
            </p:nvCxnSpPr>
            <p:spPr>
              <a:xfrm flipV="1">
                <a:off x="8107725" y="1730880"/>
                <a:ext cx="0" cy="16032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20B4CDF-954D-3274-BC43-79597DF2C25D}"/>
                  </a:ext>
                </a:extLst>
              </p:cNvPr>
              <p:cNvCxnSpPr/>
              <p:nvPr/>
            </p:nvCxnSpPr>
            <p:spPr>
              <a:xfrm flipV="1">
                <a:off x="8904799" y="1513329"/>
                <a:ext cx="0" cy="16032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C078A5E-5F9C-C0C9-14F2-BBDD4D285F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32173" y="1460342"/>
                <a:ext cx="790280" cy="232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5C0A476-1398-823C-6E4A-E308C5B8C4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4519" y="1513329"/>
                <a:ext cx="790280" cy="232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DE10B5C-1678-A3AC-4FC3-A69982E01C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0408" y="1452499"/>
                <a:ext cx="104390" cy="608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6B5BEBA-081B-4384-CE96-0534F64DEF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1840" y="1693314"/>
                <a:ext cx="104390" cy="608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9133797-A759-325B-A9AD-F4A0F8E302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21840" y="3234849"/>
                <a:ext cx="104390" cy="608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1BBB4C9-F3C5-71F4-DB8E-7652D7519F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4518" y="3052148"/>
                <a:ext cx="790280" cy="23233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B337062-F4DB-8557-D66E-ADC6B34FF2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0600" y="2492303"/>
                <a:ext cx="434313" cy="1842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5665E364-C9A7-4693-F5CC-60049ED64D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8689" y="2173270"/>
                <a:ext cx="264980" cy="11242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3AA2DA87-B1C7-B92C-6471-9F359D7AA6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48689" y="2039629"/>
                <a:ext cx="293818" cy="1318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AE946DA-7BB4-0312-D87D-915163345D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98004" y="1591849"/>
                <a:ext cx="293818" cy="1318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CB88514-76EF-B578-3B3A-C8A5D675EC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44913" y="2138828"/>
                <a:ext cx="1223349" cy="5373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636A725-3961-2753-CE10-748ADE0A5C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98617" y="1591849"/>
                <a:ext cx="309725" cy="153811"/>
              </a:xfrm>
              <a:prstGeom prst="line">
                <a:avLst/>
              </a:prstGeom>
              <a:ln>
                <a:head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FA1D56D-D9ED-2411-AA55-0F2D736629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58537" y="1984670"/>
                <a:ext cx="309725" cy="153811"/>
              </a:xfrm>
              <a:prstGeom prst="line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CD387317-E3B7-F814-4913-093D34C32DB5}"/>
                      </a:ext>
                    </a:extLst>
                  </p:cNvPr>
                  <p:cNvSpPr txBox="1"/>
                  <p:nvPr/>
                </p:nvSpPr>
                <p:spPr>
                  <a:xfrm>
                    <a:off x="9419035" y="1651741"/>
                    <a:ext cx="65229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CD387317-E3B7-F814-4913-093D34C32D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19035" y="1651741"/>
                    <a:ext cx="65229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FB537D4-FAF1-A0E9-0AED-185653857D3B}"/>
              </a:ext>
            </a:extLst>
          </p:cNvPr>
          <p:cNvSpPr txBox="1"/>
          <p:nvPr/>
        </p:nvSpPr>
        <p:spPr>
          <a:xfrm>
            <a:off x="651606" y="6169580"/>
            <a:ext cx="3809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Previous work in Obaidullah’s paper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59AFF1-DC53-5209-4630-7DA9B5C48D71}"/>
              </a:ext>
            </a:extLst>
          </p:cNvPr>
          <p:cNvSpPr txBox="1"/>
          <p:nvPr/>
        </p:nvSpPr>
        <p:spPr>
          <a:xfrm>
            <a:off x="4358282" y="2760522"/>
            <a:ext cx="328936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We consider two piezoelectric patches</a:t>
            </a:r>
          </a:p>
          <a:p>
            <a:pPr>
              <a:spcAft>
                <a:spcPts val="1200"/>
              </a:spcAft>
            </a:pPr>
            <a:r>
              <a:rPr lang="en-US" dirty="0"/>
              <a:t>A voltage signal is applied on the piezoelectric patch near the tip</a:t>
            </a:r>
          </a:p>
          <a:p>
            <a:pPr>
              <a:spcAft>
                <a:spcPts val="1200"/>
              </a:spcAft>
            </a:pPr>
            <a:r>
              <a:rPr lang="en-US" dirty="0"/>
              <a:t>The piezoelectric patches near the base is shunted by the following nonlinear circuit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3407D47-915A-C755-6E41-3B346E2BC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090" y="1701349"/>
            <a:ext cx="2823028" cy="79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7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7784-0F26-01B0-6D16-B0F259DF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E35D-55CA-5738-5D0F-00807A308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07" y="179640"/>
            <a:ext cx="10515600" cy="1325563"/>
          </a:xfrm>
        </p:spPr>
        <p:txBody>
          <a:bodyPr/>
          <a:lstStyle/>
          <a:p>
            <a:r>
              <a:rPr lang="en-US" dirty="0"/>
              <a:t>Analytical Foundation – a Review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D24337F-F0B6-F0B6-2F6C-2953E53D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C6B1B4-E198-32DE-AD91-DA203BB71547}"/>
              </a:ext>
            </a:extLst>
          </p:cNvPr>
          <p:cNvGrpSpPr/>
          <p:nvPr/>
        </p:nvGrpSpPr>
        <p:grpSpPr>
          <a:xfrm>
            <a:off x="7625731" y="1690688"/>
            <a:ext cx="4390560" cy="4903851"/>
            <a:chOff x="7886988" y="1792601"/>
            <a:chExt cx="4390560" cy="490385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144FFB4-35D8-13FB-EE93-41D7A9854CBA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F31F6474-2BBE-B5B1-E4DB-295A07A234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D1D3BE6-0733-D497-5A6F-D16E8846037E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2C849AB0-CDA1-3685-4F21-82E067C63D59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643DD884-B367-5509-3EF4-C8648D3056B3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3791194F-76BF-FBEC-1032-0BEC960664BA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DE89DB06-DB8F-F02A-0EFF-1EC0D92D94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CACB98B-AA89-8FE4-E179-DD4386EA40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523A1172-C5A0-459B-C650-DEAA0C1BE6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C79BAF5-03F5-4956-B0C8-8769EB59B8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AFD6FBC-161B-A572-0606-AB31E7B11A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855CA9DE-9BEB-818D-A776-0A5A527A4D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B9E418B5-972D-CE74-73E6-CCAE341D84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2F01DF3-3121-C62C-F5AC-9EB2A50E8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34C12270-0B61-6EC6-8D75-0DF4E9804B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FC540EA-C45E-9185-2665-8CE491F72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4D72E2E-E04D-ABF0-DA42-D29B838AB0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0509CAE-8F8A-FBA0-8203-7A293D5C27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13CE0584-0EDD-7C2B-34D6-9510664E6F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CB9A5D6-3232-101B-99BD-1A68F774F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795BE9-40DF-C9B3-DABF-3B1A2AFC43E7}"/>
                  </a:ext>
                </a:extLst>
              </p:cNvPr>
              <p:cNvSpPr txBox="1"/>
              <p:nvPr/>
            </p:nvSpPr>
            <p:spPr>
              <a:xfrm>
                <a:off x="333518" y="1906943"/>
                <a:ext cx="7785847" cy="650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𝑌𝐼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795BE9-40DF-C9B3-DABF-3B1A2AFC4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18" y="1906943"/>
                <a:ext cx="7785847" cy="6505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6B83B7-5AE7-3595-4F8A-1632138DD098}"/>
                  </a:ext>
                </a:extLst>
              </p:cNvPr>
              <p:cNvSpPr txBox="1"/>
              <p:nvPr/>
            </p:nvSpPr>
            <p:spPr>
              <a:xfrm>
                <a:off x="2657063" y="1320500"/>
                <a:ext cx="2700493" cy="586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6B83B7-5AE7-3595-4F8A-1632138DD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063" y="1320500"/>
                <a:ext cx="2700493" cy="586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8A7A75C-F221-37AC-D7A9-3C45E09636EA}"/>
              </a:ext>
            </a:extLst>
          </p:cNvPr>
          <p:cNvSpPr txBox="1"/>
          <p:nvPr/>
        </p:nvSpPr>
        <p:spPr>
          <a:xfrm>
            <a:off x="704033" y="1494385"/>
            <a:ext cx="2471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Governing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B2D92-E307-3A81-28B9-64F01A8663F6}"/>
                  </a:ext>
                </a:extLst>
              </p:cNvPr>
              <p:cNvSpPr txBox="1"/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1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BB2D92-E307-3A81-28B9-64F01A866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946" y="3018862"/>
                <a:ext cx="1195397" cy="6164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CE7383-7180-B7CE-1ABF-86469CC628FB}"/>
                  </a:ext>
                </a:extLst>
              </p:cNvPr>
              <p:cNvSpPr txBox="1"/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CE7383-7180-B7CE-1ABF-86469CC62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836" y="1358683"/>
                <a:ext cx="119539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1CAC02-0F9A-942D-276F-14A8E7B8DC9A}"/>
                  </a:ext>
                </a:extLst>
              </p:cNvPr>
              <p:cNvSpPr txBox="1"/>
              <p:nvPr/>
            </p:nvSpPr>
            <p:spPr>
              <a:xfrm>
                <a:off x="708213" y="2770684"/>
                <a:ext cx="6847462" cy="698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subSup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6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𝜗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1CAC02-0F9A-942D-276F-14A8E7B8D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13" y="2770684"/>
                <a:ext cx="6847462" cy="6988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05AC88-8EF6-D1BD-674A-6C0E22FEA7AD}"/>
                  </a:ext>
                </a:extLst>
              </p:cNvPr>
              <p:cNvSpPr txBox="1"/>
              <p:nvPr/>
            </p:nvSpPr>
            <p:spPr>
              <a:xfrm>
                <a:off x="954034" y="4497426"/>
                <a:ext cx="609600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05AC88-8EF6-D1BD-674A-6C0E22FEA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034" y="4497426"/>
                <a:ext cx="6096000" cy="16551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C89ACEA-1845-FF76-8432-B480CD65ACD4}"/>
              </a:ext>
            </a:extLst>
          </p:cNvPr>
          <p:cNvSpPr txBox="1"/>
          <p:nvPr/>
        </p:nvSpPr>
        <p:spPr>
          <a:xfrm>
            <a:off x="2657063" y="4170260"/>
            <a:ext cx="1904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Normalized ROM</a:t>
            </a:r>
          </a:p>
        </p:txBody>
      </p:sp>
    </p:spTree>
    <p:extLst>
      <p:ext uri="{BB962C8B-B14F-4D97-AF65-F5344CB8AC3E}">
        <p14:creationId xmlns:p14="http://schemas.microsoft.com/office/powerpoint/2010/main" val="3602851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D724-7C57-A832-4FC6-DF2401459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5EFD7-DFF9-B1E2-0751-F3FF1255B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Hystere</a:t>
            </a:r>
            <a:r>
              <a:rPr lang="en-US" altLang="zh-CN" dirty="0"/>
              <a:t>sis Loop and Responses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8EF9EE-1089-4760-8B31-C81B39D42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C3805D-389E-2B6C-EFB3-26F5B46FAD81}"/>
                  </a:ext>
                </a:extLst>
              </p:cNvPr>
              <p:cNvSpPr txBox="1"/>
              <p:nvPr/>
            </p:nvSpPr>
            <p:spPr>
              <a:xfrm>
                <a:off x="5781040" y="1414202"/>
                <a:ext cx="5659120" cy="1655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 kern="1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𝜁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kern="1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Θ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C3805D-389E-2B6C-EFB3-26F5B46FA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040" y="1414202"/>
                <a:ext cx="5659120" cy="16551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BFD10F-7119-4E76-765C-0E5780E07C35}"/>
                  </a:ext>
                </a:extLst>
              </p:cNvPr>
              <p:cNvSpPr txBox="1"/>
              <p:nvPr/>
            </p:nvSpPr>
            <p:spPr>
              <a:xfrm>
                <a:off x="3920716" y="1668390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BFD10F-7119-4E76-765C-0E5780E07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716" y="1668390"/>
                <a:ext cx="1764931" cy="369332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9E544BF-13A8-938E-6693-5504184A1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81" y="1426569"/>
            <a:ext cx="3191934" cy="239395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A25EDF-90DB-EFDD-BE42-B588541F8104}"/>
              </a:ext>
            </a:extLst>
          </p:cNvPr>
          <p:cNvCxnSpPr/>
          <p:nvPr/>
        </p:nvCxnSpPr>
        <p:spPr>
          <a:xfrm flipV="1">
            <a:off x="2964586" y="1635700"/>
            <a:ext cx="0" cy="18944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B69A63-1B7E-0CB5-D095-F90AED3B36DE}"/>
                  </a:ext>
                </a:extLst>
              </p:cNvPr>
              <p:cNvSpPr txBox="1"/>
              <p:nvPr/>
            </p:nvSpPr>
            <p:spPr>
              <a:xfrm>
                <a:off x="3920715" y="2126624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=−0.0146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B69A63-1B7E-0CB5-D095-F90AED3B3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715" y="2126624"/>
                <a:ext cx="176493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4B6CA3-4127-A7D0-C690-BA6AA5D77F3C}"/>
                  </a:ext>
                </a:extLst>
              </p:cNvPr>
              <p:cNvSpPr txBox="1"/>
              <p:nvPr/>
            </p:nvSpPr>
            <p:spPr>
              <a:xfrm>
                <a:off x="6096000" y="3275962"/>
                <a:ext cx="4876675" cy="5127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kern="1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Plot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  <m:sSup>
                          <m:sSup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f>
                              <m:f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f>
                          <m:fPr>
                            <m:ctrlPr>
                              <a:rPr lang="en-US" i="1" kern="1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 kern="1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b="0" i="1" kern="10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1800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versus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4B6CA3-4127-A7D0-C690-BA6AA5D77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75962"/>
                <a:ext cx="4876675" cy="512704"/>
              </a:xfrm>
              <a:prstGeom prst="rect">
                <a:avLst/>
              </a:prstGeom>
              <a:blipFill>
                <a:blip r:embed="rId6"/>
                <a:stretch>
                  <a:fillRect l="-1000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77B1DE2-4ADB-9ED5-D64C-6645A22486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845" y="3851785"/>
            <a:ext cx="3980911" cy="29856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9DD00D-84EE-0B7E-B62E-41649FF230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3179" y="4031528"/>
            <a:ext cx="3501594" cy="262619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C0851E6-4C75-6DA2-D9D6-B931BACFD10F}"/>
              </a:ext>
            </a:extLst>
          </p:cNvPr>
          <p:cNvCxnSpPr/>
          <p:nvPr/>
        </p:nvCxnSpPr>
        <p:spPr>
          <a:xfrm flipV="1">
            <a:off x="3614826" y="1635699"/>
            <a:ext cx="0" cy="189440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F65050-D64C-5230-B480-C7C7C3796B33}"/>
              </a:ext>
            </a:extLst>
          </p:cNvPr>
          <p:cNvCxnSpPr/>
          <p:nvPr/>
        </p:nvCxnSpPr>
        <p:spPr>
          <a:xfrm flipV="1">
            <a:off x="2324748" y="1627109"/>
            <a:ext cx="0" cy="189440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F8B9D9-72EF-9163-0633-A6E9118399AB}"/>
                  </a:ext>
                </a:extLst>
              </p:cNvPr>
              <p:cNvSpPr txBox="1"/>
              <p:nvPr/>
            </p:nvSpPr>
            <p:spPr>
              <a:xfrm>
                <a:off x="3920714" y="2619872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F8B9D9-72EF-9163-0633-A6E911839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714" y="2619872"/>
                <a:ext cx="176493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41AD5D-5595-DF90-588D-92E902D3E5D2}"/>
                  </a:ext>
                </a:extLst>
              </p:cNvPr>
              <p:cNvSpPr txBox="1"/>
              <p:nvPr/>
            </p:nvSpPr>
            <p:spPr>
              <a:xfrm>
                <a:off x="3918431" y="3050000"/>
                <a:ext cx="1764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=0.0052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41AD5D-5595-DF90-588D-92E902D3E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431" y="3050000"/>
                <a:ext cx="176493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213DE43-22BA-108D-B8A1-B35696DC4208}"/>
              </a:ext>
            </a:extLst>
          </p:cNvPr>
          <p:cNvSpPr txBox="1"/>
          <p:nvPr/>
        </p:nvSpPr>
        <p:spPr>
          <a:xfrm>
            <a:off x="8418786" y="4236520"/>
            <a:ext cx="3273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simulations in </a:t>
            </a:r>
            <a:r>
              <a:rPr lang="en-US" dirty="0">
                <a:solidFill>
                  <a:srgbClr val="FF0000"/>
                </a:solidFill>
              </a:rPr>
              <a:t>ROM</a:t>
            </a:r>
            <a:r>
              <a:rPr lang="en-US" dirty="0"/>
              <a:t> reveal that we can excite the higher order branch </a:t>
            </a:r>
          </a:p>
        </p:txBody>
      </p:sp>
    </p:spTree>
    <p:extLst>
      <p:ext uri="{BB962C8B-B14F-4D97-AF65-F5344CB8AC3E}">
        <p14:creationId xmlns:p14="http://schemas.microsoft.com/office/powerpoint/2010/main" val="1562885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A7237-7D23-DB02-6B68-3BF91C262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3AA4-691C-D985-A4F0-9433091F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Further Discussion in the Previous Meeting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743CB47-C14E-18F9-4BA7-EA73C004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9D5C5-C7F2-C78E-7AD5-5583A92E5256}"/>
              </a:ext>
            </a:extLst>
          </p:cNvPr>
          <p:cNvSpPr txBox="1"/>
          <p:nvPr/>
        </p:nvSpPr>
        <p:spPr>
          <a:xfrm>
            <a:off x="847237" y="1905506"/>
            <a:ext cx="841734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Can we increase the modulation frequency of the excitation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Robustness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Random source of ambient vibration (future prospect)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393F4-C308-E2BD-1849-F224ECBB61B4}"/>
              </a:ext>
            </a:extLst>
          </p:cNvPr>
          <p:cNvSpPr txBox="1"/>
          <p:nvPr/>
        </p:nvSpPr>
        <p:spPr>
          <a:xfrm>
            <a:off x="838200" y="3740249"/>
            <a:ext cx="9999439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In these slides, I will show some FEM simulation results of the beam harvester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These results can confirm our ROM, or illustrate what’s missing in the ROM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Further numerical analysis should rely on the full </a:t>
            </a:r>
            <a:r>
              <a:rPr lang="en-US" sz="2400" dirty="0" err="1"/>
              <a:t>elastodynamics</a:t>
            </a:r>
            <a:r>
              <a:rPr lang="en-US" sz="2400" dirty="0"/>
              <a:t> simulation, not the ROM</a:t>
            </a:r>
          </a:p>
        </p:txBody>
      </p:sp>
    </p:spTree>
    <p:extLst>
      <p:ext uri="{BB962C8B-B14F-4D97-AF65-F5344CB8AC3E}">
        <p14:creationId xmlns:p14="http://schemas.microsoft.com/office/powerpoint/2010/main" val="370601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4A822-75E3-FC63-A36E-304B60300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88D5-E4F6-4DD0-3363-6E295984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FEM Discretization and integration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9041E4D-384C-E20A-EAE7-C0AE95F5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6F47D0-A425-D19C-0CE3-58C8E381C9BC}"/>
              </a:ext>
            </a:extLst>
          </p:cNvPr>
          <p:cNvGrpSpPr/>
          <p:nvPr/>
        </p:nvGrpSpPr>
        <p:grpSpPr>
          <a:xfrm>
            <a:off x="7625731" y="1690688"/>
            <a:ext cx="4390560" cy="4903851"/>
            <a:chOff x="7886988" y="1792601"/>
            <a:chExt cx="4390560" cy="490385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B6675F0-2916-5C56-34A4-FFB40C093488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FE20A12-E4BE-0920-0F48-7B4D46293E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AB37403-3A9B-08FF-A1BC-8DE08C5FB33D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E8AD0DD8-3144-379F-8258-7B5074C2A7F9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AD063FC0-A0D6-EF4E-780A-D237B2B8E755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83DC7995-F5BE-9F4E-8026-E30B9DBBD681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84BB94E1-A1D8-D2E2-91BA-852B43420D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67BC3755-E42B-D761-B36A-014ED5C6A6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1BFD9B0B-DDDE-9731-D5CF-FF3BB55095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B02EC1B9-2609-CDAE-19CE-B92A7BE97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C2A01E9-3B40-2436-4FED-ABA15C03FE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825F76C7-1F2D-2C27-B70F-A36CC3FD91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5BF7574-2589-A3D5-4E06-F82A0E4366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701182A-7BC8-D38C-C5A6-E26E747A57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9A605A15-79BE-101E-B1A7-4FB435A2B8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43B249CF-4604-B360-7748-B88CA4B5AA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B1F403B4-885A-20AE-D52F-A90D7DCB69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363A6A5E-6ED8-24E0-ADBA-62AFE75D0D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DD096F2-B77F-9544-E433-3A31B98813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E92CE156-BED4-8368-3546-CFC2346D99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FA8D116-32E9-DB28-211F-4A6740547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11BAB20-5770-8EB7-F21A-032971491337}"/>
                  </a:ext>
                </a:extLst>
              </p:cNvPr>
              <p:cNvSpPr txBox="1"/>
              <p:nvPr/>
            </p:nvSpPr>
            <p:spPr>
              <a:xfrm>
                <a:off x="333518" y="1906943"/>
                <a:ext cx="7785847" cy="650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𝑌𝐼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𝜗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11BAB20-5770-8EB7-F21A-032971491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18" y="1906943"/>
                <a:ext cx="7785847" cy="6505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8788D94-9427-FB42-F241-A41F533B202B}"/>
                  </a:ext>
                </a:extLst>
              </p:cNvPr>
              <p:cNvSpPr txBox="1"/>
              <p:nvPr/>
            </p:nvSpPr>
            <p:spPr>
              <a:xfrm>
                <a:off x="2657063" y="1320500"/>
                <a:ext cx="2700493" cy="586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8788D94-9427-FB42-F241-A41F533B2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063" y="1320500"/>
                <a:ext cx="2700493" cy="586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006529FA-0805-E1A8-4218-E02E3BD9204C}"/>
              </a:ext>
            </a:extLst>
          </p:cNvPr>
          <p:cNvSpPr txBox="1"/>
          <p:nvPr/>
        </p:nvSpPr>
        <p:spPr>
          <a:xfrm>
            <a:off x="704033" y="1494385"/>
            <a:ext cx="2471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Governing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6F5AB40-422A-392B-B9C7-A3CD80C5BCB6}"/>
                  </a:ext>
                </a:extLst>
              </p:cNvPr>
              <p:cNvSpPr txBox="1"/>
              <p:nvPr/>
            </p:nvSpPr>
            <p:spPr>
              <a:xfrm>
                <a:off x="708213" y="2770684"/>
                <a:ext cx="6847462" cy="698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limLoc m:val="subSup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6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𝜗</m:t>
                      </m:r>
                      <m:nary>
                        <m:naryPr>
                          <m:limLoc m:val="subSup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f>
                            <m:fPr>
                              <m:ctrlPr>
                                <a:rPr 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num>
                            <m:den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6F5AB40-422A-392B-B9C7-A3CD80C5B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13" y="2770684"/>
                <a:ext cx="6847462" cy="6988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5A3C5AF4-21B6-6D80-6A4D-11008EDBB8E3}"/>
              </a:ext>
            </a:extLst>
          </p:cNvPr>
          <p:cNvSpPr txBox="1"/>
          <p:nvPr/>
        </p:nvSpPr>
        <p:spPr>
          <a:xfrm>
            <a:off x="704032" y="3864468"/>
            <a:ext cx="5518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discretize the beam with 40 beam elements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14D855-3409-BD07-7418-49F911A0AE06}"/>
              </a:ext>
            </a:extLst>
          </p:cNvPr>
          <p:cNvSpPr txBox="1"/>
          <p:nvPr/>
        </p:nvSpPr>
        <p:spPr>
          <a:xfrm>
            <a:off x="704031" y="4389526"/>
            <a:ext cx="5518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Resulting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2AC68E-BA74-5304-7A54-97A762BEB59A}"/>
                  </a:ext>
                </a:extLst>
              </p:cNvPr>
              <p:cNvSpPr txBox="1"/>
              <p:nvPr/>
            </p:nvSpPr>
            <p:spPr>
              <a:xfrm>
                <a:off x="1207200" y="4758065"/>
                <a:ext cx="45117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d>
                      <m:acc>
                        <m:accPr>
                          <m:chr m:val="̈"/>
                          <m:ctrlPr>
                            <a:rPr lang="en-US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acc>
                        <m:accPr>
                          <m:chr m:val="̇"/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𝑛𝑙</m:t>
                          </m:r>
                        </m:sub>
                      </m:sSub>
                      <m:d>
                        <m:dPr>
                          <m:ctrlPr>
                            <a:rPr lang="en-U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2AC68E-BA74-5304-7A54-97A762BEB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200" y="4758065"/>
                <a:ext cx="4511751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0F09A1B5-0BA3-0D80-2530-5F8B9B3748FC}"/>
              </a:ext>
            </a:extLst>
          </p:cNvPr>
          <p:cNvSpPr txBox="1"/>
          <p:nvPr/>
        </p:nvSpPr>
        <p:spPr>
          <a:xfrm>
            <a:off x="704031" y="5153796"/>
            <a:ext cx="5518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Integration scheme: Newmark-beta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7790D2-B075-6272-0BFE-A31C1D700E45}"/>
              </a:ext>
            </a:extLst>
          </p:cNvPr>
          <p:cNvSpPr txBox="1"/>
          <p:nvPr/>
        </p:nvSpPr>
        <p:spPr>
          <a:xfrm>
            <a:off x="704031" y="5594836"/>
            <a:ext cx="5518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At each step, the Newton-</a:t>
            </a:r>
            <a:r>
              <a:rPr lang="en-US" dirty="0" err="1"/>
              <a:t>Ralphson</a:t>
            </a:r>
            <a:r>
              <a:rPr lang="en-US" dirty="0"/>
              <a:t> method is used to solve the resulting nonlinear algebraic equation</a:t>
            </a:r>
          </a:p>
        </p:txBody>
      </p:sp>
    </p:spTree>
    <p:extLst>
      <p:ext uri="{BB962C8B-B14F-4D97-AF65-F5344CB8AC3E}">
        <p14:creationId xmlns:p14="http://schemas.microsoft.com/office/powerpoint/2010/main" val="257925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5E2AA-623A-25DE-F5BA-939927C7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2CE7-BDCD-B549-0F4B-3CF571CE6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2ABC738-A8D9-FD8E-83FB-274BE033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2D0C30-1CB5-FEAE-ACC3-DDDF4F35C5E3}"/>
              </a:ext>
            </a:extLst>
          </p:cNvPr>
          <p:cNvGrpSpPr/>
          <p:nvPr/>
        </p:nvGrpSpPr>
        <p:grpSpPr>
          <a:xfrm>
            <a:off x="7583689" y="1452499"/>
            <a:ext cx="4390560" cy="4903851"/>
            <a:chOff x="7886988" y="1792601"/>
            <a:chExt cx="4390560" cy="490385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9640935-9558-89CD-3BC7-57A0BF40E1F6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277C0CB0-8647-7429-F40C-22F26C784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9BD3C12-E08A-892C-9D93-B857DD712221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6A4D1167-089B-F07D-1710-E54CB4B8F2F2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A6A2C76C-5807-DD0A-BA5F-424CEDB1C58B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22DECEF-3B41-4BA6-B9E3-C8E227711FC0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75591A24-07AD-0678-41CE-164FFF1E27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FF360AB8-B9D9-3018-4170-68CCA5C42D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3865094A-A75F-DF5F-5168-29B0009D8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BBAF115A-0930-40F1-4159-8675DEF63B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90387FED-A0E2-1C18-9C52-A0105FC098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C32800B5-3A34-28CA-5194-AA88937AC6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E155DB43-36A8-307F-94B6-574F4F013C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199B90F7-D879-1E8A-3043-953C353B7F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9B7EBCD3-CBBE-4AF5-218A-754D4C7EB5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9F36357E-9A41-B958-6C72-0ACCDB8E45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4F6C139E-37B2-BFCD-C765-874FEF7887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44A69659-BF60-862B-4BEB-BDF9EDC1DD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2AC31C1E-8170-8E86-3009-683D7E850B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5BEDE2E2-9513-F269-89F1-EBFB8900FCD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46A12B31-0598-5E01-E077-481F183E5FB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287BAE0-198F-9538-72C9-014D0CBB4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3F8517A-B9ED-9142-FEA8-606398DDED7D}"/>
                  </a:ext>
                </a:extLst>
              </p:cNvPr>
              <p:cNvSpPr txBox="1"/>
              <p:nvPr/>
            </p:nvSpPr>
            <p:spPr>
              <a:xfrm>
                <a:off x="6923732" y="618087"/>
                <a:ext cx="48468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3F8517A-B9ED-9142-FEA8-606398DDE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732" y="618087"/>
                <a:ext cx="48468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" name="Picture 57">
            <a:extLst>
              <a:ext uri="{FF2B5EF4-FFF2-40B4-BE49-F238E27FC236}">
                <a16:creationId xmlns:a16="http://schemas.microsoft.com/office/drawing/2014/main" id="{39BA0191-CE5B-5936-14FC-F518C03735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731" y="1783301"/>
            <a:ext cx="6981092" cy="48276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C8C187-6EDE-C05F-9A68-C953F62E07C7}"/>
                  </a:ext>
                </a:extLst>
              </p:cNvPr>
              <p:cNvSpPr txBox="1"/>
              <p:nvPr/>
            </p:nvSpPr>
            <p:spPr>
              <a:xfrm>
                <a:off x="252338" y="3030696"/>
                <a:ext cx="13773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=185/2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C8C187-6EDE-C05F-9A68-C953F62E0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38" y="3030696"/>
                <a:ext cx="1377365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B7931F0-A1FE-CFAB-9C8A-B8C5A01D8532}"/>
                  </a:ext>
                </a:extLst>
              </p:cNvPr>
              <p:cNvSpPr txBox="1"/>
              <p:nvPr/>
            </p:nvSpPr>
            <p:spPr>
              <a:xfrm>
                <a:off x="9801030" y="5190378"/>
                <a:ext cx="217321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=108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=2.94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Wb</m:t>
                          </m:r>
                        </m:e>
                        <m:sup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B7931F0-A1FE-CFAB-9C8A-B8C5A01D8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1030" y="5190378"/>
                <a:ext cx="2173219" cy="923330"/>
              </a:xfrm>
              <a:prstGeom prst="rect">
                <a:avLst/>
              </a:prstGeom>
              <a:blipFill>
                <a:blip r:embed="rId8"/>
                <a:stretch>
                  <a:fillRect b="-4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6D987F7F-9C85-14DB-4A99-47BF7FF7F062}"/>
              </a:ext>
            </a:extLst>
          </p:cNvPr>
          <p:cNvSpPr txBox="1"/>
          <p:nvPr/>
        </p:nvSpPr>
        <p:spPr>
          <a:xfrm>
            <a:off x="1629703" y="1222517"/>
            <a:ext cx="4781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consider previous simulation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2716309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BF969-DA0C-521A-CD9F-54300D402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A4A88-4853-4921-CF0C-BE2BC770E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81897C-1B43-99F8-0692-B6AF3ECB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523D1D2-2758-27E0-6FC5-9C6C2D4A0A39}"/>
              </a:ext>
            </a:extLst>
          </p:cNvPr>
          <p:cNvGrpSpPr/>
          <p:nvPr/>
        </p:nvGrpSpPr>
        <p:grpSpPr>
          <a:xfrm>
            <a:off x="7583689" y="1452499"/>
            <a:ext cx="4390560" cy="4903851"/>
            <a:chOff x="7886988" y="1792601"/>
            <a:chExt cx="4390560" cy="490385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43BA596-00A6-8519-0F7E-A51F8CF2DDBF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5B03EFC-EFFA-CB76-72CC-15FAAC9BCA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599153EF-4820-C38E-4994-7FF79906E870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AC3CEA0-4ED9-AD85-7CB0-6185C4723E45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C85D20F1-8B63-B1A9-2210-20E94F680506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09EA24D9-0447-30AE-A3B8-A0886B152DF3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5F37EAF8-BA24-7743-F7E3-96A861D839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063DD2B6-BEC0-0920-82ED-DF421FDEFE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09909597-6BD7-6932-DF16-A7FF0670EB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9CF0DCFB-76D9-3F83-5838-56B0C9A03B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CEDD5BEB-5E73-3231-CF22-4BFA9362F5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45371C3A-AE11-6417-43A7-8AD1F01C64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716DF79B-A81B-4223-D9DF-DEC5B2E6B8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DE8E0927-733D-0608-CD38-89326F9777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E8AE0AC6-6569-0575-8271-AC9647C611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AEF2A8D7-237A-CBD4-5EAE-8FBFB69DD8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8DD757DE-D24C-4DBD-FF93-499C18ACFB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65860096-0C8A-9347-606E-8C8D3E10C4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031B3B33-FCA4-5514-7F64-6F6D2F802A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9136EE99-9C4F-4018-6753-876F9D82304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9136EE99-9C4F-4018-6753-876F9D82304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ABADE76-410B-34E8-9CB3-43BF45031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0B007FE-222D-B8A8-5804-33F998D65FF2}"/>
                  </a:ext>
                </a:extLst>
              </p:cNvPr>
              <p:cNvSpPr txBox="1"/>
              <p:nvPr/>
            </p:nvSpPr>
            <p:spPr>
              <a:xfrm>
                <a:off x="6923732" y="618087"/>
                <a:ext cx="48468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0B007FE-222D-B8A8-5804-33F998D65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732" y="618087"/>
                <a:ext cx="48468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7946F79-5A15-950E-D210-4ECF90485444}"/>
                  </a:ext>
                </a:extLst>
              </p:cNvPr>
              <p:cNvSpPr txBox="1"/>
              <p:nvPr/>
            </p:nvSpPr>
            <p:spPr>
              <a:xfrm>
                <a:off x="9801030" y="5190378"/>
                <a:ext cx="217321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=108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=2.94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Wb</m:t>
                          </m:r>
                        </m:e>
                        <m:sup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7946F79-5A15-950E-D210-4ECF90485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1030" y="5190378"/>
                <a:ext cx="2173219" cy="923330"/>
              </a:xfrm>
              <a:prstGeom prst="rect">
                <a:avLst/>
              </a:prstGeom>
              <a:blipFill>
                <a:blip r:embed="rId6"/>
                <a:stretch>
                  <a:fillRect b="-4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A7A7453-E232-D23F-C840-25D07A7D11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6099" y="302228"/>
            <a:ext cx="4984749" cy="37385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58C2E9-A1BF-20CA-ADD3-56BF28B3B0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958" y="4115289"/>
            <a:ext cx="3413235" cy="255992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D1BC620-E0F0-1F27-6A4E-C891A379CA3D}"/>
              </a:ext>
            </a:extLst>
          </p:cNvPr>
          <p:cNvSpPr/>
          <p:nvPr/>
        </p:nvSpPr>
        <p:spPr>
          <a:xfrm>
            <a:off x="3100552" y="1408611"/>
            <a:ext cx="301457" cy="122492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3C3829-AC3B-7365-CCFF-21E0ADFAC457}"/>
              </a:ext>
            </a:extLst>
          </p:cNvPr>
          <p:cNvCxnSpPr>
            <a:cxnSpLocks/>
            <a:stCxn id="8" idx="4"/>
          </p:cNvCxnSpPr>
          <p:nvPr/>
        </p:nvCxnSpPr>
        <p:spPr>
          <a:xfrm flipH="1">
            <a:off x="2303479" y="2633534"/>
            <a:ext cx="947802" cy="1267954"/>
          </a:xfrm>
          <a:prstGeom prst="straightConnector1">
            <a:avLst/>
          </a:prstGeom>
          <a:ln>
            <a:solidFill>
              <a:srgbClr val="FFC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A7C20D5-D265-6936-CBC6-44A73AA44314}"/>
              </a:ext>
            </a:extLst>
          </p:cNvPr>
          <p:cNvSpPr txBox="1"/>
          <p:nvPr/>
        </p:nvSpPr>
        <p:spPr>
          <a:xfrm>
            <a:off x="3896752" y="4636380"/>
            <a:ext cx="30269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ROM reveals that we should hit the higher branch, however we are actually hitting the lower branch from FEM</a:t>
            </a:r>
          </a:p>
        </p:txBody>
      </p:sp>
    </p:spTree>
    <p:extLst>
      <p:ext uri="{BB962C8B-B14F-4D97-AF65-F5344CB8AC3E}">
        <p14:creationId xmlns:p14="http://schemas.microsoft.com/office/powerpoint/2010/main" val="2569427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AAF65-7C56-26AD-896D-F8DC8F04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0AC24-7513-703D-7588-31336D197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CE53BD5-584A-BB23-FE75-EBB0B885F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926A5E-E53F-94A2-744B-E187748329E1}"/>
              </a:ext>
            </a:extLst>
          </p:cNvPr>
          <p:cNvGrpSpPr/>
          <p:nvPr/>
        </p:nvGrpSpPr>
        <p:grpSpPr>
          <a:xfrm>
            <a:off x="7583689" y="1452499"/>
            <a:ext cx="4390560" cy="4903851"/>
            <a:chOff x="7886988" y="1792601"/>
            <a:chExt cx="4390560" cy="490385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DA86DF1-58C3-A36E-227D-DE8B30A08D11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CBAD156B-9F9D-5A46-EE66-1664E0DB5A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FE7C417-5C75-7B04-1860-3F9C54318C18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0021068-F12F-93E8-239B-88346D19341F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E0B82DB-6925-D46F-628D-72248F8C4004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94111C1C-F90C-0946-9F9B-A866CDABA721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7366ABB-A967-0205-AE65-08B673B57F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693676C-E517-C113-1F1B-D4B92146D3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32B5094C-712A-F6D0-242B-304C06749E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61564FB0-1305-9F76-8E89-C6C4946F8E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CAFDF4A6-5864-C05B-144F-012F23C4EA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5CC6AEBD-0ABF-9987-B72B-5EE511EB0A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05A195C2-4E00-E7EE-1AF8-89C693E979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BF218AC0-6EE1-1431-A7D4-709809BCB7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D601903B-E658-8BAC-0797-8C7CE9A72D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29788CF7-7AEB-D8C2-B328-0B032B52BC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3623F994-DF2F-673C-3789-D4B6225018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C0A55FF6-6A1F-D1F5-5ADA-2F7B6E983B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33371B3E-6016-0C60-3CEA-178946CF9F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54AEFB3B-D250-CDBE-BDAE-63A083E601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54AEFB3B-D250-CDBE-BDAE-63A083E6014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1A899CC-CF54-D31D-359C-5E1642D71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7BB0DB5-B8D8-A274-37B6-56307BEEAD89}"/>
                  </a:ext>
                </a:extLst>
              </p:cNvPr>
              <p:cNvSpPr txBox="1"/>
              <p:nvPr/>
            </p:nvSpPr>
            <p:spPr>
              <a:xfrm>
                <a:off x="6923732" y="618087"/>
                <a:ext cx="48468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7BB0DB5-B8D8-A274-37B6-56307BEEA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732" y="618087"/>
                <a:ext cx="48468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47DD17-76A7-DF48-FD68-C7451BA50B40}"/>
                  </a:ext>
                </a:extLst>
              </p:cNvPr>
              <p:cNvSpPr txBox="1"/>
              <p:nvPr/>
            </p:nvSpPr>
            <p:spPr>
              <a:xfrm>
                <a:off x="9801030" y="5190378"/>
                <a:ext cx="217321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=108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=2.94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47DD17-76A7-DF48-FD68-C7451BA50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1030" y="5190378"/>
                <a:ext cx="2173219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0CBF544-C6D8-84E0-5F6F-238E591FF530}"/>
              </a:ext>
            </a:extLst>
          </p:cNvPr>
          <p:cNvSpPr txBox="1"/>
          <p:nvPr/>
        </p:nvSpPr>
        <p:spPr>
          <a:xfrm>
            <a:off x="3896752" y="4636380"/>
            <a:ext cx="30269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ROM reveals that the higher branch is excited, but FEM reveals the transition from lower branch to higher branch.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D7B568-8F45-1E35-566D-5B5F6B5943AE}"/>
                  </a:ext>
                </a:extLst>
              </p:cNvPr>
              <p:cNvSpPr txBox="1"/>
              <p:nvPr/>
            </p:nvSpPr>
            <p:spPr>
              <a:xfrm>
                <a:off x="196568" y="2189703"/>
                <a:ext cx="25447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=0.018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Wb</m:t>
                          </m:r>
                        </m:e>
                        <m:sup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D7B568-8F45-1E35-566D-5B5F6B594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8" y="2189703"/>
                <a:ext cx="2544744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C6D3404F-2127-F061-FB42-95E2BCA417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1036" y="955220"/>
            <a:ext cx="4276840" cy="32076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946487A-69EC-8E62-03EA-C61F617B60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303" y="4234026"/>
            <a:ext cx="3412045" cy="255903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0A9D9B1-99B9-67BD-917A-166C1D9A4849}"/>
              </a:ext>
            </a:extLst>
          </p:cNvPr>
          <p:cNvSpPr txBox="1"/>
          <p:nvPr/>
        </p:nvSpPr>
        <p:spPr>
          <a:xfrm>
            <a:off x="196568" y="2763908"/>
            <a:ext cx="254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Higher nonlinearity</a:t>
            </a:r>
          </a:p>
        </p:txBody>
      </p:sp>
    </p:spTree>
    <p:extLst>
      <p:ext uri="{BB962C8B-B14F-4D97-AF65-F5344CB8AC3E}">
        <p14:creationId xmlns:p14="http://schemas.microsoft.com/office/powerpoint/2010/main" val="2772797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2C51-CA97-AAF7-682C-B7AEB771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64E65-2170-2855-71E8-7E8B8789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0BFCBB8-E031-B1FF-D25A-A4A250D38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14FDAEC-CFA3-0352-994B-44BB5AF582B1}"/>
              </a:ext>
            </a:extLst>
          </p:cNvPr>
          <p:cNvGrpSpPr/>
          <p:nvPr/>
        </p:nvGrpSpPr>
        <p:grpSpPr>
          <a:xfrm>
            <a:off x="7583689" y="1452499"/>
            <a:ext cx="4390560" cy="4903851"/>
            <a:chOff x="7886988" y="1792601"/>
            <a:chExt cx="4390560" cy="490385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244D626-7098-75B8-D459-8ECD9056053E}"/>
                </a:ext>
              </a:extLst>
            </p:cNvPr>
            <p:cNvGrpSpPr/>
            <p:nvPr/>
          </p:nvGrpSpPr>
          <p:grpSpPr>
            <a:xfrm>
              <a:off x="7886988" y="1792601"/>
              <a:ext cx="2839932" cy="4903851"/>
              <a:chOff x="7428330" y="1452499"/>
              <a:chExt cx="2839932" cy="4903851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0137FA6-1E4E-0031-9C42-2F5E7D8763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28330" y="3066751"/>
                <a:ext cx="2060328" cy="3289599"/>
              </a:xfrm>
              <a:prstGeom prst="rect">
                <a:avLst/>
              </a:prstGeom>
            </p:spPr>
          </p:pic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0CF4420E-6E94-969B-FB79-3C2071E938B8}"/>
                  </a:ext>
                </a:extLst>
              </p:cNvPr>
              <p:cNvGrpSpPr/>
              <p:nvPr/>
            </p:nvGrpSpPr>
            <p:grpSpPr>
              <a:xfrm>
                <a:off x="7748689" y="1452499"/>
                <a:ext cx="2519573" cy="1881611"/>
                <a:chOff x="7748689" y="1452499"/>
                <a:chExt cx="2519573" cy="1881611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44812D2D-865E-ACF6-F26B-45ED9DC1171C}"/>
                    </a:ext>
                  </a:extLst>
                </p:cNvPr>
                <p:cNvCxnSpPr/>
                <p:nvPr/>
              </p:nvCxnSpPr>
              <p:spPr>
                <a:xfrm flipV="1">
                  <a:off x="8032173" y="1690688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75B4B6EB-4E5A-B832-3619-5738E303C828}"/>
                    </a:ext>
                  </a:extLst>
                </p:cNvPr>
                <p:cNvCxnSpPr/>
                <p:nvPr/>
              </p:nvCxnSpPr>
              <p:spPr>
                <a:xfrm flipV="1">
                  <a:off x="8107725" y="1730880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D6F70C5-B7A6-8AEB-A584-861B82134273}"/>
                    </a:ext>
                  </a:extLst>
                </p:cNvPr>
                <p:cNvCxnSpPr/>
                <p:nvPr/>
              </p:nvCxnSpPr>
              <p:spPr>
                <a:xfrm flipV="1">
                  <a:off x="8904799" y="1513329"/>
                  <a:ext cx="0" cy="16032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DC773DF8-C9EC-87A4-B237-40F5DB8590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32173" y="1460342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B9F1AFF-7A91-723A-F426-A25C04E689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9" y="1513329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FC6C44A-F9E3-7FE7-6D36-B0FB11B0C4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0408" y="145249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B58B77FD-E2BF-FF2E-6EF9-4465848D3C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1693314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86613CD8-6CF8-350D-9782-4BCD361D73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1840" y="3234849"/>
                  <a:ext cx="104390" cy="6083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E1186262-12FC-1F80-1553-969CF25F20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14518" y="3052148"/>
                  <a:ext cx="790280" cy="23233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196F351D-9469-7459-BD06-F6F4CEA0F6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610600" y="2492303"/>
                  <a:ext cx="434313" cy="18426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0AFB5163-A86E-5517-09CE-9BC1098EF7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8689" y="2173270"/>
                  <a:ext cx="264980" cy="11242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743D67DB-E313-961E-DCEF-71751CA447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8689" y="203962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A62C1E10-1BC2-8942-790A-4F830698C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898004" y="1591849"/>
                  <a:ext cx="293818" cy="1318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29001D88-1AF1-2A8E-8F20-E714BB6E2E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4913" y="2138828"/>
                  <a:ext cx="1223349" cy="5373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683041DF-1C52-CEB3-267E-F38C8BA386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98617" y="1591849"/>
                  <a:ext cx="309725" cy="153811"/>
                </a:xfrm>
                <a:prstGeom prst="line">
                  <a:avLst/>
                </a:prstGeom>
                <a:ln>
                  <a:head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389B1E6D-B877-CCF5-B5FE-14FFC083F8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58537" y="1984670"/>
                  <a:ext cx="309725" cy="153811"/>
                </a:xfrm>
                <a:prstGeom prst="line">
                  <a:avLst/>
                </a:prstGeom>
                <a:ln>
                  <a:tailEnd type="stealth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0CA883F7-8118-CD01-E977-0254F1829E9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0CA883F7-8118-CD01-E977-0254F1829E9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19035" y="1651741"/>
                      <a:ext cx="652294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180D764-F282-E4C8-5F7C-1FC5F49CE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4520" y="3841676"/>
              <a:ext cx="2823028" cy="79982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58981CB-6D4C-5EF4-D6C4-9CD58FB8B833}"/>
                  </a:ext>
                </a:extLst>
              </p:cNvPr>
              <p:cNvSpPr txBox="1"/>
              <p:nvPr/>
            </p:nvSpPr>
            <p:spPr>
              <a:xfrm>
                <a:off x="6923732" y="618087"/>
                <a:ext cx="48468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58981CB-6D4C-5EF4-D6C4-9CD58FB8B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732" y="618087"/>
                <a:ext cx="48468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7F7871-336A-CD4F-E393-3C97F254E4CB}"/>
                  </a:ext>
                </a:extLst>
              </p:cNvPr>
              <p:cNvSpPr txBox="1"/>
              <p:nvPr/>
            </p:nvSpPr>
            <p:spPr>
              <a:xfrm>
                <a:off x="9801030" y="5190378"/>
                <a:ext cx="217321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=108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=2.94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7F7871-336A-CD4F-E393-3C97F254E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1030" y="5190378"/>
                <a:ext cx="2173219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860EE25-2086-9D32-2838-8C329366B0D8}"/>
              </a:ext>
            </a:extLst>
          </p:cNvPr>
          <p:cNvSpPr txBox="1"/>
          <p:nvPr/>
        </p:nvSpPr>
        <p:spPr>
          <a:xfrm>
            <a:off x="3896752" y="4636380"/>
            <a:ext cx="30269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ROM reveals the transition from lower branch to higher branch, but FEM reveals that the lower branch is excited.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F813ED-6E19-F165-4A6D-1F576B815EEE}"/>
                  </a:ext>
                </a:extLst>
              </p:cNvPr>
              <p:cNvSpPr txBox="1"/>
              <p:nvPr/>
            </p:nvSpPr>
            <p:spPr>
              <a:xfrm>
                <a:off x="196568" y="2189703"/>
                <a:ext cx="25447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=0.022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Wb</m:t>
                          </m:r>
                        </m:e>
                        <m:sup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F813ED-6E19-F165-4A6D-1F576B815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68" y="2189703"/>
                <a:ext cx="2544744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CEA45448-4AAA-95F4-15BF-051C9EBAD0CC}"/>
              </a:ext>
            </a:extLst>
          </p:cNvPr>
          <p:cNvSpPr txBox="1"/>
          <p:nvPr/>
        </p:nvSpPr>
        <p:spPr>
          <a:xfrm>
            <a:off x="196568" y="2763908"/>
            <a:ext cx="2544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Lower nonlinearity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10B4B-2C5B-B57B-2D5D-43AF715632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6336" y="1234832"/>
            <a:ext cx="4090304" cy="306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29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BF6CB-5A34-87BB-658D-B34043066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D6338-AA3F-160C-E641-75F988F8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Concluding Remarks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A02369-3697-FE9A-AD9A-1BA6688C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4B8204-F879-ECAF-CD00-9BE6EFB160AA}"/>
              </a:ext>
            </a:extLst>
          </p:cNvPr>
          <p:cNvSpPr txBox="1"/>
          <p:nvPr/>
        </p:nvSpPr>
        <p:spPr>
          <a:xfrm>
            <a:off x="847237" y="1905506"/>
            <a:ext cx="887323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The continuous model verified the transition from lower to higher branch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The threshold of nonlinearity seems to be deviated from that predicted in ROM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Further investigations is needed for continuous models (energy, power flow etc.) to confirm its validity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In my perspective, the disparity occurs since the beam does not vibrates at its first mode. Specifically, the piezoelectric patches will significantly affect its vibration mode, and the approximation </a:t>
            </a:r>
            <a:r>
              <a:rPr lang="en-US" sz="2400"/>
              <a:t>is inaccurate.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66417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FDDC4-82B9-036E-360F-9B9E40018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E2D9-4B3A-CE54-F8E7-A62678D1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15" y="247017"/>
            <a:ext cx="10515600" cy="1325563"/>
          </a:xfrm>
        </p:spPr>
        <p:txBody>
          <a:bodyPr/>
          <a:lstStyle/>
          <a:p>
            <a:r>
              <a:rPr lang="en-US" dirty="0"/>
              <a:t>Next step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EA6C7C1-BF1F-2243-A6E1-8CD5664B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3FD2-108E-45E4-951C-277CC0F0149D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460FF-51B0-71F2-AFA3-D94FB8116D5B}"/>
              </a:ext>
            </a:extLst>
          </p:cNvPr>
          <p:cNvSpPr txBox="1"/>
          <p:nvPr/>
        </p:nvSpPr>
        <p:spPr>
          <a:xfrm>
            <a:off x="847237" y="1905506"/>
            <a:ext cx="8873233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Remove nonlinearity to check the validity of the FEM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Study how nonlinearity affects the effective damping etc.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400" dirty="0"/>
              <a:t>My hypothesis: The estimation of the first electro-mechanical mode from the ROM is slightly greater than then actual frequency of the </a:t>
            </a:r>
            <a:r>
              <a:rPr lang="en-US" sz="2400"/>
              <a:t>first mode.</a:t>
            </a:r>
            <a:endParaRPr lang="en-US" sz="2400" dirty="0"/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1298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37996</TotalTime>
  <Words>698</Words>
  <Application>Microsoft Office PowerPoint</Application>
  <PresentationFormat>Widescreen</PresentationFormat>
  <Paragraphs>101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DengXian</vt:lpstr>
      <vt:lpstr>Aptos</vt:lpstr>
      <vt:lpstr>Aptos Display</vt:lpstr>
      <vt:lpstr>Arial</vt:lpstr>
      <vt:lpstr>Cambria Math</vt:lpstr>
      <vt:lpstr>Wingdings</vt:lpstr>
      <vt:lpstr>Office Theme</vt:lpstr>
      <vt:lpstr>Update: Piezo-energy harvesting</vt:lpstr>
      <vt:lpstr>Schematic</vt:lpstr>
      <vt:lpstr>Analytical Foundation – a Review</vt:lpstr>
      <vt:lpstr>Hysteresis Loop and Responses</vt:lpstr>
      <vt:lpstr>Further Discussion in the Previous Meeting</vt:lpstr>
      <vt:lpstr>FEM Discretization and integration</vt:lpstr>
      <vt:lpstr>Results</vt:lpstr>
      <vt:lpstr>Results</vt:lpstr>
      <vt:lpstr>Results</vt:lpstr>
      <vt:lpstr>Results</vt:lpstr>
      <vt:lpstr>Concluding Remarks</vt:lpstr>
      <vt:lpstr>Next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Chongan</dc:creator>
  <cp:lastModifiedBy>Wang, Chongan</cp:lastModifiedBy>
  <cp:revision>15</cp:revision>
  <dcterms:created xsi:type="dcterms:W3CDTF">2024-08-07T05:48:52Z</dcterms:created>
  <dcterms:modified xsi:type="dcterms:W3CDTF">2024-12-20T22:43:27Z</dcterms:modified>
</cp:coreProperties>
</file>