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06" r:id="rId3"/>
    <p:sldId id="326" r:id="rId4"/>
    <p:sldId id="327" r:id="rId5"/>
    <p:sldId id="319" r:id="rId6"/>
    <p:sldId id="32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6.emf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2025-02-14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Analytical Foundation – a Review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A7A75C-F221-37AC-D7A9-3C45E09636EA}"/>
                  </a:ext>
                </a:extLst>
              </p:cNvPr>
              <p:cNvSpPr txBox="1"/>
              <p:nvPr/>
            </p:nvSpPr>
            <p:spPr>
              <a:xfrm>
                <a:off x="704032" y="1494385"/>
                <a:ext cx="72213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ROM equations are given as follows,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updated linear beam mode considering the </a:t>
                </a:r>
                <a:r>
                  <a:rPr lang="en-US" dirty="0" err="1"/>
                  <a:t>piezos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its amplitude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A7A75C-F221-37AC-D7A9-3C45E096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32" y="1494385"/>
                <a:ext cx="7221392" cy="646331"/>
              </a:xfrm>
              <a:prstGeom prst="rect">
                <a:avLst/>
              </a:prstGeom>
              <a:blipFill>
                <a:blip r:embed="rId5"/>
                <a:stretch>
                  <a:fillRect l="-675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7E000-53FB-935D-54C9-AA2C81FD9E14}"/>
                  </a:ext>
                </a:extLst>
              </p:cNvPr>
              <p:cNvSpPr txBox="1"/>
              <p:nvPr/>
            </p:nvSpPr>
            <p:spPr>
              <a:xfrm>
                <a:off x="1346134" y="2188572"/>
                <a:ext cx="6269263" cy="720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7E000-53FB-935D-54C9-AA2C81FD9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134" y="2188572"/>
                <a:ext cx="6269263" cy="7209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0A0740-2525-1EAB-5E2A-3A90F0C0BA23}"/>
                  </a:ext>
                </a:extLst>
              </p:cNvPr>
              <p:cNvSpPr txBox="1"/>
              <p:nvPr/>
            </p:nvSpPr>
            <p:spPr>
              <a:xfrm>
                <a:off x="1237590" y="2952744"/>
                <a:ext cx="6094324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0A0740-2525-1EAB-5E2A-3A90F0C0B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0" y="2952744"/>
                <a:ext cx="6094324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C596C3-3EB0-4534-2E6F-85967D866740}"/>
                  </a:ext>
                </a:extLst>
              </p:cNvPr>
              <p:cNvSpPr txBox="1"/>
              <p:nvPr/>
            </p:nvSpPr>
            <p:spPr>
              <a:xfrm>
                <a:off x="1237590" y="3717265"/>
                <a:ext cx="6094324" cy="720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C596C3-3EB0-4534-2E6F-85967D866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0" y="3717265"/>
                <a:ext cx="6094324" cy="7209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B11C3AD-F4F2-D423-A7CF-4BCF887C1F52}"/>
              </a:ext>
            </a:extLst>
          </p:cNvPr>
          <p:cNvSpPr txBox="1"/>
          <p:nvPr/>
        </p:nvSpPr>
        <p:spPr>
          <a:xfrm>
            <a:off x="568416" y="2384687"/>
            <a:ext cx="105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Beam: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AD7E65-3406-DD33-2409-3AF4E9342A00}"/>
              </a:ext>
            </a:extLst>
          </p:cNvPr>
          <p:cNvSpPr txBox="1"/>
          <p:nvPr/>
        </p:nvSpPr>
        <p:spPr>
          <a:xfrm>
            <a:off x="568415" y="3100869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Harvester: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38467F-2A5B-0976-3D89-CDF246C7DA49}"/>
              </a:ext>
            </a:extLst>
          </p:cNvPr>
          <p:cNvSpPr txBox="1"/>
          <p:nvPr/>
        </p:nvSpPr>
        <p:spPr>
          <a:xfrm>
            <a:off x="568414" y="3893050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297C2D-2FF0-DFB7-206B-C4C8077C90CF}"/>
                  </a:ext>
                </a:extLst>
              </p:cNvPr>
              <p:cNvSpPr txBox="1"/>
              <p:nvPr/>
            </p:nvSpPr>
            <p:spPr>
              <a:xfrm>
                <a:off x="568414" y="4720181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Harvesting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297C2D-2FF0-DFB7-206B-C4C8077C9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4720181"/>
                <a:ext cx="4284940" cy="369332"/>
              </a:xfrm>
              <a:prstGeom prst="rect">
                <a:avLst/>
              </a:prstGeom>
              <a:blipFill>
                <a:blip r:embed="rId12"/>
                <a:stretch>
                  <a:fillRect l="-1138" t="-4918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3510350-28A2-5465-0A57-55EB8C421EAB}"/>
              </a:ext>
            </a:extLst>
          </p:cNvPr>
          <p:cNvSpPr txBox="1"/>
          <p:nvPr/>
        </p:nvSpPr>
        <p:spPr>
          <a:xfrm>
            <a:off x="8997809" y="652992"/>
            <a:ext cx="291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current structural damping of the beam is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6DBCD-3EFA-9614-908D-C02347D7D381}"/>
                  </a:ext>
                </a:extLst>
              </p:cNvPr>
              <p:cNvSpPr txBox="1"/>
              <p:nvPr/>
            </p:nvSpPr>
            <p:spPr>
              <a:xfrm>
                <a:off x="568414" y="5329133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Modulating power: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A6DBCD-3EFA-9614-908D-C02347D7D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5329133"/>
                <a:ext cx="4284940" cy="369332"/>
              </a:xfrm>
              <a:prstGeom prst="rect">
                <a:avLst/>
              </a:prstGeom>
              <a:blipFill>
                <a:blip r:embed="rId13"/>
                <a:stretch>
                  <a:fillRect l="-113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820596-D16C-4CA1-5A8F-D6BB5FBBDDE5}"/>
                  </a:ext>
                </a:extLst>
              </p:cNvPr>
              <p:cNvSpPr txBox="1"/>
              <p:nvPr/>
            </p:nvSpPr>
            <p:spPr>
              <a:xfrm>
                <a:off x="568414" y="5866548"/>
                <a:ext cx="42849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are prescribed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3820596-D16C-4CA1-5A8F-D6BB5FBBD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4" y="5866548"/>
                <a:ext cx="4284940" cy="369332"/>
              </a:xfrm>
              <a:prstGeom prst="rect">
                <a:avLst/>
              </a:prstGeom>
              <a:blipFill>
                <a:blip r:embed="rId14"/>
                <a:stretch>
                  <a:fillRect l="-113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85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948B-03A0-E89A-981B-5F401541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9FB5-1791-EE77-3920-F2893EF4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Normalized System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B89B6A-477D-EEAF-4265-F5CC5C96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804E05-3BE7-C03C-2468-45867FD9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519" y="3572299"/>
            <a:ext cx="3787534" cy="2840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3F5812-202E-61F0-9128-D98EFD8FE063}"/>
                  </a:ext>
                </a:extLst>
              </p:cNvPr>
              <p:cNvSpPr txBox="1"/>
              <p:nvPr/>
            </p:nvSpPr>
            <p:spPr>
              <a:xfrm>
                <a:off x="796353" y="1543349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3F5812-202E-61F0-9128-D98EFD8FE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53" y="1543349"/>
                <a:ext cx="6096000" cy="1655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A64B08-8C70-3DB6-A401-B3A186FF6601}"/>
                  </a:ext>
                </a:extLst>
              </p:cNvPr>
              <p:cNvSpPr txBox="1"/>
              <p:nvPr/>
            </p:nvSpPr>
            <p:spPr>
              <a:xfrm>
                <a:off x="257901" y="3841511"/>
                <a:ext cx="3462618" cy="268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d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1,1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1,2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kern="100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d>
                        </m:e>
                        <m:sup>
                          <m: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A64B08-8C70-3DB6-A401-B3A186FF6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1" y="3841511"/>
                <a:ext cx="3462618" cy="2689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1269B25-6E71-87A9-F1FE-B85E09D99817}"/>
              </a:ext>
            </a:extLst>
          </p:cNvPr>
          <p:cNvSpPr txBox="1"/>
          <p:nvPr/>
        </p:nvSpPr>
        <p:spPr>
          <a:xfrm>
            <a:off x="799359" y="3105834"/>
            <a:ext cx="4707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evaluate the total energy at the normalized time 10000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28F481-C185-A56D-86E6-08F5BBBE75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408" y="3572299"/>
            <a:ext cx="3787534" cy="28406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2789830-E6F6-4A6A-FE36-5993A4900E9A}"/>
              </a:ext>
            </a:extLst>
          </p:cNvPr>
          <p:cNvSpPr txBox="1"/>
          <p:nvPr/>
        </p:nvSpPr>
        <p:spPr>
          <a:xfrm>
            <a:off x="7373579" y="2639370"/>
            <a:ext cx="4707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without perturbation</a:t>
            </a:r>
          </a:p>
        </p:txBody>
      </p:sp>
    </p:spTree>
    <p:extLst>
      <p:ext uri="{BB962C8B-B14F-4D97-AF65-F5344CB8AC3E}">
        <p14:creationId xmlns:p14="http://schemas.microsoft.com/office/powerpoint/2010/main" val="83936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5DDE-3228-DBDF-07B5-221E057C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DD75-3EA7-0B5D-C01A-9532A2FE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Robustness to Second Harmonics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E0F93B4-A52C-E5BA-97D3-D016A8D0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61EAF4-5B30-3B7D-3AA3-6EF648E8FDFF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B8F62A6-4045-200D-B809-72B43387B512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11456C5-6A89-ACF7-1B43-B9E6A2423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A4AB208-BA19-A420-7A0E-804447D9310F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953A39B5-9B13-B0F0-2A15-417245E2A1ED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8A92A21-02C0-0594-EC40-530F2A89777D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9931222A-2017-B7A6-B3D1-2AE908710F12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117C1909-7330-5B0E-0E97-A31524218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219F862-6068-7682-A8CA-8C7B1D6F32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1170EB92-09A8-7D2B-442C-BEB3D7AE8D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1382AF2-C3F2-D6A9-E66A-2ED81E718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4524DF5-4411-3F79-4B52-DFF3E48E4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5FC0C3C-8668-5DA6-7737-B2ACBF249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2054209-2BB1-4DB2-F986-45603894BF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33A5470-25E5-1143-A001-696F9046F9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9822926-FD1D-182E-135E-24F7CD953F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4C807A0-EC27-0B80-F393-C2D0CE35E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2643B70E-EA6E-883B-6340-8CC448C81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552792D-FCBD-1D61-067A-554164CC1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E3ECCA2-5985-A7CF-3E42-5726493622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145F6E7F-755C-D46E-480F-A9362FB0CC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145F6E7F-755C-D46E-480F-A9362FB0C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2CAAB7D-37AD-F9F1-D5EA-8D966E3D2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39EDDE-47A0-268A-0952-C6002BA655CE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39EDDE-47A0-268A-0952-C6002BA65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A4409A-9E6A-426A-1CB1-F1131961845C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A4409A-9E6A-426A-1CB1-F11319618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AFB0B943-81DC-CFB6-5438-1B0603509C97}"/>
              </a:ext>
            </a:extLst>
          </p:cNvPr>
          <p:cNvSpPr txBox="1"/>
          <p:nvPr/>
        </p:nvSpPr>
        <p:spPr>
          <a:xfrm>
            <a:off x="8997809" y="652992"/>
            <a:ext cx="291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current structural damping of the beam is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B8A92C-0FD8-88FD-0B00-1B443AFF93B0}"/>
                  </a:ext>
                </a:extLst>
              </p:cNvPr>
              <p:cNvSpPr txBox="1"/>
              <p:nvPr/>
            </p:nvSpPr>
            <p:spPr>
              <a:xfrm>
                <a:off x="796353" y="1543349"/>
                <a:ext cx="6573532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kern="100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B8A92C-0FD8-88FD-0B00-1B443AFF9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53" y="1543349"/>
                <a:ext cx="6573532" cy="1655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46F7C-38D0-A2A9-9C44-63EDDB5C6C16}"/>
                  </a:ext>
                </a:extLst>
              </p:cNvPr>
              <p:cNvSpPr txBox="1"/>
              <p:nvPr/>
            </p:nvSpPr>
            <p:spPr>
              <a:xfrm>
                <a:off x="472423" y="3429000"/>
                <a:ext cx="635623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Now we assume that the base excitation has two terms: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different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46F7C-38D0-A2A9-9C44-63EDDB5C6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23" y="3429000"/>
                <a:ext cx="6356235" cy="646331"/>
              </a:xfrm>
              <a:prstGeom prst="rect">
                <a:avLst/>
              </a:prstGeom>
              <a:blipFill>
                <a:blip r:embed="rId8"/>
                <a:stretch>
                  <a:fillRect l="-76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915A4E-31F7-F0DF-C452-F8E2BFCD0DCB}"/>
                  </a:ext>
                </a:extLst>
              </p:cNvPr>
              <p:cNvSpPr txBox="1"/>
              <p:nvPr/>
            </p:nvSpPr>
            <p:spPr>
              <a:xfrm>
                <a:off x="472423" y="4318932"/>
                <a:ext cx="6356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normalized amplitude of the secondary harmonics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915A4E-31F7-F0DF-C452-F8E2BFCD0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23" y="4318932"/>
                <a:ext cx="6356235" cy="369332"/>
              </a:xfrm>
              <a:prstGeom prst="rect">
                <a:avLst/>
              </a:prstGeom>
              <a:blipFill>
                <a:blip r:embed="rId9"/>
                <a:stretch>
                  <a:fillRect l="-767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29B2930-6CE8-A4DE-6881-03D23E43EDA8}"/>
              </a:ext>
            </a:extLst>
          </p:cNvPr>
          <p:cNvSpPr txBox="1"/>
          <p:nvPr/>
        </p:nvSpPr>
        <p:spPr>
          <a:xfrm>
            <a:off x="472423" y="5122279"/>
            <a:ext cx="6356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Assuming minor perturbation, the velocity amplitude of the secondary harmonics is 10% of the major harmonics</a:t>
            </a:r>
          </a:p>
        </p:txBody>
      </p:sp>
    </p:spTree>
    <p:extLst>
      <p:ext uri="{BB962C8B-B14F-4D97-AF65-F5344CB8AC3E}">
        <p14:creationId xmlns:p14="http://schemas.microsoft.com/office/powerpoint/2010/main" val="367147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A822-75E3-FC63-A36E-304B6030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88D5-E4F6-4DD0-3363-6E295984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The flux linkage response to base excitation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041E4D-384C-E20A-EAE7-C0AE95F5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99FAC-936E-AF3E-8CC0-4FABBE5A4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533" y="1999876"/>
            <a:ext cx="4734407" cy="3550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80D84D-028E-BBF8-BD39-3718278FB914}"/>
                  </a:ext>
                </a:extLst>
              </p:cNvPr>
              <p:cNvSpPr txBox="1"/>
              <p:nvPr/>
            </p:nvSpPr>
            <p:spPr>
              <a:xfrm>
                <a:off x="872358" y="3429000"/>
                <a:ext cx="3798533" cy="1326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We plot the normalized harvested energy versus the normalized frequency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of the secondary harmonics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80D84D-028E-BBF8-BD39-3718278FB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8" y="3429000"/>
                <a:ext cx="3798533" cy="1326773"/>
              </a:xfrm>
              <a:prstGeom prst="rect">
                <a:avLst/>
              </a:prstGeom>
              <a:blipFill>
                <a:blip r:embed="rId3"/>
                <a:stretch>
                  <a:fillRect l="-1284" t="-2304" r="-1445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5D43F8-26B6-E581-526D-7801C3F24996}"/>
                  </a:ext>
                </a:extLst>
              </p:cNvPr>
              <p:cNvSpPr txBox="1"/>
              <p:nvPr/>
            </p:nvSpPr>
            <p:spPr>
              <a:xfrm>
                <a:off x="733291" y="1572580"/>
                <a:ext cx="6573532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b="0" i="1" kern="100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kern="100" smtClean="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5D43F8-26B6-E581-526D-7801C3F24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91" y="1572580"/>
                <a:ext cx="6573532" cy="16551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B778E76-16B9-C8CA-24A3-87182A8F7AF0}"/>
              </a:ext>
            </a:extLst>
          </p:cNvPr>
          <p:cNvSpPr txBox="1"/>
          <p:nvPr/>
        </p:nvSpPr>
        <p:spPr>
          <a:xfrm>
            <a:off x="872357" y="5088816"/>
            <a:ext cx="37985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In all frequencies of secondary harmonics, the higher-branch is excited and the nonlinear system </a:t>
            </a:r>
            <a:r>
              <a:rPr lang="en-US" kern="100">
                <a:ea typeface="DengXian" panose="02010600030101010101" pitchFamily="2" charset="-122"/>
                <a:cs typeface="Times New Roman" panose="02020603050405020304" pitchFamily="18" charset="0"/>
              </a:rPr>
              <a:t>significantly outperform the linear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1350-0AE7-0383-BC4F-94F65B73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F524-857A-1C12-7546-E8EA25959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Brownian Motion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9E1CAD-5146-8A4B-C9E9-C1EE7DB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EA30B2-BC67-FEE2-6594-DE1EE6F523B3}"/>
                  </a:ext>
                </a:extLst>
              </p:cNvPr>
              <p:cNvSpPr txBox="1"/>
              <p:nvPr/>
            </p:nvSpPr>
            <p:spPr>
              <a:xfrm>
                <a:off x="2828526" y="2037848"/>
                <a:ext cx="5660090" cy="72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acc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EA30B2-BC67-FEE2-6594-DE1EE6F52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526" y="2037848"/>
                <a:ext cx="5660090" cy="725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A5552F-D3FE-E768-EED8-E01E2C7B9F33}"/>
                  </a:ext>
                </a:extLst>
              </p:cNvPr>
              <p:cNvSpPr txBox="1"/>
              <p:nvPr/>
            </p:nvSpPr>
            <p:spPr>
              <a:xfrm>
                <a:off x="2719981" y="2802020"/>
                <a:ext cx="6094324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A5552F-D3FE-E768-EED8-E01E2C7B9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981" y="2802020"/>
                <a:ext cx="6094324" cy="675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DAF40-0975-D0D5-230E-9E6E9DB82CE5}"/>
                  </a:ext>
                </a:extLst>
              </p:cNvPr>
              <p:cNvSpPr txBox="1"/>
              <p:nvPr/>
            </p:nvSpPr>
            <p:spPr>
              <a:xfrm>
                <a:off x="2719981" y="3566541"/>
                <a:ext cx="6094324" cy="720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5DAF40-0975-D0D5-230E-9E6E9DB82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981" y="3566541"/>
                <a:ext cx="6094324" cy="7209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F723C9-1752-054A-5E06-34E46E8982B4}"/>
              </a:ext>
            </a:extLst>
          </p:cNvPr>
          <p:cNvSpPr txBox="1"/>
          <p:nvPr/>
        </p:nvSpPr>
        <p:spPr>
          <a:xfrm>
            <a:off x="2050807" y="2233963"/>
            <a:ext cx="105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Beam: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5D184A-AE1C-14C9-EFFA-68923EF4DEF0}"/>
              </a:ext>
            </a:extLst>
          </p:cNvPr>
          <p:cNvSpPr txBox="1"/>
          <p:nvPr/>
        </p:nvSpPr>
        <p:spPr>
          <a:xfrm>
            <a:off x="2050806" y="2950145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Harvester: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53C7E-E0CD-D6B5-8B2B-E5AEF219FBFC}"/>
              </a:ext>
            </a:extLst>
          </p:cNvPr>
          <p:cNvSpPr txBox="1"/>
          <p:nvPr/>
        </p:nvSpPr>
        <p:spPr>
          <a:xfrm>
            <a:off x="2050805" y="3742326"/>
            <a:ext cx="1280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AB0E87-B119-F055-1008-3E65EBC5F55D}"/>
                  </a:ext>
                </a:extLst>
              </p:cNvPr>
              <p:cNvSpPr txBox="1"/>
              <p:nvPr/>
            </p:nvSpPr>
            <p:spPr>
              <a:xfrm>
                <a:off x="625615" y="1668516"/>
                <a:ext cx="81886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reduced order model requires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is twice differentiable: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AB0E87-B119-F055-1008-3E65EBC5F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15" y="1668516"/>
                <a:ext cx="8188690" cy="369332"/>
              </a:xfrm>
              <a:prstGeom prst="rect">
                <a:avLst/>
              </a:prstGeom>
              <a:blipFill>
                <a:blip r:embed="rId5"/>
                <a:stretch>
                  <a:fillRect l="-67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7C14A5-561F-EE0C-8DC9-18830197A02F}"/>
                  </a:ext>
                </a:extLst>
              </p:cNvPr>
              <p:cNvSpPr txBox="1"/>
              <p:nvPr/>
            </p:nvSpPr>
            <p:spPr>
              <a:xfrm>
                <a:off x="1371664" y="4875393"/>
                <a:ext cx="45117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7C14A5-561F-EE0C-8DC9-18830197A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64" y="4875393"/>
                <a:ext cx="451175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86CA328-C6EF-6390-A71E-D3749E196097}"/>
              </a:ext>
            </a:extLst>
          </p:cNvPr>
          <p:cNvSpPr txBox="1"/>
          <p:nvPr/>
        </p:nvSpPr>
        <p:spPr>
          <a:xfrm>
            <a:off x="625615" y="4518885"/>
            <a:ext cx="8188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FEM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EE0377-F6E4-72B1-8507-3E2A3E7EBC08}"/>
                  </a:ext>
                </a:extLst>
              </p:cNvPr>
              <p:cNvSpPr txBox="1"/>
              <p:nvPr/>
            </p:nvSpPr>
            <p:spPr>
              <a:xfrm>
                <a:off x="625615" y="5395125"/>
                <a:ext cx="818869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Prescribed boundary condition means that an element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prescribed</a:t>
                </a:r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</m:oMath>
                </a14:m>
                <a:r>
                  <a:rPr lang="en-US" dirty="0"/>
                  <a:t> is not diagonal, the acceleration of the boundary is still needed for the </a:t>
                </a:r>
                <a:r>
                  <a:rPr lang="en-US"/>
                  <a:t>entire simulation.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EE0377-F6E4-72B1-8507-3E2A3E7EB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15" y="5395125"/>
                <a:ext cx="8188690" cy="923330"/>
              </a:xfrm>
              <a:prstGeom prst="rect">
                <a:avLst/>
              </a:prstGeom>
              <a:blipFill>
                <a:blip r:embed="rId7"/>
                <a:stretch>
                  <a:fillRect l="-670" t="-2649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30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45003</TotalTime>
  <Words>464</Words>
  <Application>Microsoft Office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DengXian</vt:lpstr>
      <vt:lpstr>Aptos</vt:lpstr>
      <vt:lpstr>Aptos Display</vt:lpstr>
      <vt:lpstr>Arial</vt:lpstr>
      <vt:lpstr>Cambria Math</vt:lpstr>
      <vt:lpstr>Office Theme</vt:lpstr>
      <vt:lpstr>Update: Piezo-energy harvesting</vt:lpstr>
      <vt:lpstr>Analytical Foundation – a Review</vt:lpstr>
      <vt:lpstr>Normalized System</vt:lpstr>
      <vt:lpstr>Robustness to Second Harmonics</vt:lpstr>
      <vt:lpstr>The flux linkage response to base excitation</vt:lpstr>
      <vt:lpstr>Brownian Motion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17</cp:revision>
  <dcterms:created xsi:type="dcterms:W3CDTF">2024-08-07T05:48:52Z</dcterms:created>
  <dcterms:modified xsi:type="dcterms:W3CDTF">2025-02-18T04:36:09Z</dcterms:modified>
</cp:coreProperties>
</file>