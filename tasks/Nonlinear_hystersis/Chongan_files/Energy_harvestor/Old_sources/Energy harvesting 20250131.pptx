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06" r:id="rId3"/>
    <p:sldId id="326" r:id="rId4"/>
    <p:sldId id="319" r:id="rId5"/>
    <p:sldId id="327" r:id="rId6"/>
    <p:sldId id="329" r:id="rId7"/>
    <p:sldId id="330" r:id="rId8"/>
    <p:sldId id="331" r:id="rId9"/>
    <p:sldId id="33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2" d="100"/>
          <a:sy n="102" d="100"/>
        </p:scale>
        <p:origin x="58" y="-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22983-65D5-450E-B313-12E3224DDE68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CF7D2-8AC6-413C-B08F-B46CAE9F3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18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CF7D2-8AC6-413C-B08F-B46CAE9F34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62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206D-8CC8-D226-2185-B80C32AD5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96B9A-F9B0-3CB9-FFEC-010CFF5CC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7F90A-6499-A6D4-7C86-BFC6C9A1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10F58-50B1-B4AC-9B58-E021B5E6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FDAB-E970-E623-4F37-B185435F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6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CFAC-428E-5F63-E50C-CE876F0E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7AC36-5EEC-78B2-6AC2-E31E35AF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3DDEE-BD6A-85B8-B564-594C8DF4E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97150-FFDC-317A-A5A1-595C8D43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D4145-DDEB-7163-77D3-1F073C5F5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3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B1D7-1E0B-8D3F-5F92-BE8EA636C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C2E51-3A4A-D68B-9C9A-C23E7F968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A867-AFFF-F620-0E9B-90EE7123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6F41-5263-A641-E762-AE999D65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E4C99-9501-7638-14EA-B96EBFDD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3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EF35-043F-EC1D-3101-683AD9B8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62D01-06EB-4271-CCC6-DB46BC56A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2D544-B885-38C9-8213-DCEE93FD7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0BA1E-F139-F06C-9FE5-6B0BDA69D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C3344-3B1A-7879-83E2-BBA70DBB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7064E-4ED3-F306-CB4B-1B0611BA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47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DA8B-5D9F-E32E-CCCD-B50A662A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5FEE4-56B1-00DC-03DC-701373F64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48F5B-A032-E4CC-E548-11ACF5DBE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E84C1-B7E6-A981-6577-04E43BF33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F3C19-8530-19E0-505B-99832D91B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371AC8-9182-802D-25B6-DBCB75D9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D7F06-C4A7-51B8-788C-3AF839D5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16BBE7-8F2D-39F0-047B-4E6FC894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11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F036-4F68-080B-1C35-CD0C6463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C39440-8687-090B-9648-B92EE8553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DE667-201D-0D9A-082A-CB24A82A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844C8-4136-AB29-0BB2-FAD16EFA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09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E53CE-4E2D-4C2D-6564-B561D667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1563A8-5855-A512-742B-C6D2AE207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9B25D-05A8-63EA-FC42-7BD478F5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4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E865-335A-EDAA-00A0-A06C6455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F7D51-8D19-D415-2C48-AC57682CB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ECDAC-1577-C68D-EF34-1DA74FB70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24AC9-C3A3-0095-1A72-45EF1896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7F24D-881D-D933-E03C-70DE0DB7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AA8E1-3CF0-BF02-C835-F9B24D81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9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6A35-DC9A-62D8-F8A1-05474AB5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C548B-CF5E-7044-3642-687F2B4B2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6BA9C-0AE3-349C-5722-75A559562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2958A-E3D6-8E4C-B127-6B238A0D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BAFF0-40B9-CF25-CDC5-0680180C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E1906-8242-B3B6-3ADA-91F3247A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20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E819-EBA9-8D07-2E65-41F989C0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CF636-C7F2-2960-DF28-BA683553C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B85C0-52CC-6CF1-0AA6-5FD691E6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693D1-2B2F-95BB-0258-B317E6C5A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BE378-AC65-26C2-CFFF-12F8C0DC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5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4000D-51D9-698E-6FD0-527D70F82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8BE10-5192-90AD-C862-93C245B88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39F32-847C-4F6A-8EEE-D8B23FB26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3FCC6-A878-A3F9-6EFF-F7D940FDE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D98CC-0396-0B30-C5EB-D81A0F76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4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3DAC16-02B0-220E-3C43-7008D049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8D148-CDCF-225F-7DDF-774E91172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57D75-39FF-5186-2CA1-C1D0FEF68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6283B-7C59-4350-800E-2D64C9A7762D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C1D5-8C58-CD54-FE24-4B33B1821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137FE-FEA9-4181-09A7-CFE03F8E2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12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E5E0F0-D06E-8966-4394-D898EE18E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Update: Piezo-energy harvesting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426BC22-FBD1-FB20-A1DA-E2A168474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Chongan Wang</a:t>
            </a:r>
          </a:p>
          <a:p>
            <a:r>
              <a:rPr lang="en-US" dirty="0"/>
              <a:t>2025-01-31</a:t>
            </a:r>
          </a:p>
        </p:txBody>
      </p:sp>
    </p:spTree>
    <p:extLst>
      <p:ext uri="{BB962C8B-B14F-4D97-AF65-F5344CB8AC3E}">
        <p14:creationId xmlns:p14="http://schemas.microsoft.com/office/powerpoint/2010/main" val="384523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07784-0F26-01B0-6D16-B0F259DF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E35D-55CA-5738-5D0F-00807A308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07" y="179640"/>
            <a:ext cx="10515600" cy="1325563"/>
          </a:xfrm>
        </p:spPr>
        <p:txBody>
          <a:bodyPr/>
          <a:lstStyle/>
          <a:p>
            <a:r>
              <a:rPr lang="en-US" dirty="0"/>
              <a:t>Analytical Foundation – a Review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D24337F-F0B6-F0B6-2F6C-2953E53D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C6B1B4-E198-32DE-AD91-DA203BB71547}"/>
              </a:ext>
            </a:extLst>
          </p:cNvPr>
          <p:cNvGrpSpPr/>
          <p:nvPr/>
        </p:nvGrpSpPr>
        <p:grpSpPr>
          <a:xfrm>
            <a:off x="7625731" y="1690688"/>
            <a:ext cx="4390560" cy="4903851"/>
            <a:chOff x="7886988" y="1792601"/>
            <a:chExt cx="4390560" cy="490385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144FFB4-35D8-13FB-EE93-41D7A9854CBA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F31F6474-2BBE-B5B1-E4DB-295A07A234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D1D3BE6-0733-D497-5A6F-D16E8846037E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2C849AB0-CDA1-3685-4F21-82E067C63D59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643DD884-B367-5509-3EF4-C8648D3056B3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3791194F-76BF-FBEC-1032-0BEC960664BA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DE89DB06-DB8F-F02A-0EFF-1EC0D92D94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CACB98B-AA89-8FE4-E179-DD4386EA40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523A1172-C5A0-459B-C650-DEAA0C1BE6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1C79BAF5-03F5-4956-B0C8-8769EB59B8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AFD6FBC-161B-A572-0606-AB31E7B11A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855CA9DE-9BEB-818D-A776-0A5A527A4D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B9E418B5-972D-CE74-73E6-CCAE341D84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2F01DF3-3121-C62C-F5AC-9EB2A50E8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34C12270-0B61-6EC6-8D75-0DF4E9804B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FC540EA-C45E-9185-2665-8CE491F72E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4D72E2E-E04D-ABF0-DA42-D29B838AB0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0509CAE-8F8A-FBA0-8203-7A293D5C27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13CE0584-0EDD-7C2B-34D6-9510664E6F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46A12B31-0598-5E01-E077-481F183E5F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46A12B31-0598-5E01-E077-481F183E5FB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CB9A5D6-3232-101B-99BD-1A68F774F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A7A75C-F221-37AC-D7A9-3C45E09636EA}"/>
                  </a:ext>
                </a:extLst>
              </p:cNvPr>
              <p:cNvSpPr txBox="1"/>
              <p:nvPr/>
            </p:nvSpPr>
            <p:spPr>
              <a:xfrm>
                <a:off x="704032" y="1494385"/>
                <a:ext cx="722139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 ROM equations are given as follows,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updated linear beam mode considering the </a:t>
                </a:r>
                <a:r>
                  <a:rPr lang="en-US" dirty="0" err="1"/>
                  <a:t>piezos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its amplitude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A7A75C-F221-37AC-D7A9-3C45E0963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32" y="1494385"/>
                <a:ext cx="7221392" cy="646331"/>
              </a:xfrm>
              <a:prstGeom prst="rect">
                <a:avLst/>
              </a:prstGeom>
              <a:blipFill>
                <a:blip r:embed="rId5"/>
                <a:stretch>
                  <a:fillRect l="-675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BB2D92-E307-3A81-28B9-64F01A8663F6}"/>
                  </a:ext>
                </a:extLst>
              </p:cNvPr>
              <p:cNvSpPr txBox="1"/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BB2D92-E307-3A81-28B9-64F01A866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CE7383-7180-B7CE-1ABF-86469CC628FB}"/>
                  </a:ext>
                </a:extLst>
              </p:cNvPr>
              <p:cNvSpPr txBox="1"/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CE7383-7180-B7CE-1ABF-86469CC62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8A7E000-53FB-935D-54C9-AA2C81FD9E14}"/>
                  </a:ext>
                </a:extLst>
              </p:cNvPr>
              <p:cNvSpPr txBox="1"/>
              <p:nvPr/>
            </p:nvSpPr>
            <p:spPr>
              <a:xfrm>
                <a:off x="1346135" y="2188572"/>
                <a:ext cx="5660090" cy="725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/>
                        <m:t>−</m:t>
                      </m:r>
                      <m:r>
                        <a:rPr lang="en-US" i="1"/>
                        <m:t>𝑚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/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nary>
                        <m:naryPr>
                          <m:ctrlPr>
                            <a:rPr lang="en-US" i="1"/>
                          </m:ctrlPr>
                        </m:naryPr>
                        <m:sub>
                          <m:r>
                            <a:rPr lang="en-US" i="1"/>
                            <m:t>0</m:t>
                          </m:r>
                        </m:sub>
                        <m:sup>
                          <m:r>
                            <a:rPr lang="en-US" i="1"/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𝜙</m:t>
                              </m:r>
                            </m:e>
                            <m:sub>
                              <m:r>
                                <a:rPr lang="en-US" i="1"/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/>
                            <m:t>d</m:t>
                          </m:r>
                          <m:r>
                            <a:rPr lang="en-US" i="1"/>
                            <m:t>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8A7E000-53FB-935D-54C9-AA2C81FD9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135" y="2188572"/>
                <a:ext cx="5660090" cy="7258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C0A0740-2525-1EAB-5E2A-3A90F0C0BA23}"/>
                  </a:ext>
                </a:extLst>
              </p:cNvPr>
              <p:cNvSpPr txBox="1"/>
              <p:nvPr/>
            </p:nvSpPr>
            <p:spPr>
              <a:xfrm>
                <a:off x="1237590" y="2952744"/>
                <a:ext cx="6094324" cy="675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C0A0740-2525-1EAB-5E2A-3A90F0C0B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590" y="2952744"/>
                <a:ext cx="6094324" cy="67518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C596C3-3EB0-4534-2E6F-85967D866740}"/>
                  </a:ext>
                </a:extLst>
              </p:cNvPr>
              <p:cNvSpPr txBox="1"/>
              <p:nvPr/>
            </p:nvSpPr>
            <p:spPr>
              <a:xfrm>
                <a:off x="1237590" y="3717265"/>
                <a:ext cx="6094324" cy="720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𝜗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C596C3-3EB0-4534-2E6F-85967D866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590" y="3717265"/>
                <a:ext cx="6094324" cy="72090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3B11C3AD-F4F2-D423-A7CF-4BCF887C1F52}"/>
              </a:ext>
            </a:extLst>
          </p:cNvPr>
          <p:cNvSpPr txBox="1"/>
          <p:nvPr/>
        </p:nvSpPr>
        <p:spPr>
          <a:xfrm>
            <a:off x="568416" y="2384687"/>
            <a:ext cx="1052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Beam: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AD7E65-3406-DD33-2409-3AF4E9342A00}"/>
              </a:ext>
            </a:extLst>
          </p:cNvPr>
          <p:cNvSpPr txBox="1"/>
          <p:nvPr/>
        </p:nvSpPr>
        <p:spPr>
          <a:xfrm>
            <a:off x="568415" y="3100869"/>
            <a:ext cx="1280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Harvester: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38467F-2A5B-0976-3D89-CDF246C7DA49}"/>
              </a:ext>
            </a:extLst>
          </p:cNvPr>
          <p:cNvSpPr txBox="1"/>
          <p:nvPr/>
        </p:nvSpPr>
        <p:spPr>
          <a:xfrm>
            <a:off x="568414" y="3893050"/>
            <a:ext cx="1280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Modulator: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8297C2D-2FF0-DFB7-206B-C4C8077C90CF}"/>
                  </a:ext>
                </a:extLst>
              </p:cNvPr>
              <p:cNvSpPr txBox="1"/>
              <p:nvPr/>
            </p:nvSpPr>
            <p:spPr>
              <a:xfrm>
                <a:off x="568414" y="4720181"/>
                <a:ext cx="42849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Harvesting power: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8297C2D-2FF0-DFB7-206B-C4C8077C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14" y="4720181"/>
                <a:ext cx="4284940" cy="369332"/>
              </a:xfrm>
              <a:prstGeom prst="rect">
                <a:avLst/>
              </a:prstGeom>
              <a:blipFill>
                <a:blip r:embed="rId12"/>
                <a:stretch>
                  <a:fillRect l="-1138" t="-4918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73510350-28A2-5465-0A57-55EB8C421EAB}"/>
              </a:ext>
            </a:extLst>
          </p:cNvPr>
          <p:cNvSpPr txBox="1"/>
          <p:nvPr/>
        </p:nvSpPr>
        <p:spPr>
          <a:xfrm>
            <a:off x="8997809" y="652992"/>
            <a:ext cx="2910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current structural damping of the beam is 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FA6DBCD-3EFA-9614-908D-C02347D7D381}"/>
                  </a:ext>
                </a:extLst>
              </p:cNvPr>
              <p:cNvSpPr txBox="1"/>
              <p:nvPr/>
            </p:nvSpPr>
            <p:spPr>
              <a:xfrm>
                <a:off x="568414" y="5329133"/>
                <a:ext cx="42849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Modulating power: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FA6DBCD-3EFA-9614-908D-C02347D7D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14" y="5329133"/>
                <a:ext cx="4284940" cy="369332"/>
              </a:xfrm>
              <a:prstGeom prst="rect">
                <a:avLst/>
              </a:prstGeom>
              <a:blipFill>
                <a:blip r:embed="rId13"/>
                <a:stretch>
                  <a:fillRect l="-113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3820596-D16C-4CA1-5A8F-D6BB5FBBDDE5}"/>
                  </a:ext>
                </a:extLst>
              </p:cNvPr>
              <p:cNvSpPr txBox="1"/>
              <p:nvPr/>
            </p:nvSpPr>
            <p:spPr>
              <a:xfrm>
                <a:off x="568414" y="5866548"/>
                <a:ext cx="42849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We 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 are prescribed</a:t>
                </a: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3820596-D16C-4CA1-5A8F-D6BB5FBBD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14" y="5866548"/>
                <a:ext cx="4284940" cy="369332"/>
              </a:xfrm>
              <a:prstGeom prst="rect">
                <a:avLst/>
              </a:prstGeom>
              <a:blipFill>
                <a:blip r:embed="rId14"/>
                <a:stretch>
                  <a:fillRect l="-113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2851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E948B-03A0-E89A-981B-5F4015412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A9FB5-1791-EE77-3920-F2893EF42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07" y="179640"/>
            <a:ext cx="10515600" cy="1325563"/>
          </a:xfrm>
        </p:spPr>
        <p:txBody>
          <a:bodyPr/>
          <a:lstStyle/>
          <a:p>
            <a:r>
              <a:rPr lang="en-US" dirty="0"/>
              <a:t>Power Flow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B89B6A-477D-EEAF-4265-F5CC5C96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ACDF22-F220-3F28-F193-CDF961883992}"/>
              </a:ext>
            </a:extLst>
          </p:cNvPr>
          <p:cNvGrpSpPr/>
          <p:nvPr/>
        </p:nvGrpSpPr>
        <p:grpSpPr>
          <a:xfrm>
            <a:off x="7625731" y="1690688"/>
            <a:ext cx="4390560" cy="4903851"/>
            <a:chOff x="7886988" y="1792601"/>
            <a:chExt cx="4390560" cy="490385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66B4F03-71A6-0892-4578-E67BF2E9F6A6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A6D38852-1379-A21E-66D7-33172C10B5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B8B8238-E0CA-51D2-7AAF-6EC6384C873F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CA5B75B2-A5C1-6F98-EED9-FD99B55B45D1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43BA03DE-FD0C-36F7-1101-9856390F2D59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30684566-0796-16D8-C493-F738CC54043B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9DDC3D66-35C9-DD05-5FF1-308DC00EA6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F8C3C0A7-CD9A-5765-367A-5457AC7555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F0712F30-7947-40EC-1076-8C7E3D1A32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3366440A-43F1-8161-765F-4C1F1F9221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C84CAD6B-A017-6E94-94DF-240582463A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929F7D18-4E69-1271-122B-B286225DB9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50A17144-0FDD-5F06-C78F-CD11E91D36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4D4888B7-F7B1-CA59-ADA0-EAA6E29580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07348D4B-C016-2AF1-5B74-C215274E6B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06D08B92-9F18-3037-7E73-E4B869E734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739477F-F9E7-1AD7-86BB-22B851AEB4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5401144-EACB-FDDB-50C1-A1E4133396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CCE1AC2-6C6B-1B86-B11A-3745594870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86676510-B2E5-3AEB-6029-452164B2C87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86676510-B2E5-3AEB-6029-452164B2C87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DA5C3F6-F2A0-EBBA-5B67-3410C2FD0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0CFA131-FA85-3DD8-FF78-F9BEBAA10F8D}"/>
                  </a:ext>
                </a:extLst>
              </p:cNvPr>
              <p:cNvSpPr txBox="1"/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0CFA131-FA85-3DD8-FF78-F9BEBAA10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0702219-A1A5-6C43-C99A-47A17002FDEF}"/>
                  </a:ext>
                </a:extLst>
              </p:cNvPr>
              <p:cNvSpPr txBox="1"/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0702219-A1A5-6C43-C99A-47A17002F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74CA6A86-62FE-B6A6-FA72-457EE666406A}"/>
              </a:ext>
            </a:extLst>
          </p:cNvPr>
          <p:cNvSpPr txBox="1"/>
          <p:nvPr/>
        </p:nvSpPr>
        <p:spPr>
          <a:xfrm>
            <a:off x="8997809" y="652992"/>
            <a:ext cx="2910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current structural damping of the beam is 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804E05-3BE7-C03C-2468-45867FD975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0519" y="3572299"/>
            <a:ext cx="3787534" cy="28406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3F5812-202E-61F0-9128-D98EFD8FE063}"/>
                  </a:ext>
                </a:extLst>
              </p:cNvPr>
              <p:cNvSpPr txBox="1"/>
              <p:nvPr/>
            </p:nvSpPr>
            <p:spPr>
              <a:xfrm>
                <a:off x="796353" y="1543349"/>
                <a:ext cx="609600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3F5812-202E-61F0-9128-D98EFD8FE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353" y="1543349"/>
                <a:ext cx="6096000" cy="16551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A64B08-8C70-3DB6-A401-B3A186FF6601}"/>
                  </a:ext>
                </a:extLst>
              </p:cNvPr>
              <p:cNvSpPr txBox="1"/>
              <p:nvPr/>
            </p:nvSpPr>
            <p:spPr>
              <a:xfrm>
                <a:off x="257901" y="3841511"/>
                <a:ext cx="3462618" cy="2689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Λ</m:t>
                                      </m:r>
                                    </m:e>
                                    <m:sub>
                                      <m: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.</m:t>
                          </m:r>
                        </m:e>
                      </m:d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𝜔</m:t>
                              </m:r>
                            </m:e>
                            <m:sub>
                              <m:r>
                                <a:rPr lang="en-US" i="1"/>
                                <m:t>𝑣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𝜔</m:t>
                              </m:r>
                            </m:e>
                            <m:sub>
                              <m:r>
                                <a:rPr lang="en-US" i="1"/>
                                <m:t>1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/>
                          </m:ctrlPr>
                        </m:sSupPr>
                        <m:e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/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𝑣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𝜒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1,1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/>
                                    <m:t>Θ</m:t>
                                  </m:r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𝜒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1,2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/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0" i="1" kern="10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f>
                                    <m:fPr>
                                      <m:ctrlPr>
                                        <a:rPr lang="en-US" i="1" kern="10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 kern="10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kern="10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 kern="10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𝑣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 kern="10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kern="10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kern="10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d>
                        </m:e>
                        <m:sup>
                          <m:r>
                            <a:rPr lang="en-US" b="0" i="1" kern="10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A64B08-8C70-3DB6-A401-B3A186FF6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01" y="3841511"/>
                <a:ext cx="3462618" cy="26894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1269B25-6E71-87A9-F1FE-B85E09D99817}"/>
              </a:ext>
            </a:extLst>
          </p:cNvPr>
          <p:cNvSpPr txBox="1"/>
          <p:nvPr/>
        </p:nvSpPr>
        <p:spPr>
          <a:xfrm>
            <a:off x="799359" y="3105834"/>
            <a:ext cx="4707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consider the previous simulation case</a:t>
            </a:r>
          </a:p>
        </p:txBody>
      </p:sp>
    </p:spTree>
    <p:extLst>
      <p:ext uri="{BB962C8B-B14F-4D97-AF65-F5344CB8AC3E}">
        <p14:creationId xmlns:p14="http://schemas.microsoft.com/office/powerpoint/2010/main" val="839362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4A822-75E3-FC63-A36E-304B60300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C88D5-E4F6-4DD0-3363-6E295984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The flux linkage response to base excitation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9041E4D-384C-E20A-EAE7-C0AE95F5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3364BF-CECE-A2AA-B248-5971BAD37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49" y="1799133"/>
            <a:ext cx="4335759" cy="32518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54A76D-FC9B-B546-E5AB-A5D478AB0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054" y="1941912"/>
            <a:ext cx="4335759" cy="32518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555884-FE71-43B8-298E-57FE96AA6A5B}"/>
              </a:ext>
            </a:extLst>
          </p:cNvPr>
          <p:cNvSpPr txBox="1"/>
          <p:nvPr/>
        </p:nvSpPr>
        <p:spPr>
          <a:xfrm>
            <a:off x="6983604" y="2692959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0.0037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492A61-0AFE-8ECD-59F7-5EAB7DE279CA}"/>
              </a:ext>
            </a:extLst>
          </p:cNvPr>
          <p:cNvSpPr txBox="1"/>
          <p:nvPr/>
        </p:nvSpPr>
        <p:spPr>
          <a:xfrm>
            <a:off x="8925429" y="3383155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1E90EF-5C2C-FA7B-FEC5-EDBDD80626B0}"/>
              </a:ext>
            </a:extLst>
          </p:cNvPr>
          <p:cNvSpPr txBox="1"/>
          <p:nvPr/>
        </p:nvSpPr>
        <p:spPr>
          <a:xfrm>
            <a:off x="1822289" y="2522869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0.0036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936A59-8322-AF46-633F-4800A415D665}"/>
              </a:ext>
            </a:extLst>
          </p:cNvPr>
          <p:cNvSpPr txBox="1"/>
          <p:nvPr/>
        </p:nvSpPr>
        <p:spPr>
          <a:xfrm>
            <a:off x="3652805" y="326136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0.0171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1ADAC2-2E4F-E0B8-AA8A-1C58A5392F35}"/>
              </a:ext>
            </a:extLst>
          </p:cNvPr>
          <p:cNvSpPr txBox="1"/>
          <p:nvPr/>
        </p:nvSpPr>
        <p:spPr>
          <a:xfrm>
            <a:off x="2487037" y="5050952"/>
            <a:ext cx="159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Old hysteresis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8C58EC-DCB1-DDE7-C7DD-C708F0FC07FD}"/>
              </a:ext>
            </a:extLst>
          </p:cNvPr>
          <p:cNvSpPr txBox="1"/>
          <p:nvPr/>
        </p:nvSpPr>
        <p:spPr>
          <a:xfrm>
            <a:off x="7417376" y="5130039"/>
            <a:ext cx="2106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Updated hysteresis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6D014D-AD2B-1F09-ABED-C74763DFB13C}"/>
              </a:ext>
            </a:extLst>
          </p:cNvPr>
          <p:cNvSpPr txBox="1"/>
          <p:nvPr/>
        </p:nvSpPr>
        <p:spPr>
          <a:xfrm>
            <a:off x="3292615" y="1385811"/>
            <a:ext cx="5811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we update the ROM, the hysteresis is slightly modified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F9263-37AE-1E57-5ED0-0E232971EA3E}"/>
                  </a:ext>
                </a:extLst>
              </p:cNvPr>
              <p:cNvSpPr txBox="1"/>
              <p:nvPr/>
            </p:nvSpPr>
            <p:spPr>
              <a:xfrm>
                <a:off x="1141367" y="5472189"/>
                <a:ext cx="5319661" cy="509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1800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Force: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F9263-37AE-1E57-5ED0-0E232971E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367" y="5472189"/>
                <a:ext cx="5319661" cy="509050"/>
              </a:xfrm>
              <a:prstGeom prst="rect">
                <a:avLst/>
              </a:prstGeom>
              <a:blipFill>
                <a:blip r:embed="rId4"/>
                <a:stretch>
                  <a:fillRect l="-916" b="-20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1337710-894E-3CA8-707D-21B817EA90B4}"/>
                  </a:ext>
                </a:extLst>
              </p:cNvPr>
              <p:cNvSpPr txBox="1"/>
              <p:nvPr/>
            </p:nvSpPr>
            <p:spPr>
              <a:xfrm>
                <a:off x="1141366" y="6058855"/>
                <a:ext cx="5842238" cy="412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Previous simulation case: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=−0.0155</m:t>
                    </m:r>
                  </m:oMath>
                </a14:m>
                <a:r>
                  <a:rPr lang="en-US" sz="1800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=0.039</m:t>
                    </m:r>
                    <m:sSup>
                      <m:sSupPr>
                        <m:ctrlP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/2</m:t>
                        </m:r>
                      </m:sup>
                    </m:sSup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1337710-894E-3CA8-707D-21B817EA9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366" y="6058855"/>
                <a:ext cx="5842238" cy="412998"/>
              </a:xfrm>
              <a:prstGeom prst="rect">
                <a:avLst/>
              </a:prstGeom>
              <a:blipFill>
                <a:blip r:embed="rId5"/>
                <a:stretch>
                  <a:fillRect l="-834" b="-2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925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FC916-68E7-AC74-D750-7332305B1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67C59-7EFF-3E8D-7E93-7EEDA3BC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The flux linkage response to base excitation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B527931-A9E6-B802-9841-34D9E28C7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DA63D2-D6CE-8FC3-2605-5F16B80FC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856" y="3285907"/>
            <a:ext cx="3420359" cy="25652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ADA328-35D7-910C-38E8-6081AD609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046" y="3285908"/>
            <a:ext cx="3492810" cy="26196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631BDC-C2DB-0952-E87C-DED6F190A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236" y="3285909"/>
            <a:ext cx="3492810" cy="26196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EF027D-A057-0DB7-8B4B-2737EE15B012}"/>
              </a:ext>
            </a:extLst>
          </p:cNvPr>
          <p:cNvSpPr txBox="1"/>
          <p:nvPr/>
        </p:nvSpPr>
        <p:spPr>
          <a:xfrm>
            <a:off x="625615" y="1737607"/>
            <a:ext cx="4748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Frequency of modulator: 501rad/s</a:t>
            </a:r>
          </a:p>
          <a:p>
            <a:r>
              <a:rPr lang="en-US" dirty="0"/>
              <a:t>Frequency of base excitation: 500rad/s</a:t>
            </a:r>
          </a:p>
          <a:p>
            <a:r>
              <a:rPr lang="en-US" dirty="0"/>
              <a:t>Natural frequency of the first mode: 570rad/s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1ECC8D-9728-80BC-F2E0-55B620123541}"/>
                  </a:ext>
                </a:extLst>
              </p:cNvPr>
              <p:cNvSpPr txBox="1"/>
              <p:nvPr/>
            </p:nvSpPr>
            <p:spPr>
              <a:xfrm>
                <a:off x="5883415" y="1737607"/>
                <a:ext cx="581100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Normalized amplitude of base excitation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=−0.0155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Normalized amplitude of the modulator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039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1ECC8D-9728-80BC-F2E0-55B620123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415" y="1737607"/>
                <a:ext cx="5811008" cy="923330"/>
              </a:xfrm>
              <a:prstGeom prst="rect">
                <a:avLst/>
              </a:prstGeom>
              <a:blipFill>
                <a:blip r:embed="rId5"/>
                <a:stretch>
                  <a:fillRect l="-839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8809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55C33-E672-A899-D611-A91999C9E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4DCE9-9205-34BE-68A2-AA1784D76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The flux linkage response to base excitation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F9DA43B-2B71-F501-45A2-164DC91A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DC6A4F-727C-C0BC-1920-C7BCBA75E4A1}"/>
              </a:ext>
            </a:extLst>
          </p:cNvPr>
          <p:cNvSpPr txBox="1"/>
          <p:nvPr/>
        </p:nvSpPr>
        <p:spPr>
          <a:xfrm>
            <a:off x="625615" y="1737607"/>
            <a:ext cx="4748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Frequency of modulator: 503rad/s</a:t>
            </a:r>
          </a:p>
          <a:p>
            <a:r>
              <a:rPr lang="en-US" dirty="0"/>
              <a:t>Frequency of base excitation: 500rad/s</a:t>
            </a:r>
          </a:p>
          <a:p>
            <a:r>
              <a:rPr lang="en-US" dirty="0"/>
              <a:t>Natural frequency of the first mode: 570rad/s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9A61DB-A943-D1DC-63AF-5BBD2D1D1F11}"/>
                  </a:ext>
                </a:extLst>
              </p:cNvPr>
              <p:cNvSpPr txBox="1"/>
              <p:nvPr/>
            </p:nvSpPr>
            <p:spPr>
              <a:xfrm>
                <a:off x="5883415" y="1737607"/>
                <a:ext cx="581100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Normalized amplitude of base excitation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=−0.0155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Normalized amplitude of the modulator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039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9A61DB-A943-D1DC-63AF-5BBD2D1D1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415" y="1737607"/>
                <a:ext cx="5811008" cy="923330"/>
              </a:xfrm>
              <a:prstGeom prst="rect">
                <a:avLst/>
              </a:prstGeom>
              <a:blipFill>
                <a:blip r:embed="rId2"/>
                <a:stretch>
                  <a:fillRect l="-839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3B48A65-8E9D-977E-0B80-A513F0116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956" y="3429000"/>
            <a:ext cx="3492808" cy="26196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34318D-3CF6-CD3F-05A0-99D10156B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42" y="3428999"/>
            <a:ext cx="3492809" cy="26196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03DB38-B5B0-02B1-C069-DD56C18D3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8045" y="3428998"/>
            <a:ext cx="3492809" cy="261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933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DB1EE-B091-5B56-2F5E-76A8B9FF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71281-C15E-C4B6-9E2F-ED92C8DE7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The flux linkage response to base excitation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BC8C543-C3EB-4B2F-3C4F-EAA13D09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1EA6CC-9767-DE83-BEF4-6E9FCEDB60C9}"/>
              </a:ext>
            </a:extLst>
          </p:cNvPr>
          <p:cNvSpPr txBox="1"/>
          <p:nvPr/>
        </p:nvSpPr>
        <p:spPr>
          <a:xfrm>
            <a:off x="625615" y="1737607"/>
            <a:ext cx="4748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Frequency of modulator: 503rad/s</a:t>
            </a:r>
          </a:p>
          <a:p>
            <a:r>
              <a:rPr lang="en-US" dirty="0"/>
              <a:t>Frequency of base excitation: 500rad/s</a:t>
            </a:r>
          </a:p>
          <a:p>
            <a:r>
              <a:rPr lang="en-US" dirty="0"/>
              <a:t>Natural frequency of the first mode: 570rad/s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F47038-D6A4-41E9-03C7-45F38301858A}"/>
                  </a:ext>
                </a:extLst>
              </p:cNvPr>
              <p:cNvSpPr txBox="1"/>
              <p:nvPr/>
            </p:nvSpPr>
            <p:spPr>
              <a:xfrm>
                <a:off x="5883415" y="1737607"/>
                <a:ext cx="581100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Normalized amplitude of base excitation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=−0.0155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Normalized amplitude of the modulator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F47038-D6A4-41E9-03C7-45F383018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415" y="1737607"/>
                <a:ext cx="5811008" cy="923330"/>
              </a:xfrm>
              <a:prstGeom prst="rect">
                <a:avLst/>
              </a:prstGeom>
              <a:blipFill>
                <a:blip r:embed="rId2"/>
                <a:stretch>
                  <a:fillRect l="-839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3D3D4F19-69C2-001B-2B59-966A7444F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42" y="3428999"/>
            <a:ext cx="3492809" cy="26196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6BFA43-5EB3-BBEC-B1D5-830688552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848" y="3428998"/>
            <a:ext cx="3492811" cy="26196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07F32E-7EBE-17D0-8BC3-7C5748865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8045" y="3428998"/>
            <a:ext cx="3492809" cy="261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014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FE659-880A-2A0F-16C8-A28EC9726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31B1-FCBD-2194-7CE3-386649115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The flux linkage response to base excitation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8C08EAD-79EF-B520-B7A5-9EC551210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8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322241-7B15-90B0-0FE6-000877BBB43A}"/>
              </a:ext>
            </a:extLst>
          </p:cNvPr>
          <p:cNvSpPr txBox="1"/>
          <p:nvPr/>
        </p:nvSpPr>
        <p:spPr>
          <a:xfrm>
            <a:off x="625615" y="1737607"/>
            <a:ext cx="4748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Frequency of modulator: 505rad/s</a:t>
            </a:r>
          </a:p>
          <a:p>
            <a:r>
              <a:rPr lang="en-US" dirty="0"/>
              <a:t>Frequency of base excitation: 500rad/s</a:t>
            </a:r>
          </a:p>
          <a:p>
            <a:r>
              <a:rPr lang="en-US" dirty="0"/>
              <a:t>Natural frequency of the first mode: 570rad/s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DE695F-2AB8-2DFD-B644-9ED07EC22D1C}"/>
                  </a:ext>
                </a:extLst>
              </p:cNvPr>
              <p:cNvSpPr txBox="1"/>
              <p:nvPr/>
            </p:nvSpPr>
            <p:spPr>
              <a:xfrm>
                <a:off x="5883415" y="1737607"/>
                <a:ext cx="581100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Normalized amplitude of base excitation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=−0.0155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Normalized amplitude of the modulator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=0.0062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DE695F-2AB8-2DFD-B644-9ED07EC22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415" y="1737607"/>
                <a:ext cx="5811008" cy="923330"/>
              </a:xfrm>
              <a:prstGeom prst="rect">
                <a:avLst/>
              </a:prstGeom>
              <a:blipFill>
                <a:blip r:embed="rId2"/>
                <a:stretch>
                  <a:fillRect l="-839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6212C2C-95C6-9315-D751-84618BB15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595" y="3428998"/>
            <a:ext cx="3492809" cy="26196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AC6BA9-E4FB-E030-1415-A20D5F44F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683" y="3428998"/>
            <a:ext cx="3492809" cy="26196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167C1E-6EC3-0C33-47AE-D99530C64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15" y="3428997"/>
            <a:ext cx="3492809" cy="261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69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7EB6C-A46C-EFA3-32F0-EFD1A80FC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708EB-6890-D9E5-291B-624F234AF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The flux linkage response to base excitation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981A85-F123-5783-C6BA-C4C9A827A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9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6B5FC-FA8A-543D-17E0-6440E77C6617}"/>
              </a:ext>
            </a:extLst>
          </p:cNvPr>
          <p:cNvSpPr txBox="1"/>
          <p:nvPr/>
        </p:nvSpPr>
        <p:spPr>
          <a:xfrm>
            <a:off x="625615" y="1737607"/>
            <a:ext cx="4748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Frequency of modulator: 510rad/s</a:t>
            </a:r>
          </a:p>
          <a:p>
            <a:r>
              <a:rPr lang="en-US" dirty="0"/>
              <a:t>Frequency of base excitation: 500rad/s</a:t>
            </a:r>
          </a:p>
          <a:p>
            <a:r>
              <a:rPr lang="en-US" dirty="0"/>
              <a:t>Natural frequency of the first mode: 570rad/s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CCE550-AE5B-A369-8AC2-4454D5F14193}"/>
                  </a:ext>
                </a:extLst>
              </p:cNvPr>
              <p:cNvSpPr txBox="1"/>
              <p:nvPr/>
            </p:nvSpPr>
            <p:spPr>
              <a:xfrm>
                <a:off x="5883415" y="1737607"/>
                <a:ext cx="581100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Normalized amplitude of base excitation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=−0.0155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Normalized amplitude of the modulator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=0.0062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CCE550-AE5B-A369-8AC2-4454D5F14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415" y="1737607"/>
                <a:ext cx="5811008" cy="923330"/>
              </a:xfrm>
              <a:prstGeom prst="rect">
                <a:avLst/>
              </a:prstGeom>
              <a:blipFill>
                <a:blip r:embed="rId2"/>
                <a:stretch>
                  <a:fillRect l="-839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47DD349A-4B56-9C37-9397-9763E2FB6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15" y="3428997"/>
            <a:ext cx="3492809" cy="26196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E6696E-440D-27AB-C5F0-F6707C9D5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795" y="3428997"/>
            <a:ext cx="3492809" cy="2619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E6D7A7-1CCD-B939-F597-87C192CE4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605" y="3428996"/>
            <a:ext cx="3492809" cy="261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076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43575</TotalTime>
  <Words>492</Words>
  <Application>Microsoft Office PowerPoint</Application>
  <PresentationFormat>Widescreen</PresentationFormat>
  <Paragraphs>77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DengXian</vt:lpstr>
      <vt:lpstr>Aptos</vt:lpstr>
      <vt:lpstr>Aptos Display</vt:lpstr>
      <vt:lpstr>Arial</vt:lpstr>
      <vt:lpstr>Cambria Math</vt:lpstr>
      <vt:lpstr>Office Theme</vt:lpstr>
      <vt:lpstr>Update: Piezo-energy harvesting</vt:lpstr>
      <vt:lpstr>Analytical Foundation – a Review</vt:lpstr>
      <vt:lpstr>Power Flow</vt:lpstr>
      <vt:lpstr>The flux linkage response to base excitation</vt:lpstr>
      <vt:lpstr>The flux linkage response to base excitation</vt:lpstr>
      <vt:lpstr>The flux linkage response to base excitation</vt:lpstr>
      <vt:lpstr>The flux linkage response to base excitation</vt:lpstr>
      <vt:lpstr>The flux linkage response to base excitation</vt:lpstr>
      <vt:lpstr>The flux linkage response to base excitation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Chongan</dc:creator>
  <cp:lastModifiedBy>Wang, Chongan</cp:lastModifiedBy>
  <cp:revision>14</cp:revision>
  <dcterms:created xsi:type="dcterms:W3CDTF">2024-08-07T05:48:52Z</dcterms:created>
  <dcterms:modified xsi:type="dcterms:W3CDTF">2025-02-04T19:10:37Z</dcterms:modified>
</cp:coreProperties>
</file>