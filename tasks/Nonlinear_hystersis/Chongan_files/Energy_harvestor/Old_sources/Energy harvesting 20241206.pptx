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05" r:id="rId3"/>
    <p:sldId id="306" r:id="rId4"/>
    <p:sldId id="317" r:id="rId5"/>
    <p:sldId id="318" r:id="rId6"/>
    <p:sldId id="319" r:id="rId7"/>
    <p:sldId id="321" r:id="rId8"/>
    <p:sldId id="322" r:id="rId9"/>
    <p:sldId id="323" r:id="rId10"/>
    <p:sldId id="324" r:id="rId11"/>
    <p:sldId id="325" r:id="rId12"/>
    <p:sldId id="320" r:id="rId13"/>
    <p:sldId id="307" r:id="rId14"/>
    <p:sldId id="308" r:id="rId15"/>
    <p:sldId id="310" r:id="rId16"/>
    <p:sldId id="309" r:id="rId17"/>
    <p:sldId id="311" r:id="rId18"/>
    <p:sldId id="31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835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22983-65D5-450E-B313-12E3224DDE6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CF7D2-8AC6-413C-B08F-B46CAE9F3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1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62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17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6514C-AE2C-5F96-700C-4305A5962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7954E-91B2-0A54-2824-9486B1971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F2295-0E1F-C1BF-A6DB-1C5FDE960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5C739-1278-28D4-A470-0BEA0BAC5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5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8837A-E0F0-F3F8-4BB3-914A4F2A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E8AA2-16F4-0426-04DB-D86C54A1A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075C4-C1D2-DA1B-D931-F07113CF4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3E17B-2F8D-82E6-814F-6C16D9B1E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94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B473-11E5-D04D-DAFC-73F35F34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8E9C7-59E7-A6AC-F441-56ABEE09E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2B2BF-E2CE-C883-4C5E-9158E9062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17CA0-C8BD-1038-D1D3-929F5F5B6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06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206D-8CC8-D226-2185-B80C32AD5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96B9A-F9B0-3CB9-FFEC-010CFF5CC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7F90A-6499-A6D4-7C86-BFC6C9A1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10F58-50B1-B4AC-9B58-E021B5E6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FDAB-E970-E623-4F37-B185435F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6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CFAC-428E-5F63-E50C-CE876F0E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7AC36-5EEC-78B2-6AC2-E31E35A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DDEE-BD6A-85B8-B564-594C8DF4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97150-FFDC-317A-A5A1-595C8D43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D4145-DDEB-7163-77D3-1F073C5F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3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B1D7-1E0B-8D3F-5F92-BE8EA636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C2E51-3A4A-D68B-9C9A-C23E7F968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A867-AFFF-F620-0E9B-90EE7123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6F41-5263-A641-E762-AE999D65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E4C99-9501-7638-14EA-B96EBFDD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3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EF35-043F-EC1D-3101-683AD9B8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2D01-06EB-4271-CCC6-DB46BC56A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2D544-B885-38C9-8213-DCEE93FD7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0BA1E-F139-F06C-9FE5-6B0BDA69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C3344-3B1A-7879-83E2-BBA70DBB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7064E-4ED3-F306-CB4B-1B0611BA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4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DA8B-5D9F-E32E-CCCD-B50A662A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5FEE4-56B1-00DC-03DC-701373F64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48F5B-A032-E4CC-E548-11ACF5DBE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E84C1-B7E6-A981-6577-04E43BF33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F3C19-8530-19E0-505B-99832D91B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71AC8-9182-802D-25B6-DBCB75D9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D7F06-C4A7-51B8-788C-3AF839D5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6BBE7-8F2D-39F0-047B-4E6FC894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1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F036-4F68-080B-1C35-CD0C6463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C39440-8687-090B-9648-B92EE855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DE667-201D-0D9A-082A-CB24A82A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844C8-4136-AB29-0BB2-FAD16EFA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0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E53CE-4E2D-4C2D-6564-B561D667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563A8-5855-A512-742B-C6D2AE20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9B25D-05A8-63EA-FC42-7BD478F5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E865-335A-EDAA-00A0-A06C6455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7D51-8D19-D415-2C48-AC57682CB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ECDAC-1577-C68D-EF34-1DA74FB70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24AC9-C3A3-0095-1A72-45EF189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7F24D-881D-D933-E03C-70DE0DB7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AA8E1-3CF0-BF02-C835-F9B24D81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9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6A35-DC9A-62D8-F8A1-05474AB5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C548B-CF5E-7044-3642-687F2B4B2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6BA9C-0AE3-349C-5722-75A559562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2958A-E3D6-8E4C-B127-6B238A0D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AFF0-40B9-CF25-CDC5-0680180C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E1906-8242-B3B6-3ADA-91F3247A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2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E819-EBA9-8D07-2E65-41F989C0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CF636-C7F2-2960-DF28-BA683553C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B85C0-52CC-6CF1-0AA6-5FD691E6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93D1-2B2F-95BB-0258-B317E6C5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E378-AC65-26C2-CFFF-12F8C0DC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5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4000D-51D9-698E-6FD0-527D70F82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8BE10-5192-90AD-C862-93C245B8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39F32-847C-4F6A-8EEE-D8B23FB2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3FCC6-A878-A3F9-6EFF-F7D940FD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98CC-0396-0B30-C5EB-D81A0F76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4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DAC16-02B0-220E-3C43-7008D049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8D148-CDCF-225F-7DDF-774E9117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7D75-39FF-5186-2CA1-C1D0FEF68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6283B-7C59-4350-800E-2D64C9A7762D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C1D5-8C58-CD54-FE24-4B33B1821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37FE-FEA9-4181-09A7-CFE03F8E2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1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65.png"/><Relationship Id="rId7" Type="http://schemas.openxmlformats.org/officeDocument/2006/relationships/image" Target="../media/image12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70.png"/><Relationship Id="rId4" Type="http://schemas.openxmlformats.org/officeDocument/2006/relationships/image" Target="../media/image11.emf"/><Relationship Id="rId9" Type="http://schemas.openxmlformats.org/officeDocument/2006/relationships/image" Target="../media/image6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21.png"/><Relationship Id="rId5" Type="http://schemas.openxmlformats.org/officeDocument/2006/relationships/image" Target="../media/image5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50.png"/><Relationship Id="rId7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12.png"/><Relationship Id="rId5" Type="http://schemas.openxmlformats.org/officeDocument/2006/relationships/image" Target="../media/image61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0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10" Type="http://schemas.openxmlformats.org/officeDocument/2006/relationships/image" Target="../media/image160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170.png"/><Relationship Id="rId7" Type="http://schemas.openxmlformats.org/officeDocument/2006/relationships/image" Target="../media/image2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240.png"/><Relationship Id="rId5" Type="http://schemas.openxmlformats.org/officeDocument/2006/relationships/image" Target="../media/image180.png"/><Relationship Id="rId10" Type="http://schemas.openxmlformats.org/officeDocument/2006/relationships/image" Target="../media/image230.png"/><Relationship Id="rId4" Type="http://schemas.openxmlformats.org/officeDocument/2006/relationships/image" Target="../media/image2.png"/><Relationship Id="rId9" Type="http://schemas.openxmlformats.org/officeDocument/2006/relationships/image" Target="../media/image2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70.png"/><Relationship Id="rId7" Type="http://schemas.openxmlformats.org/officeDocument/2006/relationships/image" Target="../media/image2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29.png"/><Relationship Id="rId5" Type="http://schemas.openxmlformats.org/officeDocument/2006/relationships/image" Target="../media/image180.png"/><Relationship Id="rId10" Type="http://schemas.openxmlformats.org/officeDocument/2006/relationships/image" Target="../media/image280.png"/><Relationship Id="rId4" Type="http://schemas.openxmlformats.org/officeDocument/2006/relationships/image" Target="../media/image2.png"/><Relationship Id="rId9" Type="http://schemas.openxmlformats.org/officeDocument/2006/relationships/image" Target="../media/image2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70.png"/><Relationship Id="rId7" Type="http://schemas.openxmlformats.org/officeDocument/2006/relationships/image" Target="../media/image3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7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38.png"/><Relationship Id="rId5" Type="http://schemas.openxmlformats.org/officeDocument/2006/relationships/image" Target="../media/image180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7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42.png"/><Relationship Id="rId5" Type="http://schemas.openxmlformats.org/officeDocument/2006/relationships/image" Target="../media/image180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E5E0F0-D06E-8966-4394-D898EE18E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Update: Piezo-energy harvesting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26BC22-FBD1-FB20-A1DA-E2A168474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Chongan Wang</a:t>
            </a:r>
          </a:p>
          <a:p>
            <a:r>
              <a:rPr lang="en-US" dirty="0"/>
              <a:t>2024-11-22</a:t>
            </a:r>
          </a:p>
        </p:txBody>
      </p:sp>
    </p:spTree>
    <p:extLst>
      <p:ext uri="{BB962C8B-B14F-4D97-AF65-F5344CB8AC3E}">
        <p14:creationId xmlns:p14="http://schemas.microsoft.com/office/powerpoint/2010/main" val="38452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26663-2986-0723-FDFE-B5E4D0A67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E069-804C-78A2-6EC6-A7C3F7073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51CE3DD-00A4-96A0-5107-833EC2BA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50225-E91C-14DF-7768-D8798F71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440" y="2747627"/>
            <a:ext cx="2060328" cy="32895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6F8FD96-2C9F-AE82-B9B9-3AD1E9DBA157}"/>
              </a:ext>
            </a:extLst>
          </p:cNvPr>
          <p:cNvGrpSpPr/>
          <p:nvPr/>
        </p:nvGrpSpPr>
        <p:grpSpPr>
          <a:xfrm>
            <a:off x="7886988" y="1792601"/>
            <a:ext cx="2839932" cy="4903851"/>
            <a:chOff x="7428330" y="1452499"/>
            <a:chExt cx="2839932" cy="490385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E13497-C91C-C95A-A369-818C88793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8330" y="3066751"/>
              <a:ext cx="2060328" cy="3289599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7EE9325-4ECF-1A26-8B90-C6553438FC20}"/>
                </a:ext>
              </a:extLst>
            </p:cNvPr>
            <p:cNvGrpSpPr/>
            <p:nvPr/>
          </p:nvGrpSpPr>
          <p:grpSpPr>
            <a:xfrm>
              <a:off x="7748689" y="1452499"/>
              <a:ext cx="2519573" cy="1881611"/>
              <a:chOff x="7748689" y="1452499"/>
              <a:chExt cx="2519573" cy="188161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30B476D-E5B9-1952-6B2B-BA6A3DD49F35}"/>
                  </a:ext>
                </a:extLst>
              </p:cNvPr>
              <p:cNvCxnSpPr/>
              <p:nvPr/>
            </p:nvCxnSpPr>
            <p:spPr>
              <a:xfrm flipV="1">
                <a:off x="8032173" y="1690688"/>
                <a:ext cx="0" cy="16032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A149817-FC3F-48BF-4F9C-1FCE70A122C6}"/>
                  </a:ext>
                </a:extLst>
              </p:cNvPr>
              <p:cNvCxnSpPr/>
              <p:nvPr/>
            </p:nvCxnSpPr>
            <p:spPr>
              <a:xfrm flipV="1">
                <a:off x="8107725" y="1730880"/>
                <a:ext cx="0" cy="16032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20B4CDF-954D-3274-BC43-79597DF2C25D}"/>
                  </a:ext>
                </a:extLst>
              </p:cNvPr>
              <p:cNvCxnSpPr/>
              <p:nvPr/>
            </p:nvCxnSpPr>
            <p:spPr>
              <a:xfrm flipV="1">
                <a:off x="8904799" y="1513329"/>
                <a:ext cx="0" cy="16032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C078A5E-5F9C-C0C9-14F2-BBDD4D285F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32173" y="1460342"/>
                <a:ext cx="790280" cy="232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C0A476-1398-823C-6E4A-E308C5B8C4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519" y="1513329"/>
                <a:ext cx="790280" cy="232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DE10B5C-1678-A3AC-4FC3-A69982E01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0408" y="1452499"/>
                <a:ext cx="104390" cy="608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6B5BEBA-081B-4384-CE96-0534F64DE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840" y="1693314"/>
                <a:ext cx="104390" cy="608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9133797-A759-325B-A9AD-F4A0F8E30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840" y="3234849"/>
                <a:ext cx="104390" cy="608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BBB4C9-F3C5-71F4-DB8E-7652D7519F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518" y="3052148"/>
                <a:ext cx="790280" cy="232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B337062-F4DB-8557-D66E-ADC6B34FF2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0600" y="2492303"/>
                <a:ext cx="434313" cy="1842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665E364-C9A7-4693-F5CC-60049ED64D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8689" y="2173270"/>
                <a:ext cx="264980" cy="11242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AA2DA87-B1C7-B92C-6471-9F359D7AA6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8689" y="2039629"/>
                <a:ext cx="293818" cy="1318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AE946DA-7BB4-0312-D87D-915163345D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98004" y="1591849"/>
                <a:ext cx="293818" cy="1318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CB88514-76EF-B578-3B3A-C8A5D675EC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44913" y="2138828"/>
                <a:ext cx="1223349" cy="5373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636A725-3961-2753-CE10-748ADE0A5C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98617" y="1591849"/>
                <a:ext cx="309725" cy="153811"/>
              </a:xfrm>
              <a:prstGeom prst="line">
                <a:avLst/>
              </a:prstGeom>
              <a:ln>
                <a:head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FA1D56D-D9ED-2411-AA55-0F2D736629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58537" y="1984670"/>
                <a:ext cx="309725" cy="153811"/>
              </a:xfrm>
              <a:prstGeom prst="line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CD387317-E3B7-F814-4913-093D34C32DB5}"/>
                      </a:ext>
                    </a:extLst>
                  </p:cNvPr>
                  <p:cNvSpPr txBox="1"/>
                  <p:nvPr/>
                </p:nvSpPr>
                <p:spPr>
                  <a:xfrm>
                    <a:off x="9419035" y="1651741"/>
                    <a:ext cx="6522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CD387317-E3B7-F814-4913-093D34C32D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19035" y="1651741"/>
                    <a:ext cx="65229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FB537D4-FAF1-A0E9-0AED-185653857D3B}"/>
              </a:ext>
            </a:extLst>
          </p:cNvPr>
          <p:cNvSpPr txBox="1"/>
          <p:nvPr/>
        </p:nvSpPr>
        <p:spPr>
          <a:xfrm>
            <a:off x="651606" y="6169580"/>
            <a:ext cx="3809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Previous work in Obaidullah’s paper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59AFF1-DC53-5209-4630-7DA9B5C48D71}"/>
              </a:ext>
            </a:extLst>
          </p:cNvPr>
          <p:cNvSpPr txBox="1"/>
          <p:nvPr/>
        </p:nvSpPr>
        <p:spPr>
          <a:xfrm>
            <a:off x="4358282" y="2760522"/>
            <a:ext cx="328936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We consider two piezoelectric patches</a:t>
            </a:r>
          </a:p>
          <a:p>
            <a:pPr>
              <a:spcAft>
                <a:spcPts val="1200"/>
              </a:spcAft>
            </a:pPr>
            <a:r>
              <a:rPr lang="en-US" dirty="0"/>
              <a:t>A voltage signal is applied on the piezoelectric patch near the tip</a:t>
            </a:r>
          </a:p>
          <a:p>
            <a:pPr>
              <a:spcAft>
                <a:spcPts val="1200"/>
              </a:spcAft>
            </a:pPr>
            <a:r>
              <a:rPr lang="en-US" dirty="0"/>
              <a:t>The piezoelectric patches near the base is shunted by the following nonlinear circuit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3407D47-915A-C755-6E41-3B346E2BC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090" y="1701349"/>
            <a:ext cx="2823028" cy="79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7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7784-0F26-01B0-6D16-B0F259DF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E35D-55CA-5738-5D0F-00807A30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07" y="179640"/>
            <a:ext cx="10515600" cy="1325563"/>
          </a:xfrm>
        </p:spPr>
        <p:txBody>
          <a:bodyPr/>
          <a:lstStyle/>
          <a:p>
            <a:r>
              <a:rPr lang="en-US" dirty="0"/>
              <a:t>Analytical Foundation – a Review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24337F-F0B6-F0B6-2F6C-2953E53D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C6B1B4-E198-32DE-AD91-DA203BB71547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144FFB4-35D8-13FB-EE93-41D7A9854CBA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31F6474-2BBE-B5B1-E4DB-295A07A23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D1D3BE6-0733-D497-5A6F-D16E8846037E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2C849AB0-CDA1-3685-4F21-82E067C63D59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643DD884-B367-5509-3EF4-C8648D3056B3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3791194F-76BF-FBEC-1032-0BEC960664BA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E89DB06-DB8F-F02A-0EFF-1EC0D92D94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CACB98B-AA89-8FE4-E179-DD4386EA40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523A1172-C5A0-459B-C650-DEAA0C1BE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C79BAF5-03F5-4956-B0C8-8769EB59B8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AFD6FBC-161B-A572-0606-AB31E7B11A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55CA9DE-9BEB-818D-A776-0A5A527A4D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9E418B5-972D-CE74-73E6-CCAE341D8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2F01DF3-3121-C62C-F5AC-9EB2A50E8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4C12270-0B61-6EC6-8D75-0DF4E9804B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FC540EA-C45E-9185-2665-8CE491F72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4D72E2E-E04D-ABF0-DA42-D29B838AB0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0509CAE-8F8A-FBA0-8203-7A293D5C2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3CE0584-0EDD-7C2B-34D6-9510664E6F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CB9A5D6-3232-101B-99BD-1A68F774F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795BE9-40DF-C9B3-DABF-3B1A2AFC43E7}"/>
                  </a:ext>
                </a:extLst>
              </p:cNvPr>
              <p:cNvSpPr txBox="1"/>
              <p:nvPr/>
            </p:nvSpPr>
            <p:spPr>
              <a:xfrm>
                <a:off x="333518" y="1906943"/>
                <a:ext cx="7785847" cy="65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𝑌𝐼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795BE9-40DF-C9B3-DABF-3B1A2AFC4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18" y="1906943"/>
                <a:ext cx="7785847" cy="6505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6B83B7-5AE7-3595-4F8A-1632138DD098}"/>
                  </a:ext>
                </a:extLst>
              </p:cNvPr>
              <p:cNvSpPr txBox="1"/>
              <p:nvPr/>
            </p:nvSpPr>
            <p:spPr>
              <a:xfrm>
                <a:off x="2657063" y="1320500"/>
                <a:ext cx="2700493" cy="586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6B83B7-5AE7-3595-4F8A-1632138DD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063" y="1320500"/>
                <a:ext cx="2700493" cy="586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8A7A75C-F221-37AC-D7A9-3C45E09636EA}"/>
              </a:ext>
            </a:extLst>
          </p:cNvPr>
          <p:cNvSpPr txBox="1"/>
          <p:nvPr/>
        </p:nvSpPr>
        <p:spPr>
          <a:xfrm>
            <a:off x="704033" y="1494385"/>
            <a:ext cx="2471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Governing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1CAC02-0F9A-942D-276F-14A8E7B8DC9A}"/>
                  </a:ext>
                </a:extLst>
              </p:cNvPr>
              <p:cNvSpPr txBox="1"/>
              <p:nvPr/>
            </p:nvSpPr>
            <p:spPr>
              <a:xfrm>
                <a:off x="708213" y="2770684"/>
                <a:ext cx="6847462" cy="698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subSup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1CAC02-0F9A-942D-276F-14A8E7B8D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13" y="2770684"/>
                <a:ext cx="6847462" cy="698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05AC88-8EF6-D1BD-674A-6C0E22FEA7AD}"/>
                  </a:ext>
                </a:extLst>
              </p:cNvPr>
              <p:cNvSpPr txBox="1"/>
              <p:nvPr/>
            </p:nvSpPr>
            <p:spPr>
              <a:xfrm>
                <a:off x="954034" y="4497426"/>
                <a:ext cx="609600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05AC88-8EF6-D1BD-674A-6C0E22FEA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034" y="4497426"/>
                <a:ext cx="6096000" cy="16551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C89ACEA-1845-FF76-8432-B480CD65ACD4}"/>
              </a:ext>
            </a:extLst>
          </p:cNvPr>
          <p:cNvSpPr txBox="1"/>
          <p:nvPr/>
        </p:nvSpPr>
        <p:spPr>
          <a:xfrm>
            <a:off x="2657063" y="4170260"/>
            <a:ext cx="1904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Normalized ROM</a:t>
            </a:r>
          </a:p>
        </p:txBody>
      </p:sp>
    </p:spTree>
    <p:extLst>
      <p:ext uri="{BB962C8B-B14F-4D97-AF65-F5344CB8AC3E}">
        <p14:creationId xmlns:p14="http://schemas.microsoft.com/office/powerpoint/2010/main" val="3602851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D724-7C57-A832-4FC6-DF2401459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5EFD7-DFF9-B1E2-0751-F3FF1255B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Hystere</a:t>
            </a:r>
            <a:r>
              <a:rPr lang="en-US" altLang="zh-CN" dirty="0"/>
              <a:t>sis Loop and Responses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8EF9EE-1089-4760-8B31-C81B39D4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C3805D-389E-2B6C-EFB3-26F5B46FAD81}"/>
                  </a:ext>
                </a:extLst>
              </p:cNvPr>
              <p:cNvSpPr txBox="1"/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C3805D-389E-2B6C-EFB3-26F5B46FA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BFD10F-7119-4E76-765C-0E5780E07C35}"/>
                  </a:ext>
                </a:extLst>
              </p:cNvPr>
              <p:cNvSpPr txBox="1"/>
              <p:nvPr/>
            </p:nvSpPr>
            <p:spPr>
              <a:xfrm>
                <a:off x="3920716" y="1668390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BFD10F-7119-4E76-765C-0E5780E07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6" y="1668390"/>
                <a:ext cx="1764931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9E544BF-13A8-938E-6693-5504184A1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81" y="1426569"/>
            <a:ext cx="3191934" cy="239395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A25EDF-90DB-EFDD-BE42-B588541F8104}"/>
              </a:ext>
            </a:extLst>
          </p:cNvPr>
          <p:cNvCxnSpPr/>
          <p:nvPr/>
        </p:nvCxnSpPr>
        <p:spPr>
          <a:xfrm flipV="1">
            <a:off x="2964586" y="1635700"/>
            <a:ext cx="0" cy="18944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B69A63-1B7E-0CB5-D095-F90AED3B36DE}"/>
                  </a:ext>
                </a:extLst>
              </p:cNvPr>
              <p:cNvSpPr txBox="1"/>
              <p:nvPr/>
            </p:nvSpPr>
            <p:spPr>
              <a:xfrm>
                <a:off x="3920715" y="2126624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=−0.0146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B69A63-1B7E-0CB5-D095-F90AED3B3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5" y="2126624"/>
                <a:ext cx="176493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4B6CA3-4127-A7D0-C690-BA6AA5D77F3C}"/>
                  </a:ext>
                </a:extLst>
              </p:cNvPr>
              <p:cNvSpPr txBox="1"/>
              <p:nvPr/>
            </p:nvSpPr>
            <p:spPr>
              <a:xfrm>
                <a:off x="6096000" y="3275962"/>
                <a:ext cx="4876675" cy="5127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kern="1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Plot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  <m:sSup>
                          <m:sSup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f>
                              <m:f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versus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4B6CA3-4127-A7D0-C690-BA6AA5D77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75962"/>
                <a:ext cx="4876675" cy="512704"/>
              </a:xfrm>
              <a:prstGeom prst="rect">
                <a:avLst/>
              </a:prstGeom>
              <a:blipFill>
                <a:blip r:embed="rId6"/>
                <a:stretch>
                  <a:fillRect l="-1000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77B1DE2-4ADB-9ED5-D64C-6645A22486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845" y="3851785"/>
            <a:ext cx="3980911" cy="29856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9DD00D-84EE-0B7E-B62E-41649FF230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3485" y="3965303"/>
            <a:ext cx="3501594" cy="262619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0851E6-4C75-6DA2-D9D6-B931BACFD10F}"/>
              </a:ext>
            </a:extLst>
          </p:cNvPr>
          <p:cNvCxnSpPr/>
          <p:nvPr/>
        </p:nvCxnSpPr>
        <p:spPr>
          <a:xfrm flipV="1">
            <a:off x="3614826" y="1635699"/>
            <a:ext cx="0" cy="189440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F65050-D64C-5230-B480-C7C7C3796B33}"/>
              </a:ext>
            </a:extLst>
          </p:cNvPr>
          <p:cNvCxnSpPr/>
          <p:nvPr/>
        </p:nvCxnSpPr>
        <p:spPr>
          <a:xfrm flipV="1">
            <a:off x="2324748" y="1627109"/>
            <a:ext cx="0" cy="189440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F8B9D9-72EF-9163-0633-A6E9118399AB}"/>
                  </a:ext>
                </a:extLst>
              </p:cNvPr>
              <p:cNvSpPr txBox="1"/>
              <p:nvPr/>
            </p:nvSpPr>
            <p:spPr>
              <a:xfrm>
                <a:off x="3920714" y="2619872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F8B9D9-72EF-9163-0633-A6E911839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4" y="2619872"/>
                <a:ext cx="176493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41AD5D-5595-DF90-588D-92E902D3E5D2}"/>
                  </a:ext>
                </a:extLst>
              </p:cNvPr>
              <p:cNvSpPr txBox="1"/>
              <p:nvPr/>
            </p:nvSpPr>
            <p:spPr>
              <a:xfrm>
                <a:off x="3918431" y="3050000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41AD5D-5595-DF90-588D-92E902D3E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431" y="3050000"/>
                <a:ext cx="176493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88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A7237-7D23-DB02-6B68-3BF91C26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3AA4-691C-D985-A4F0-9433091F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altLang="zh-CN" dirty="0"/>
              <a:t>Topic in this Presentation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43CB47-C14E-18F9-4BA7-EA73C004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9D5C5-C7F2-C78E-7AD5-5583A92E5256}"/>
              </a:ext>
            </a:extLst>
          </p:cNvPr>
          <p:cNvSpPr txBox="1"/>
          <p:nvPr/>
        </p:nvSpPr>
        <p:spPr>
          <a:xfrm>
            <a:off x="847237" y="1905506"/>
            <a:ext cx="841734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Why do we need to introduce nonlinearity – A comparison to linear systems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Power input/output</a:t>
            </a:r>
          </a:p>
        </p:txBody>
      </p:sp>
    </p:spTree>
    <p:extLst>
      <p:ext uri="{BB962C8B-B14F-4D97-AF65-F5344CB8AC3E}">
        <p14:creationId xmlns:p14="http://schemas.microsoft.com/office/powerpoint/2010/main" val="370601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A822-75E3-FC63-A36E-304B6030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88D5-E4F6-4DD0-3363-6E295984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The flux linkage response to base excitation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9041E4D-384C-E20A-EAE7-C0AE95F5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69B8DB-C8D3-1DD3-8EFD-D5C5C062447C}"/>
                  </a:ext>
                </a:extLst>
              </p:cNvPr>
              <p:cNvSpPr txBox="1"/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C3805D-389E-2B6C-EFB3-26F5B46FA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Quad 2">
            <a:extLst>
              <a:ext uri="{FF2B5EF4-FFF2-40B4-BE49-F238E27FC236}">
                <a16:creationId xmlns:a16="http://schemas.microsoft.com/office/drawing/2014/main" id="{C853BEA1-BBEE-4650-A668-4F25BC9341AD}"/>
              </a:ext>
            </a:extLst>
          </p:cNvPr>
          <p:cNvSpPr/>
          <p:nvPr/>
        </p:nvSpPr>
        <p:spPr>
          <a:xfrm rot="2648116">
            <a:off x="8829290" y="2304817"/>
            <a:ext cx="637452" cy="637452"/>
          </a:xfrm>
          <a:prstGeom prst="quadArrow">
            <a:avLst>
              <a:gd name="adj1" fmla="val 22500"/>
              <a:gd name="adj2" fmla="val 4951"/>
              <a:gd name="adj3" fmla="val 1969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2A8D72-211A-5F9D-3854-DB3962747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96" y="1274670"/>
            <a:ext cx="3554604" cy="26659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8250E5-93B7-5F9C-BEB0-4204F7422089}"/>
              </a:ext>
            </a:extLst>
          </p:cNvPr>
          <p:cNvSpPr txBox="1"/>
          <p:nvPr/>
        </p:nvSpPr>
        <p:spPr>
          <a:xfrm>
            <a:off x="5546690" y="3571291"/>
            <a:ext cx="3432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Simulations in the previous week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6E999C-26C2-4DC9-80E1-41BAC78F4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408" y="4069333"/>
            <a:ext cx="3388867" cy="25416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AEFD192-9FCE-17E7-8822-F9169D915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687" y="4069333"/>
            <a:ext cx="3388867" cy="25416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145497-4532-432E-05AF-9BF8140917D0}"/>
              </a:ext>
            </a:extLst>
          </p:cNvPr>
          <p:cNvSpPr txBox="1"/>
          <p:nvPr/>
        </p:nvSpPr>
        <p:spPr>
          <a:xfrm>
            <a:off x="7306570" y="6488668"/>
            <a:ext cx="1587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System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FF3570-FC17-947A-C8EC-195C564A8953}"/>
              </a:ext>
            </a:extLst>
          </p:cNvPr>
          <p:cNvSpPr txBox="1"/>
          <p:nvPr/>
        </p:nvSpPr>
        <p:spPr>
          <a:xfrm>
            <a:off x="1394484" y="6538912"/>
            <a:ext cx="3026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Hardening Nonlinear System</a:t>
            </a:r>
          </a:p>
        </p:txBody>
      </p:sp>
    </p:spTree>
    <p:extLst>
      <p:ext uri="{BB962C8B-B14F-4D97-AF65-F5344CB8AC3E}">
        <p14:creationId xmlns:p14="http://schemas.microsoft.com/office/powerpoint/2010/main" val="25792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D3228-8284-8D24-8148-C3B82018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B0980-0FB1-7DC9-2E85-99535A81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The flux linkage response to base excitation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89335A-6D82-DF20-F14B-2B1DE4A2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E1B1E7-4FD2-F645-9EE4-444038FE05FF}"/>
                  </a:ext>
                </a:extLst>
              </p:cNvPr>
              <p:cNvSpPr txBox="1"/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E1B1E7-4FD2-F645-9EE4-444038FE0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Quad 2">
            <a:extLst>
              <a:ext uri="{FF2B5EF4-FFF2-40B4-BE49-F238E27FC236}">
                <a16:creationId xmlns:a16="http://schemas.microsoft.com/office/drawing/2014/main" id="{77634BA5-8DC5-72E0-DC37-9E41612E29B3}"/>
              </a:ext>
            </a:extLst>
          </p:cNvPr>
          <p:cNvSpPr/>
          <p:nvPr/>
        </p:nvSpPr>
        <p:spPr>
          <a:xfrm rot="2648116">
            <a:off x="8829290" y="2304817"/>
            <a:ext cx="637452" cy="637452"/>
          </a:xfrm>
          <a:prstGeom prst="quadArrow">
            <a:avLst>
              <a:gd name="adj1" fmla="val 22500"/>
              <a:gd name="adj2" fmla="val 4951"/>
              <a:gd name="adj3" fmla="val 1969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1F7B63-1206-02D3-66EE-FF53B7054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96" y="1274670"/>
            <a:ext cx="3554604" cy="26659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1343C3-F865-AE64-E296-DD934018A4BF}"/>
              </a:ext>
            </a:extLst>
          </p:cNvPr>
          <p:cNvSpPr txBox="1"/>
          <p:nvPr/>
        </p:nvSpPr>
        <p:spPr>
          <a:xfrm>
            <a:off x="1225899" y="4220308"/>
            <a:ext cx="48701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Comment: In my perspective, the reason for more efficient energy harvesting is: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With the hardening nonlinearity, the frequency of the first mode shifts up, which is closer to the excitation frequency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It might be possible to design linear system with other inductance values to achieve such high harvesting 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96E29-0713-C314-84BA-AD62E8874406}"/>
              </a:ext>
            </a:extLst>
          </p:cNvPr>
          <p:cNvSpPr txBox="1"/>
          <p:nvPr/>
        </p:nvSpPr>
        <p:spPr>
          <a:xfrm>
            <a:off x="6553603" y="3940623"/>
            <a:ext cx="48701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Compared with linear systems, the following features are unique in nonlinear harvesters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harvesting power is relatively stable, meaning that the power is insensitive to the fluctuation of stimuli compared with its linear counterpart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We can switch the on/off states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These features can be realized with other forms of </a:t>
            </a:r>
            <a:r>
              <a:rPr lang="en-US" dirty="0" err="1"/>
              <a:t>nonlienarities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725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5A255-8DB5-85E0-0DEA-F8F987C80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D8947-2062-36F9-70B1-E132C5E6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Power input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0AFEF3-3E39-FEE9-E191-02B48B2E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74FE90-B13C-2A6F-2BE5-E1F30EDF0BF9}"/>
                  </a:ext>
                </a:extLst>
              </p:cNvPr>
              <p:cNvSpPr txBox="1"/>
              <p:nvPr/>
            </p:nvSpPr>
            <p:spPr>
              <a:xfrm>
                <a:off x="625615" y="4638003"/>
                <a:ext cx="6094324" cy="720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74FE90-B13C-2A6F-2BE5-E1F30EDF0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15" y="4638003"/>
                <a:ext cx="6094324" cy="7209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B66FF79-D514-72BB-6164-5FE7DFA4DE9E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C5DF8FE-2389-DD43-6FA1-67E1ED3D880A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0AAEAA72-C07B-9969-88C8-2AC638213D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5009816C-6ABA-AA07-F265-908BE8BDBA30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20A542F1-3FD5-663F-49AC-EF108E6E824B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E8239258-7850-46B8-0F73-7FE129F0D786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CFDC7AB4-8338-6830-1B11-76B8ECD02E46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92B20FE-80D7-9746-A041-0103EE6386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7378A19-D7BE-E3C5-0680-56118578F9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D3A1E486-C31E-1270-9B3C-227FAF59E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4AF163F-4486-B1B9-E648-00E5994441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2D3F78D-B022-A1E8-6ECF-54622A1315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C240994-924F-23CB-D024-EBCD67334D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8E5D25C-1066-A51C-EFD9-3A5C7A3A05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F438CF73-0C51-3C4C-520B-DDCFCA25CE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5E57998-4971-791A-5225-C53C124085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6B8BD518-0B6C-12CB-EA03-38F5628326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185FE026-D29A-5380-D4A0-39B9221E61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11B05D55-28A6-B5C4-6D36-52C3D43710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78E8653-0624-9722-B90A-438E0B8A9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C0F2478B-A268-F5A3-AC2F-41643F3566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659004-27A6-FD95-4663-040EAEB8D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BDADED1-9EA0-3698-CA9B-3E94612C2D74}"/>
                  </a:ext>
                </a:extLst>
              </p:cNvPr>
              <p:cNvSpPr txBox="1"/>
              <p:nvPr/>
            </p:nvSpPr>
            <p:spPr>
              <a:xfrm>
                <a:off x="352987" y="2358320"/>
                <a:ext cx="7785847" cy="65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𝑌𝐼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BDADED1-9EA0-3698-CA9B-3E94612C2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87" y="2358320"/>
                <a:ext cx="7785847" cy="6505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4499DDD-81C8-DE6E-344C-CF07695257FC}"/>
                  </a:ext>
                </a:extLst>
              </p:cNvPr>
              <p:cNvSpPr txBox="1"/>
              <p:nvPr/>
            </p:nvSpPr>
            <p:spPr>
              <a:xfrm>
                <a:off x="2657063" y="1320500"/>
                <a:ext cx="2700493" cy="586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4499DDD-81C8-DE6E-344C-CF0769525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063" y="1320500"/>
                <a:ext cx="2700493" cy="586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C06D02E-9AA4-B92C-A8D8-FFB862C39C44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C06D02E-9AA4-B92C-A8D8-FFB862C39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7309BEB-B6C8-E4DE-894F-8642D855ADB8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7309BEB-B6C8-E4DE-894F-8642D855A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324A6A6-4D0F-5E4A-CB3E-160433BD52A2}"/>
                  </a:ext>
                </a:extLst>
              </p:cNvPr>
              <p:cNvSpPr txBox="1"/>
              <p:nvPr/>
            </p:nvSpPr>
            <p:spPr>
              <a:xfrm>
                <a:off x="740494" y="3460815"/>
                <a:ext cx="6847462" cy="698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subSup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324A6A6-4D0F-5E4A-CB3E-160433BD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94" y="3460815"/>
                <a:ext cx="6847462" cy="6988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33BF87BD-BF6A-0378-3F95-76BC7245B96F}"/>
              </a:ext>
            </a:extLst>
          </p:cNvPr>
          <p:cNvSpPr txBox="1"/>
          <p:nvPr/>
        </p:nvSpPr>
        <p:spPr>
          <a:xfrm>
            <a:off x="727682" y="190848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Structural equation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5A7E74-C1C7-FAE1-9721-3CC259C5DFA6}"/>
              </a:ext>
            </a:extLst>
          </p:cNvPr>
          <p:cNvSpPr txBox="1"/>
          <p:nvPr/>
        </p:nvSpPr>
        <p:spPr>
          <a:xfrm>
            <a:off x="740494" y="307664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First circuit equation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A8F1D4-2B5E-56A1-7267-B61FD8EA0922}"/>
              </a:ext>
            </a:extLst>
          </p:cNvPr>
          <p:cNvSpPr txBox="1"/>
          <p:nvPr/>
        </p:nvSpPr>
        <p:spPr>
          <a:xfrm>
            <a:off x="740494" y="435492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Second circuit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03E58F1-4CBB-AE46-05D7-D07020C6747E}"/>
                  </a:ext>
                </a:extLst>
              </p:cNvPr>
              <p:cNvSpPr txBox="1"/>
              <p:nvPr/>
            </p:nvSpPr>
            <p:spPr>
              <a:xfrm>
                <a:off x="727682" y="5537500"/>
                <a:ext cx="6094324" cy="934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power of piezoelectric modulation is given by,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03E58F1-4CBB-AE46-05D7-D07020C67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82" y="5537500"/>
                <a:ext cx="6094324" cy="934615"/>
              </a:xfrm>
              <a:prstGeom prst="rect">
                <a:avLst/>
              </a:prstGeom>
              <a:blipFill>
                <a:blip r:embed="rId12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2281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3B99-1329-8EC3-ED66-118EBE35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891C0-CE25-B0A8-BB90-1A4F7D43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Power input in the ROM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EB0B26D-4F3A-F62F-84FF-5CECF1AC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BB58675-D379-04CC-B175-1DAAB51224B2}"/>
              </a:ext>
            </a:extLst>
          </p:cNvPr>
          <p:cNvGrpSpPr/>
          <p:nvPr/>
        </p:nvGrpSpPr>
        <p:grpSpPr>
          <a:xfrm>
            <a:off x="7535295" y="514305"/>
            <a:ext cx="4390560" cy="4903851"/>
            <a:chOff x="7886988" y="1792601"/>
            <a:chExt cx="4390560" cy="490385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F8B194-A9F3-485C-46B2-153D22B82C95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0A84235E-D46C-C91D-4857-AEBBE14DA7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E27CCD2-F9B3-CAA1-4D64-9201760EC4F8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83C10B76-E713-9957-D6BC-11DF0A1D43E7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AFAD2563-2716-564A-4847-1E41FBFD9797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F27660E4-1907-54E0-6B44-9B7B0BE2ADAF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2A2EBCD2-383C-D6B6-7EE9-67EF5E685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0B149B87-0909-FAEF-490C-227793D3E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6E63723-A853-7951-DFFC-DC5C0329D0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CB050938-61E8-2C31-4169-5B97F0956C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A9C6B5A-0ABE-882F-737F-7539E3C168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4B6A444-FFB6-CF3E-CF3B-FEB718BDD9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58017AB0-D12F-3E87-60F8-8C3F2B9A7B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CAAF0A00-78F9-34F2-DC8B-8E1FB6D958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E7060F16-A3DC-CD24-2E9C-A9F85B3841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274EA1C1-D49C-20BF-A005-D56DBF2C5F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6AE2E093-91DD-698C-F8E6-880F8B7340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36881DD3-1379-65B5-CC25-2EDA3DADB7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375EDCAB-2B1E-9321-B1F0-33F19580C4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53B6118E-2936-4B2A-3148-8BFA3AE771D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53B6118E-2936-4B2A-3148-8BFA3AE771D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AB667D6-67B6-4A3A-C4AB-B89F1698B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99665D1-001E-A302-EB3F-3F614C9FD772}"/>
                  </a:ext>
                </a:extLst>
              </p:cNvPr>
              <p:cNvSpPr txBox="1"/>
              <p:nvPr/>
            </p:nvSpPr>
            <p:spPr>
              <a:xfrm>
                <a:off x="8789510" y="1842479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99665D1-001E-A302-EB3F-3F614C9FD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510" y="1842479"/>
                <a:ext cx="1195397" cy="6164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B63AB74-7C30-0134-8E88-282B97145EC0}"/>
                  </a:ext>
                </a:extLst>
              </p:cNvPr>
              <p:cNvSpPr txBox="1"/>
              <p:nvPr/>
            </p:nvSpPr>
            <p:spPr>
              <a:xfrm>
                <a:off x="8758400" y="182300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B63AB74-7C30-0134-8E88-282B97145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400" y="182300"/>
                <a:ext cx="119539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831028E-0FD1-0B05-D9CC-8D7B8843CFE4}"/>
              </a:ext>
            </a:extLst>
          </p:cNvPr>
          <p:cNvSpPr txBox="1"/>
          <p:nvPr/>
        </p:nvSpPr>
        <p:spPr>
          <a:xfrm>
            <a:off x="734334" y="3116975"/>
            <a:ext cx="6094324" cy="71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 the normalized coordinate, the harvesting power and the modulation power is given by,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DC6B76B-B39B-42BD-26C7-CDDF8BFB828B}"/>
                  </a:ext>
                </a:extLst>
              </p:cNvPr>
              <p:cNvSpPr txBox="1"/>
              <p:nvPr/>
            </p:nvSpPr>
            <p:spPr>
              <a:xfrm>
                <a:off x="718530" y="1265050"/>
                <a:ext cx="6094324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DC6B76B-B39B-42BD-26C7-CDDF8BFB8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30" y="1265050"/>
                <a:ext cx="6094324" cy="16551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F8F87CF-0077-5AE5-66E6-B601C0142990}"/>
                  </a:ext>
                </a:extLst>
              </p:cNvPr>
              <p:cNvSpPr txBox="1"/>
              <p:nvPr/>
            </p:nvSpPr>
            <p:spPr>
              <a:xfrm>
                <a:off x="747641" y="3938216"/>
                <a:ext cx="3462618" cy="18013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F8F87CF-0077-5AE5-66E6-B601C014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41" y="3938216"/>
                <a:ext cx="3462618" cy="18013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A1720D9F-2CFA-33A0-C0E0-1583283B45AB}"/>
              </a:ext>
            </a:extLst>
          </p:cNvPr>
          <p:cNvSpPr txBox="1"/>
          <p:nvPr/>
        </p:nvSpPr>
        <p:spPr>
          <a:xfrm>
            <a:off x="713841" y="5708660"/>
            <a:ext cx="7103777" cy="71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Ideally, the power flow can be computed analytically from the theoretical results. </a:t>
            </a:r>
            <a:r>
              <a:rPr lang="en-US" altLang="zh-CN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But here I only demonstrate numerical simulations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5737385A-6623-A611-B0FC-22B517913F25}"/>
              </a:ext>
            </a:extLst>
          </p:cNvPr>
          <p:cNvSpPr/>
          <p:nvPr/>
        </p:nvSpPr>
        <p:spPr>
          <a:xfrm>
            <a:off x="4042505" y="4464578"/>
            <a:ext cx="446447" cy="5241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403EBF6-8E68-02EE-A0DE-615F367B72D0}"/>
                  </a:ext>
                </a:extLst>
              </p:cNvPr>
              <p:cNvSpPr txBox="1"/>
              <p:nvPr/>
            </p:nvSpPr>
            <p:spPr>
              <a:xfrm>
                <a:off x="4355000" y="3958248"/>
                <a:ext cx="3462618" cy="1681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403EBF6-8E68-02EE-A0DE-615F367B7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000" y="3958248"/>
                <a:ext cx="3462618" cy="16811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F5D711A0-CF1A-C416-631A-102A1A41A569}"/>
              </a:ext>
            </a:extLst>
          </p:cNvPr>
          <p:cNvSpPr txBox="1"/>
          <p:nvPr/>
        </p:nvSpPr>
        <p:spPr>
          <a:xfrm>
            <a:off x="3603903" y="3987727"/>
            <a:ext cx="1544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normalization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951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83A5-B026-06A2-006E-9AA9A9594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69CC-BE3D-6F07-1F9A-3E97DA32E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Power input in the ROM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68287C-6749-79F5-EAD8-73054FB1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96FE89-F9D6-97C7-96A4-BBB97941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623" y="3114995"/>
            <a:ext cx="3821160" cy="28658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F63FA-7788-020A-64D8-255CAB05FA58}"/>
                  </a:ext>
                </a:extLst>
              </p:cNvPr>
              <p:cNvSpPr txBox="1"/>
              <p:nvPr/>
            </p:nvSpPr>
            <p:spPr>
              <a:xfrm>
                <a:off x="7678597" y="1048049"/>
                <a:ext cx="3462618" cy="1681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F63FA-7788-020A-64D8-255CAB05F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597" y="1048049"/>
                <a:ext cx="3462618" cy="16811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9CA4F088-EA28-995D-C7EB-4C9837654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091" y="3244268"/>
            <a:ext cx="3462618" cy="2596964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F430906D-9AFC-A5CE-3EFD-38182017C8BE}"/>
              </a:ext>
            </a:extLst>
          </p:cNvPr>
          <p:cNvSpPr/>
          <p:nvPr/>
        </p:nvSpPr>
        <p:spPr>
          <a:xfrm>
            <a:off x="1249546" y="5104562"/>
            <a:ext cx="4136571" cy="2813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E3801F-BAC7-180F-3035-67A0CB0A21FA}"/>
              </a:ext>
            </a:extLst>
          </p:cNvPr>
          <p:cNvCxnSpPr>
            <a:stCxn id="19" idx="6"/>
          </p:cNvCxnSpPr>
          <p:nvPr/>
        </p:nvCxnSpPr>
        <p:spPr>
          <a:xfrm flipV="1">
            <a:off x="5386117" y="4682532"/>
            <a:ext cx="1230974" cy="562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25D437B-5EA7-5745-F73D-B45FC70877F2}"/>
              </a:ext>
            </a:extLst>
          </p:cNvPr>
          <p:cNvSpPr txBox="1"/>
          <p:nvPr/>
        </p:nvSpPr>
        <p:spPr>
          <a:xfrm>
            <a:off x="2201555" y="1634730"/>
            <a:ext cx="2870888" cy="103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 plot the normalized energy of the previous simulations over time</a:t>
            </a:r>
            <a:endParaRPr lang="en-US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232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BF6CB-5A34-87BB-658D-B34043066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D6338-AA3F-160C-E641-75F988F8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Proposed Next Stage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A02369-3697-FE9A-AD9A-1BA6688C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B8204-F879-ECAF-CD00-9BE6EFB160AA}"/>
              </a:ext>
            </a:extLst>
          </p:cNvPr>
          <p:cNvSpPr txBox="1"/>
          <p:nvPr/>
        </p:nvSpPr>
        <p:spPr>
          <a:xfrm>
            <a:off x="847237" y="1905506"/>
            <a:ext cx="887323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Develop MATLAB codes for continuous simulations to confirm the ROM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Increasing the </a:t>
            </a:r>
            <a:r>
              <a:rPr lang="en-US" sz="2400"/>
              <a:t>modulation frequency</a:t>
            </a:r>
            <a:endParaRPr lang="en-US" sz="2400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Embrace random terms (white noise) in the ambient vibration</a:t>
            </a:r>
          </a:p>
        </p:txBody>
      </p:sp>
    </p:spTree>
    <p:extLst>
      <p:ext uri="{BB962C8B-B14F-4D97-AF65-F5344CB8AC3E}">
        <p14:creationId xmlns:p14="http://schemas.microsoft.com/office/powerpoint/2010/main" val="3366417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507784-0F26-01B0-6D16-B0F259DF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E35D-55CA-5738-5D0F-00807A30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07" y="179640"/>
            <a:ext cx="10515600" cy="1325563"/>
          </a:xfrm>
        </p:spPr>
        <p:txBody>
          <a:bodyPr/>
          <a:lstStyle/>
          <a:p>
            <a:r>
              <a:rPr lang="en-US" dirty="0"/>
              <a:t>EOM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24337F-F0B6-F0B6-2F6C-2953E53D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C6B1B4-E198-32DE-AD91-DA203BB71547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144FFB4-35D8-13FB-EE93-41D7A9854CBA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31F6474-2BBE-B5B1-E4DB-295A07A23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D1D3BE6-0733-D497-5A6F-D16E8846037E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2C849AB0-CDA1-3685-4F21-82E067C63D59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643DD884-B367-5509-3EF4-C8648D3056B3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3791194F-76BF-FBEC-1032-0BEC960664BA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E89DB06-DB8F-F02A-0EFF-1EC0D92D94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CACB98B-AA89-8FE4-E179-DD4386EA40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523A1172-C5A0-459B-C650-DEAA0C1BE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C79BAF5-03F5-4956-B0C8-8769EB59B8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AFD6FBC-161B-A572-0606-AB31E7B11A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55CA9DE-9BEB-818D-A776-0A5A527A4D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9E418B5-972D-CE74-73E6-CCAE341D8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2F01DF3-3121-C62C-F5AC-9EB2A50E8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4C12270-0B61-6EC6-8D75-0DF4E9804B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FC540EA-C45E-9185-2665-8CE491F72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4D72E2E-E04D-ABF0-DA42-D29B838AB0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0509CAE-8F8A-FBA0-8203-7A293D5C2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3CE0584-0EDD-7C2B-34D6-9510664E6F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CB9A5D6-3232-101B-99BD-1A68F774F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795BE9-40DF-C9B3-DABF-3B1A2AFC43E7}"/>
                  </a:ext>
                </a:extLst>
              </p:cNvPr>
              <p:cNvSpPr txBox="1"/>
              <p:nvPr/>
            </p:nvSpPr>
            <p:spPr>
              <a:xfrm>
                <a:off x="333518" y="1906943"/>
                <a:ext cx="7785847" cy="65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𝑌𝐼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795BE9-40DF-C9B3-DABF-3B1A2AFC4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18" y="1906943"/>
                <a:ext cx="7785847" cy="6505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6B83B7-5AE7-3595-4F8A-1632138DD098}"/>
                  </a:ext>
                </a:extLst>
              </p:cNvPr>
              <p:cNvSpPr txBox="1"/>
              <p:nvPr/>
            </p:nvSpPr>
            <p:spPr>
              <a:xfrm>
                <a:off x="2375870" y="3009750"/>
                <a:ext cx="2700493" cy="586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6B83B7-5AE7-3595-4F8A-1632138DD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870" y="3009750"/>
                <a:ext cx="2700493" cy="586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9756F452-B661-2E24-1170-03344D3F0B55}"/>
              </a:ext>
            </a:extLst>
          </p:cNvPr>
          <p:cNvSpPr txBox="1"/>
          <p:nvPr/>
        </p:nvSpPr>
        <p:spPr>
          <a:xfrm>
            <a:off x="2315579" y="2610136"/>
            <a:ext cx="3036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Neglect structural damping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A7A75C-F221-37AC-D7A9-3C45E09636EA}"/>
              </a:ext>
            </a:extLst>
          </p:cNvPr>
          <p:cNvSpPr txBox="1"/>
          <p:nvPr/>
        </p:nvSpPr>
        <p:spPr>
          <a:xfrm>
            <a:off x="2773994" y="1544626"/>
            <a:ext cx="1904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Bending moment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DB45E0B1-ED88-A804-7CD0-8982334397BE}"/>
              </a:ext>
            </a:extLst>
          </p:cNvPr>
          <p:cNvSpPr txBox="1"/>
          <p:nvPr/>
        </p:nvSpPr>
        <p:spPr>
          <a:xfrm>
            <a:off x="2656867" y="3640575"/>
            <a:ext cx="2700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Circuit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1CAC02-0F9A-942D-276F-14A8E7B8DC9A}"/>
                  </a:ext>
                </a:extLst>
              </p:cNvPr>
              <p:cNvSpPr txBox="1"/>
              <p:nvPr/>
            </p:nvSpPr>
            <p:spPr>
              <a:xfrm>
                <a:off x="778269" y="4027827"/>
                <a:ext cx="6847462" cy="698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subSup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1CAC02-0F9A-942D-276F-14A8E7B8D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69" y="4027827"/>
                <a:ext cx="6847462" cy="698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0440346-5C88-9CB1-F9FD-CC83C4F97BC8}"/>
                  </a:ext>
                </a:extLst>
              </p:cNvPr>
              <p:cNvSpPr txBox="1"/>
              <p:nvPr/>
            </p:nvSpPr>
            <p:spPr>
              <a:xfrm>
                <a:off x="936915" y="4841930"/>
                <a:ext cx="5793353" cy="942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denotes the voltage,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prescribed,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US" dirty="0"/>
                  <a:t> denotes the electro-mechanical coupling term given by material and structural parameters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0440346-5C88-9CB1-F9FD-CC83C4F97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15" y="4841930"/>
                <a:ext cx="5793353" cy="942887"/>
              </a:xfrm>
              <a:prstGeom prst="rect">
                <a:avLst/>
              </a:prstGeom>
              <a:blipFill>
                <a:blip r:embed="rId10"/>
                <a:stretch>
                  <a:fillRect l="-947" t="-1935" r="-1158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9DBCAF6-C96F-6EB1-2518-EB38DD544CC3}"/>
                  </a:ext>
                </a:extLst>
              </p:cNvPr>
              <p:cNvSpPr txBox="1"/>
              <p:nvPr/>
            </p:nvSpPr>
            <p:spPr>
              <a:xfrm>
                <a:off x="897371" y="5900074"/>
                <a:ext cx="5793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9DBCAF6-C96F-6EB1-2518-EB38DD544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71" y="5900074"/>
                <a:ext cx="57933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4420471A-2A03-DA71-DC30-56C16F34FDEE}"/>
              </a:ext>
            </a:extLst>
          </p:cNvPr>
          <p:cNvSpPr txBox="1"/>
          <p:nvPr/>
        </p:nvSpPr>
        <p:spPr>
          <a:xfrm>
            <a:off x="1984256" y="6329299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Base excitation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414F6C-EA13-FF71-CA75-31106875FA7A}"/>
              </a:ext>
            </a:extLst>
          </p:cNvPr>
          <p:cNvSpPr txBox="1"/>
          <p:nvPr/>
        </p:nvSpPr>
        <p:spPr>
          <a:xfrm>
            <a:off x="3949909" y="6340464"/>
            <a:ext cx="2621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Relative displacement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B0DE6D0-FBC9-12A3-7E2F-DB839E1CAE6F}"/>
              </a:ext>
            </a:extLst>
          </p:cNvPr>
          <p:cNvCxnSpPr/>
          <p:nvPr/>
        </p:nvCxnSpPr>
        <p:spPr>
          <a:xfrm flipV="1">
            <a:off x="2904565" y="6205818"/>
            <a:ext cx="302559" cy="1505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02D2EF-1A62-8AE4-702F-71FDCB9ECF3B}"/>
              </a:ext>
            </a:extLst>
          </p:cNvPr>
          <p:cNvCxnSpPr>
            <a:cxnSpLocks/>
          </p:cNvCxnSpPr>
          <p:nvPr/>
        </p:nvCxnSpPr>
        <p:spPr>
          <a:xfrm flipH="1" flipV="1">
            <a:off x="4180345" y="6269406"/>
            <a:ext cx="275228" cy="86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414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B6B8FA-CA62-2926-C814-7F8A4C33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F4E83-A616-F857-94C1-7A81659BF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32" y="195201"/>
            <a:ext cx="10515600" cy="1325563"/>
          </a:xfrm>
        </p:spPr>
        <p:txBody>
          <a:bodyPr/>
          <a:lstStyle/>
          <a:p>
            <a:r>
              <a:rPr lang="en-US" dirty="0"/>
              <a:t>ROM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EC8A7D2-7431-B1D8-0C56-6865FEA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12462D-B855-79CD-F39A-FE0E05882C30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0F40DE0-FEC2-C0E9-6017-E4EB42C34133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CA2B198F-08F6-8F9C-B77D-98D7A0D70C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7A1099B-77D1-3388-0D43-A9848C1EAB5E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5825471D-3C45-A6E4-2A72-668C6AFBA383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92594A58-42B0-E90B-D618-9BD28DCCCF0D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637437D8-FC41-29A2-5F3A-23FEE12F0956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68F1C87D-5DD4-34B7-682B-F4A253BACD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06F184F-4E69-443B-49AE-B3F459963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33000529-E93B-DB16-6A24-F631E754B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6E2832D9-6725-0454-7A87-74F0D102E8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8AA6D9DB-EC35-415B-7183-CD2EF3186C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1D1BDBA-B1F4-26C9-4320-9CCFDF9B08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EF0FEDB-B8FD-2900-F4E8-8130D493AB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936F5195-2980-8F01-658B-E441D25FB4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F670B72D-E50A-C93C-1E8E-4BDAB68CE5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17E3B3D-3EBF-5CE5-D6B2-17A54FC256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E9F866E9-45AA-7EA8-D8AD-85BA012D9F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ADFCA32-EBAA-A5E1-758B-F61C7703F4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F6F8AFC3-626E-4750-B3C9-FD9C87C137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71AC5A90-EECC-4844-9710-3EF2A4918E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71AC5A90-EECC-4844-9710-3EF2A4918E7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0D3E1EA-8DD4-C84D-E5AE-E618562E4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A9AA907-1DF1-2325-5961-C7A919F88F4C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A9AA907-1DF1-2325-5961-C7A919F88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CC83A8-35A0-751B-D5D5-F61DF9C62EDE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CC83A8-35A0-751B-D5D5-F61DF9C62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25D0D96-7D21-B643-956A-051D086DC7C8}"/>
                  </a:ext>
                </a:extLst>
              </p:cNvPr>
              <p:cNvSpPr txBox="1"/>
              <p:nvPr/>
            </p:nvSpPr>
            <p:spPr>
              <a:xfrm>
                <a:off x="561312" y="1373869"/>
                <a:ext cx="5793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25D0D96-7D21-B643-956A-051D086DC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12" y="1373869"/>
                <a:ext cx="579335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ADC11B-26C8-8D16-FC4D-859CB8908002}"/>
                  </a:ext>
                </a:extLst>
              </p:cNvPr>
              <p:cNvSpPr txBox="1"/>
              <p:nvPr/>
            </p:nvSpPr>
            <p:spPr>
              <a:xfrm>
                <a:off x="965490" y="2424523"/>
                <a:ext cx="6096000" cy="86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ADC11B-26C8-8D16-FC4D-859CB8908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90" y="2424523"/>
                <a:ext cx="6096000" cy="8607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DBE680D-2C2E-1DD0-2A5F-C5CB9350751B}"/>
              </a:ext>
            </a:extLst>
          </p:cNvPr>
          <p:cNvSpPr txBox="1"/>
          <p:nvPr/>
        </p:nvSpPr>
        <p:spPr>
          <a:xfrm>
            <a:off x="707707" y="1875826"/>
            <a:ext cx="6826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assume that the beam deflection is approximated by the first mode of a cantilever beam,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5E1DEC-65D9-3377-91A9-9A880405E1B2}"/>
                  </a:ext>
                </a:extLst>
              </p:cNvPr>
              <p:cNvSpPr txBox="1"/>
              <p:nvPr/>
            </p:nvSpPr>
            <p:spPr>
              <a:xfrm>
                <a:off x="836716" y="3823222"/>
                <a:ext cx="6096000" cy="1308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1,2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5E1DEC-65D9-3377-91A9-9A880405E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16" y="3823222"/>
                <a:ext cx="6096000" cy="13081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62BBD4D-D607-E1B0-BC35-E090281FC371}"/>
              </a:ext>
            </a:extLst>
          </p:cNvPr>
          <p:cNvSpPr txBox="1"/>
          <p:nvPr/>
        </p:nvSpPr>
        <p:spPr>
          <a:xfrm>
            <a:off x="682652" y="3368129"/>
            <a:ext cx="6826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ROM equation,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D987B86-EEC3-400E-CA7B-554D70CE869B}"/>
                  </a:ext>
                </a:extLst>
              </p:cNvPr>
              <p:cNvSpPr txBox="1"/>
              <p:nvPr/>
            </p:nvSpPr>
            <p:spPr>
              <a:xfrm>
                <a:off x="682652" y="5217162"/>
                <a:ext cx="5672013" cy="12909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kern="1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where, </a:t>
                </a:r>
                <a14:m>
                  <m:oMath xmlns:m="http://schemas.openxmlformats.org/officeDocument/2006/math">
                    <m:r>
                      <a:rPr lang="en-US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b="0" i="0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𝜗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denotes the natural frequency of the first mode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D987B86-EEC3-400E-CA7B-554D70CE8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52" y="5217162"/>
                <a:ext cx="5672013" cy="1290994"/>
              </a:xfrm>
              <a:prstGeom prst="rect">
                <a:avLst/>
              </a:prstGeom>
              <a:blipFill>
                <a:blip r:embed="rId10"/>
                <a:stretch>
                  <a:fillRect l="-968" t="-35377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151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1094C6-4F34-0B16-F2CE-566E03BF4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85DBF-C3A9-C9B2-254D-35E91E51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009" y="161357"/>
            <a:ext cx="10515600" cy="1325563"/>
          </a:xfrm>
        </p:spPr>
        <p:txBody>
          <a:bodyPr/>
          <a:lstStyle/>
          <a:p>
            <a:r>
              <a:rPr lang="en-US" dirty="0"/>
              <a:t>Normalized ROM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78F1B03-8D6C-5614-D23A-E2CC1E15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DD5089-71A5-D5F2-F11F-F0746AE5E349}"/>
              </a:ext>
            </a:extLst>
          </p:cNvPr>
          <p:cNvGrpSpPr/>
          <p:nvPr/>
        </p:nvGrpSpPr>
        <p:grpSpPr>
          <a:xfrm>
            <a:off x="8273421" y="848969"/>
            <a:ext cx="3346108" cy="5770910"/>
            <a:chOff x="7380812" y="1792601"/>
            <a:chExt cx="3346108" cy="57709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FA658B-A63C-F463-3EAC-A53F7D3C54BD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C57C309-791B-3BA5-D824-18AC555B8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5371875-B2E5-57D8-963C-A10CA163073D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134A3DDE-7BCF-386B-9AB0-38251F318AA3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177720CB-1842-F080-969A-47A584704015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3AE25941-6E3B-01A4-9517-29087BD774D9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BCDDF7E0-55FB-9DA3-C107-5B5FE8D869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F4A169F3-9809-8588-1CFF-AFDB102F9C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CDC2510-8EA7-A580-C065-86277634A4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ECBB69DA-B568-BB1B-CCA0-5783B50094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E838EE7-7F97-625B-8298-9EA2A48F60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33396B2F-AD82-D6CA-C2D3-D91E6DEF40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740AAD74-5156-BCBA-DE13-F1BCC268E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37EB100-639D-F4E7-CE03-8D015E0DAE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888AD290-090D-0EF4-0DC3-7BF9B89705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B3F66E0-9CF1-179A-FA93-D8142DB4BA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3AF3A003-FD31-B35B-6DED-832FBE198A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3B53D5E-10A2-3585-EA4B-08DF23E47D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AEFD48D-D612-CABF-2894-1F5DC6B0B9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D600009B-CC62-A3E8-B766-E0ABE1C415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D600009B-CC62-A3E8-B766-E0ABE1C415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D37B585-099A-0E14-9665-685D8DA60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812" y="6763682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E0B9DF-FFE3-E8CA-F183-253172450C2C}"/>
                  </a:ext>
                </a:extLst>
              </p:cNvPr>
              <p:cNvSpPr txBox="1"/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E0B9DF-FFE3-E8CA-F183-253172450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0BDBB6-F76E-E4C9-CBB6-477003A3EEF8}"/>
                  </a:ext>
                </a:extLst>
              </p:cNvPr>
              <p:cNvSpPr txBox="1"/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0BDBB6-F76E-E4C9-CBB6-477003A3E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C4BD04-CB63-000D-7217-2E50593B1877}"/>
                  </a:ext>
                </a:extLst>
              </p:cNvPr>
              <p:cNvSpPr txBox="1"/>
              <p:nvPr/>
            </p:nvSpPr>
            <p:spPr>
              <a:xfrm>
                <a:off x="-31529" y="1656301"/>
                <a:ext cx="6096000" cy="1308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1,2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C4BD04-CB63-000D-7217-2E50593B1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529" y="1656301"/>
                <a:ext cx="6096000" cy="13081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F66066-303E-E52A-AC72-51CCFC1113BB}"/>
                  </a:ext>
                </a:extLst>
              </p:cNvPr>
              <p:cNvSpPr txBox="1"/>
              <p:nvPr/>
            </p:nvSpPr>
            <p:spPr>
              <a:xfrm>
                <a:off x="838200" y="4701217"/>
                <a:ext cx="609600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F66066-303E-E52A-AC72-51CCFC111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01217"/>
                <a:ext cx="6096000" cy="16551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Down 17">
            <a:extLst>
              <a:ext uri="{FF2B5EF4-FFF2-40B4-BE49-F238E27FC236}">
                <a16:creationId xmlns:a16="http://schemas.microsoft.com/office/drawing/2014/main" id="{0B89FFBF-4CA0-6389-2CCD-DE2D4E1B890B}"/>
              </a:ext>
            </a:extLst>
          </p:cNvPr>
          <p:cNvSpPr/>
          <p:nvPr/>
        </p:nvSpPr>
        <p:spPr>
          <a:xfrm>
            <a:off x="3079142" y="3634023"/>
            <a:ext cx="448724" cy="4403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D2B58A9-8592-9A34-2E62-74347E2F91EA}"/>
                  </a:ext>
                </a:extLst>
              </p:cNvPr>
              <p:cNvSpPr txBox="1"/>
              <p:nvPr/>
            </p:nvSpPr>
            <p:spPr>
              <a:xfrm>
                <a:off x="362713" y="3007164"/>
                <a:ext cx="3031138" cy="1705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=1/</m:t>
                      </m:r>
                      <m:rad>
                        <m:radPr>
                          <m:degHide m:val="on"/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rad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D2B58A9-8592-9A34-2E62-74347E2F9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13" y="3007164"/>
                <a:ext cx="3031138" cy="17059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5D57F0-8081-7240-F998-C8F205E0502E}"/>
                  </a:ext>
                </a:extLst>
              </p:cNvPr>
              <p:cNvSpPr txBox="1"/>
              <p:nvPr/>
            </p:nvSpPr>
            <p:spPr>
              <a:xfrm>
                <a:off x="3620450" y="2913977"/>
                <a:ext cx="5345112" cy="1743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rad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/>
                        <m:t> 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b="0" i="1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</m:t>
                      </m:r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5D57F0-8081-7240-F998-C8F205E05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450" y="2913977"/>
                <a:ext cx="5345112" cy="17434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F2E12C9-C229-9128-5726-4E2AC982BF18}"/>
                  </a:ext>
                </a:extLst>
              </p:cNvPr>
              <p:cNvSpPr txBox="1"/>
              <p:nvPr/>
            </p:nvSpPr>
            <p:spPr>
              <a:xfrm>
                <a:off x="5156027" y="1239300"/>
                <a:ext cx="3868378" cy="1735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nary>
                            <m:nary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1,2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1,1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F2E12C9-C229-9128-5726-4E2AC982B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027" y="1239300"/>
                <a:ext cx="3868378" cy="17350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-Shape 38">
            <a:extLst>
              <a:ext uri="{FF2B5EF4-FFF2-40B4-BE49-F238E27FC236}">
                <a16:creationId xmlns:a16="http://schemas.microsoft.com/office/drawing/2014/main" id="{EC37A7D6-3E2A-4CB6-3A97-D244A7F4751F}"/>
              </a:ext>
            </a:extLst>
          </p:cNvPr>
          <p:cNvSpPr/>
          <p:nvPr/>
        </p:nvSpPr>
        <p:spPr>
          <a:xfrm flipH="1">
            <a:off x="3654051" y="1276983"/>
            <a:ext cx="4982189" cy="3394687"/>
          </a:xfrm>
          <a:prstGeom prst="corner">
            <a:avLst>
              <a:gd name="adj1" fmla="val 50000"/>
              <a:gd name="adj2" fmla="val 85879"/>
            </a:avLst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57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62359A-05B1-BF0C-4DE1-1B1B19AA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14B5-5E90-807C-FFC7-AEEDE76F1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41" y="308985"/>
            <a:ext cx="10515600" cy="1325563"/>
          </a:xfrm>
        </p:spPr>
        <p:txBody>
          <a:bodyPr/>
          <a:lstStyle/>
          <a:p>
            <a:r>
              <a:rPr lang="en-US" dirty="0"/>
              <a:t>Normalized ROM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D0CA8E-604F-B22B-50E9-2A6628961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D7ACD1-46DE-8D79-5440-22AFDE5F8608}"/>
              </a:ext>
            </a:extLst>
          </p:cNvPr>
          <p:cNvGrpSpPr/>
          <p:nvPr/>
        </p:nvGrpSpPr>
        <p:grpSpPr>
          <a:xfrm>
            <a:off x="8273421" y="848969"/>
            <a:ext cx="3346108" cy="5770910"/>
            <a:chOff x="7380812" y="1792601"/>
            <a:chExt cx="3346108" cy="57709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B891F8B-47BD-242A-4B36-8A5A70D39198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66D784C-DD65-E1AD-58EA-52111C4E81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754B232-610A-AF0D-DFF7-08CC55ABD977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D79B0F3A-DA44-D92F-9712-5BD472EAC2F8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3B69D2F4-A24E-EDB6-BF74-640686AF0F61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24A606E2-A861-9CB3-1C8F-244B1D28EB07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8A3D0167-7F0B-0786-FCF3-9AF6EF3A36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A3E2311-411F-CD3E-D5E7-6A372B284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7418F46E-0175-8F55-BEFA-4528D20F72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B69BE030-87B8-8053-73D2-D0E02C0BE2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073C58A-DF06-D434-3FAD-87DE040DE4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22DB20D6-DA06-7B92-958C-5DF18F0F28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7726980-3909-A4AD-2460-2BC4A36C41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3175E98-25A5-7C5C-9707-1D3799502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6CBEFB0-F9E4-70B3-5710-9D86A5F8AD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8A3E909-71DD-786D-16F2-09F817C2B0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8D5C386-70AF-5E42-BB7D-77E6CADF7E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1B137C0-3EE5-FE1E-5386-50860BF19D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3E0181D-BB77-B89F-82CB-2B867286AD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E4C49E11-C059-F81F-A681-B0F1985295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E4C49E11-C059-F81F-A681-B0F19852959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A1FEF9F-1B0B-FCE5-71EC-CF9459C09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812" y="6763682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20C8987-CA3D-0710-75B6-5C317AD3E3DB}"/>
                  </a:ext>
                </a:extLst>
              </p:cNvPr>
              <p:cNvSpPr txBox="1"/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20C8987-CA3D-0710-75B6-5C317AD3E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6E1366-B766-736C-4412-591F34C68E2A}"/>
                  </a:ext>
                </a:extLst>
              </p:cNvPr>
              <p:cNvSpPr txBox="1"/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6E1366-B766-736C-4412-591F34C68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0D30FE-3AED-502E-7E30-8E50F055A507}"/>
                  </a:ext>
                </a:extLst>
              </p:cNvPr>
              <p:cNvSpPr txBox="1"/>
              <p:nvPr/>
            </p:nvSpPr>
            <p:spPr>
              <a:xfrm>
                <a:off x="1215259" y="1463092"/>
                <a:ext cx="609600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0D30FE-3AED-502E-7E30-8E50F055A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259" y="1463092"/>
                <a:ext cx="6096000" cy="16551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DC9A82-7B60-AEAE-3135-86E6D32108CF}"/>
                  </a:ext>
                </a:extLst>
              </p:cNvPr>
              <p:cNvSpPr txBox="1"/>
              <p:nvPr/>
            </p:nvSpPr>
            <p:spPr>
              <a:xfrm>
                <a:off x="602195" y="3523603"/>
                <a:ext cx="7562221" cy="1090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 the analysis, we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a slowly-varying term.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DC9A82-7B60-AEAE-3135-86E6D3210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95" y="3523603"/>
                <a:ext cx="7562221" cy="1090940"/>
              </a:xfrm>
              <a:prstGeom prst="rect">
                <a:avLst/>
              </a:prstGeom>
              <a:blipFill>
                <a:blip r:embed="rId8"/>
                <a:stretch>
                  <a:fillRect l="-726" b="-8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99F22523-E095-7B06-24E2-8020B1BDEEFF}"/>
              </a:ext>
            </a:extLst>
          </p:cNvPr>
          <p:cNvSpPr txBox="1"/>
          <p:nvPr/>
        </p:nvSpPr>
        <p:spPr>
          <a:xfrm>
            <a:off x="602195" y="31009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Quasi-periodic excitation: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475C23F-BA82-EB9D-B6CC-A0BCF8219563}"/>
                  </a:ext>
                </a:extLst>
              </p:cNvPr>
              <p:cNvSpPr txBox="1"/>
              <p:nvPr/>
            </p:nvSpPr>
            <p:spPr>
              <a:xfrm>
                <a:off x="1164347" y="4917121"/>
                <a:ext cx="6096000" cy="1575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475C23F-BA82-EB9D-B6CC-A0BCF8219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347" y="4917121"/>
                <a:ext cx="6096000" cy="15759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3D9D85C-7715-0E85-19C5-4D5C0F2441BA}"/>
                  </a:ext>
                </a:extLst>
              </p:cNvPr>
              <p:cNvSpPr txBox="1"/>
              <p:nvPr/>
            </p:nvSpPr>
            <p:spPr>
              <a:xfrm>
                <a:off x="500596" y="4917121"/>
                <a:ext cx="1659467" cy="612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3D9D85C-7715-0E85-19C5-4D5C0F244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96" y="4917121"/>
                <a:ext cx="1659467" cy="6120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4E01F6-A85E-7933-9AAD-D3590E5C26E1}"/>
                  </a:ext>
                </a:extLst>
              </p:cNvPr>
              <p:cNvSpPr txBox="1"/>
              <p:nvPr/>
            </p:nvSpPr>
            <p:spPr>
              <a:xfrm>
                <a:off x="665695" y="5692113"/>
                <a:ext cx="1329267" cy="717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4E01F6-A85E-7933-9AAD-D3590E5C2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95" y="5692113"/>
                <a:ext cx="1329267" cy="7170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056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FB4CF8-E903-14F6-2034-7E42445A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7460-4702-6235-CBA9-FFCBCD01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CX-A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876863C-C5A7-BE26-407C-1365E822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8E1B2B-8792-2661-4733-3CF53F81CEED}"/>
              </a:ext>
            </a:extLst>
          </p:cNvPr>
          <p:cNvGrpSpPr/>
          <p:nvPr/>
        </p:nvGrpSpPr>
        <p:grpSpPr>
          <a:xfrm>
            <a:off x="8273421" y="848969"/>
            <a:ext cx="3346108" cy="5770910"/>
            <a:chOff x="7380812" y="1792601"/>
            <a:chExt cx="3346108" cy="57709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0F50D34-8D41-478D-8A0F-4511E485124F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2A868DF2-E2A3-7151-B133-406AB9E9B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E02A571-A869-56EA-673E-9CD526A26E86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50F81854-C270-9025-39E6-1E0AFC10863C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B1BCFFE4-C779-3D3D-FB67-8AD57856AD2C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AD569DA6-3B1B-4CB2-A5DB-5A7F53F0FF1B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171E4F0E-9421-D2D8-04F7-56781513B1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CBD15452-49AB-3EB2-B16B-2E2EE94F7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8C0F0277-A402-CD75-D3E8-D42E4BF21F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338EF7AB-A180-5FDB-FA24-F46914FFEB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DD75153-0FFE-F29A-0760-A8E9DDA7E3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0ADABDF-6370-ADA5-0618-D0CDF8DB57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25FFF33A-D13F-AEED-6983-8A6777F1A1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4E47E68E-E65F-9E60-127A-8294444C79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66BA6F4-B5F9-30D5-9B74-2C446BDC1F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2812D44C-5D73-B0B8-CA02-22EC70D876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989AAD6-0773-41E7-B810-E4832BDA16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9C387F3-5788-07D8-0662-E5ACFD530B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021721D1-F663-9E87-E715-CB7C290EE3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B0302212-A191-B97E-A3CB-4736335EAB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B0302212-A191-B97E-A3CB-4736335EABC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8ABFE5-24EF-579D-29CE-EBE7CAD17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812" y="6763682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DFE8C5-9DCE-6157-0393-940CAD32A5BE}"/>
                  </a:ext>
                </a:extLst>
              </p:cNvPr>
              <p:cNvSpPr txBox="1"/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DFE8C5-9DCE-6157-0393-940CAD32A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6C64BF-F41A-87E6-3374-A84B0746F12F}"/>
                  </a:ext>
                </a:extLst>
              </p:cNvPr>
              <p:cNvSpPr txBox="1"/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6C64BF-F41A-87E6-3374-A84B0746F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DCEB27-220C-6634-13C8-EB36391BA3C7}"/>
                  </a:ext>
                </a:extLst>
              </p:cNvPr>
              <p:cNvSpPr txBox="1"/>
              <p:nvPr/>
            </p:nvSpPr>
            <p:spPr>
              <a:xfrm>
                <a:off x="829425" y="1384572"/>
                <a:ext cx="6096000" cy="1575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DCEB27-220C-6634-13C8-EB36391BA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25" y="1384572"/>
                <a:ext cx="6096000" cy="15759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397CFA4-07A8-F6E5-1004-56811702BC10}"/>
                  </a:ext>
                </a:extLst>
              </p:cNvPr>
              <p:cNvSpPr txBox="1"/>
              <p:nvPr/>
            </p:nvSpPr>
            <p:spPr>
              <a:xfrm>
                <a:off x="905015" y="3175867"/>
                <a:ext cx="6096000" cy="1507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Η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397CFA4-07A8-F6E5-1004-56811702B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015" y="3175867"/>
                <a:ext cx="6096000" cy="15074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4578E4DB-CEB6-1ED2-63B2-F23CF7747A2A}"/>
              </a:ext>
            </a:extLst>
          </p:cNvPr>
          <p:cNvSpPr txBox="1"/>
          <p:nvPr/>
        </p:nvSpPr>
        <p:spPr>
          <a:xfrm>
            <a:off x="905015" y="2991201"/>
            <a:ext cx="115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Ansatz: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775C4E0-2690-6493-CF2D-E56E8CFC2430}"/>
                  </a:ext>
                </a:extLst>
              </p:cNvPr>
              <p:cNvSpPr txBox="1"/>
              <p:nvPr/>
            </p:nvSpPr>
            <p:spPr>
              <a:xfrm>
                <a:off x="882966" y="4963820"/>
                <a:ext cx="6096000" cy="1844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8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775C4E0-2690-6493-CF2D-E56E8CFC2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66" y="4963820"/>
                <a:ext cx="6096000" cy="18449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E8BBD7B-6D8B-9F07-5A33-DD9EB9C57715}"/>
                  </a:ext>
                </a:extLst>
              </p:cNvPr>
              <p:cNvSpPr txBox="1"/>
              <p:nvPr/>
            </p:nvSpPr>
            <p:spPr>
              <a:xfrm>
                <a:off x="905015" y="4683331"/>
                <a:ext cx="2997200" cy="386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Average 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terms: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E8BBD7B-6D8B-9F07-5A33-DD9EB9C57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015" y="4683331"/>
                <a:ext cx="2997200" cy="386003"/>
              </a:xfrm>
              <a:prstGeom prst="rect">
                <a:avLst/>
              </a:prstGeom>
              <a:blipFill>
                <a:blip r:embed="rId10"/>
                <a:stretch>
                  <a:fillRect l="-1626" t="-156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202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96625B-FD2E-AD7E-F3FE-B6FEFC78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ADFA8-F79C-D78C-86C5-353495939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Steady-state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E220EF-B59F-1554-9960-5E28EFAD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6C2DBD-83AA-A097-B6B9-F2962575D766}"/>
              </a:ext>
            </a:extLst>
          </p:cNvPr>
          <p:cNvGrpSpPr/>
          <p:nvPr/>
        </p:nvGrpSpPr>
        <p:grpSpPr>
          <a:xfrm>
            <a:off x="8273421" y="848969"/>
            <a:ext cx="3346108" cy="5770910"/>
            <a:chOff x="7380812" y="1792601"/>
            <a:chExt cx="3346108" cy="57709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16EC387-E7A6-32A6-61A6-B592792423CC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1B51CF2-780C-C088-1F23-0EC629DE90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F9EC8D1-6B00-6F80-356C-74BF3C89DB6F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05724146-D7A2-9267-2F48-9E33248F1F2F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1A823FF2-78FD-4832-3D31-DFE27765F329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169B4B6-A1D2-2EDE-DC9D-09CE2F909AE1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EE7D2FAC-EDF4-F881-60CE-C81E135CA5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A5B7DB9-D24E-2C6A-8527-40390E33CE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FD7DA08B-D269-5C02-0E93-C2442DCB3B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9530247-5F35-F5BE-990F-D93DE65918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2B9FB4E-FE07-92BA-CE12-6032ABA005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1F1CD99-6F89-DD40-51D5-CB94291E6E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DA01DCF-8FD0-C22F-2838-DFEBB1E0CB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584A40B-1ABA-8B1D-C49D-4A82C23252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0CB154C-EAF0-22EF-DB1F-484999FF73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4DF5EBC-FE9F-1420-31D6-609D56D04B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C65EBDE6-A221-A8E7-FC5B-9B0BF65E70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0F26545-82BD-1076-87A8-635DE6E35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C1AAD0E-3A2D-18E9-866C-458D11BFA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6BB0AD42-05B9-0C86-6159-819585E61E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6BB0AD42-05B9-0C86-6159-819585E61E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F57C0EC-DD2F-AAA0-B7FF-4A2921E66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812" y="6763682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FF0743-9A8D-B6C2-B4C4-1E1250E94EF4}"/>
                  </a:ext>
                </a:extLst>
              </p:cNvPr>
              <p:cNvSpPr txBox="1"/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FF0743-9A8D-B6C2-B4C4-1E1250E94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ACEC60-074C-93E9-76B3-D58D2221BFB1}"/>
                  </a:ext>
                </a:extLst>
              </p:cNvPr>
              <p:cNvSpPr txBox="1"/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ACEC60-074C-93E9-76B3-D58D2221B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F539EFC-0239-314A-CB4E-7C358EA9D673}"/>
                  </a:ext>
                </a:extLst>
              </p:cNvPr>
              <p:cNvSpPr txBox="1"/>
              <p:nvPr/>
            </p:nvSpPr>
            <p:spPr>
              <a:xfrm>
                <a:off x="995063" y="1381140"/>
                <a:ext cx="6096000" cy="1844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8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F539EFC-0239-314A-CB4E-7C358EA9D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63" y="1381140"/>
                <a:ext cx="6096000" cy="18449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83EC97-B3F1-082E-2438-5FD20EFAFDCB}"/>
                  </a:ext>
                </a:extLst>
              </p:cNvPr>
              <p:cNvSpPr txBox="1"/>
              <p:nvPr/>
            </p:nvSpPr>
            <p:spPr>
              <a:xfrm>
                <a:off x="1999510" y="3119813"/>
                <a:ext cx="6096000" cy="618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  <m:r>
                                <a:rPr lang="en-US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b="0" i="1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83EC97-B3F1-082E-2438-5FD20EFAF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510" y="3119813"/>
                <a:ext cx="6096000" cy="6183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20E9741A-64F6-B737-1F34-A0AD55559E0C}"/>
              </a:ext>
            </a:extLst>
          </p:cNvPr>
          <p:cNvSpPr/>
          <p:nvPr/>
        </p:nvSpPr>
        <p:spPr>
          <a:xfrm>
            <a:off x="3523279" y="3244305"/>
            <a:ext cx="448724" cy="4403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C62B1C-2CD9-05AC-AA90-53F470666443}"/>
                  </a:ext>
                </a:extLst>
              </p:cNvPr>
              <p:cNvSpPr txBox="1"/>
              <p:nvPr/>
            </p:nvSpPr>
            <p:spPr>
              <a:xfrm>
                <a:off x="995063" y="3808362"/>
                <a:ext cx="609600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C62B1C-2CD9-05AC-AA90-53F470666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63" y="3808362"/>
                <a:ext cx="6096000" cy="369909"/>
              </a:xfrm>
              <a:prstGeom prst="rect">
                <a:avLst/>
              </a:prstGeom>
              <a:blipFill>
                <a:blip r:embed="rId9"/>
                <a:stretch>
                  <a:fillRect r="-1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4F4DB3-E319-E339-4BF8-3FF1FC459F7C}"/>
                  </a:ext>
                </a:extLst>
              </p:cNvPr>
              <p:cNvSpPr txBox="1"/>
              <p:nvPr/>
            </p:nvSpPr>
            <p:spPr>
              <a:xfrm>
                <a:off x="1052444" y="4285345"/>
                <a:ext cx="6096000" cy="1474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Η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4F4DB3-E319-E339-4BF8-3FF1FC459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44" y="4285345"/>
                <a:ext cx="6096000" cy="14745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9B2929-5C57-9AF2-0169-9DDA82BA6C5B}"/>
                  </a:ext>
                </a:extLst>
              </p:cNvPr>
              <p:cNvSpPr txBox="1"/>
              <p:nvPr/>
            </p:nvSpPr>
            <p:spPr>
              <a:xfrm>
                <a:off x="384481" y="5651480"/>
                <a:ext cx="7588046" cy="988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16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9B2929-5C57-9AF2-0169-9DDA82BA6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81" y="5651480"/>
                <a:ext cx="7588046" cy="9885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406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9038FA-01DB-8ACB-E82A-DB4C74EA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CE29D-43FA-DDB1-B0FB-C5B6C9217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Stability analysis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5E9A97-2C6F-C521-8249-F7579089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49BE98-67B5-FC72-E3EE-852C0EF01B3D}"/>
              </a:ext>
            </a:extLst>
          </p:cNvPr>
          <p:cNvGrpSpPr/>
          <p:nvPr/>
        </p:nvGrpSpPr>
        <p:grpSpPr>
          <a:xfrm>
            <a:off x="8273421" y="848969"/>
            <a:ext cx="3346108" cy="5770910"/>
            <a:chOff x="7380812" y="1792601"/>
            <a:chExt cx="3346108" cy="57709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025C320-80ED-588D-6C72-9CCBD070B147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93A32F63-BE64-4CBE-126B-5BF1231EAB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CB3EABB-B8CF-636A-5757-35B8D80F596D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19B50FB8-E13F-8531-7DBF-5A99D14A23A3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CD41C89E-39CB-437C-215F-60323C1B7715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2DFA52A1-B035-1AE8-8D36-E95CDE2E17A8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4C6FE368-17A0-4591-2D59-112C857239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93DC331-5289-FD6C-9110-17E5853C57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D3EF6111-ADA5-85D1-DA79-8DAEB2F53A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BB042362-FADE-63C0-F736-E97F556924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1A3B9A92-508B-7575-74B7-5331BE35B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05D5816C-EB64-F121-99F1-812932007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E900828-F8C4-9DED-9BFC-E94A4370B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5A9426FC-6BB2-8CE9-7ACF-4307AE376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2D6C49E6-6A12-0FC0-6B11-73AF380678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345171B6-009D-1D33-8698-370C88BD0C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02BFF8F-2FE6-B000-D965-FB716834A7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1095BA20-66EE-C2B5-ED8A-9BE5CB4C58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F3CD233-8ACD-4B46-821D-05D0C5C27D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7D8F4277-23F8-7C38-6B95-B4223AED6B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7D8F4277-23F8-7C38-6B95-B4223AED6BA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F60D532-95CE-8ABD-D466-176EB72DA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812" y="6763682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C3D98B-2C7D-76F2-CFD6-065BBD922BF9}"/>
                  </a:ext>
                </a:extLst>
              </p:cNvPr>
              <p:cNvSpPr txBox="1"/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C3D98B-2C7D-76F2-CFD6-065BBD922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812" y="2177143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83BEB2-52A6-24F7-0D83-12FAF08EB63A}"/>
                  </a:ext>
                </a:extLst>
              </p:cNvPr>
              <p:cNvSpPr txBox="1"/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83BEB2-52A6-24F7-0D83-12FAF08EB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02" y="516964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2B57E4-B5CC-4EAF-0DB6-2FE1F8788547}"/>
                  </a:ext>
                </a:extLst>
              </p:cNvPr>
              <p:cNvSpPr txBox="1"/>
              <p:nvPr/>
            </p:nvSpPr>
            <p:spPr>
              <a:xfrm>
                <a:off x="995063" y="1381140"/>
                <a:ext cx="6096000" cy="1844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8</m:t>
                          </m:r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2B57E4-B5CC-4EAF-0DB6-2FE1F8788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63" y="1381140"/>
                <a:ext cx="6096000" cy="18449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2F03AF-21CF-11B7-7261-73CFF93CDB3B}"/>
                  </a:ext>
                </a:extLst>
              </p:cNvPr>
              <p:cNvSpPr txBox="1"/>
              <p:nvPr/>
            </p:nvSpPr>
            <p:spPr>
              <a:xfrm>
                <a:off x="2141252" y="3093652"/>
                <a:ext cx="6096000" cy="670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Η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Η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Η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2F03AF-21CF-11B7-7261-73CFF93CD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252" y="3093652"/>
                <a:ext cx="6096000" cy="670696"/>
              </a:xfrm>
              <a:prstGeom prst="rect">
                <a:avLst/>
              </a:prstGeom>
              <a:blipFill>
                <a:blip r:embed="rId8"/>
                <a:stretch>
                  <a:fillRect b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D29F0142-4467-A0D5-0058-B38F4578B312}"/>
              </a:ext>
            </a:extLst>
          </p:cNvPr>
          <p:cNvSpPr/>
          <p:nvPr/>
        </p:nvSpPr>
        <p:spPr>
          <a:xfrm>
            <a:off x="3523279" y="3244305"/>
            <a:ext cx="448724" cy="4403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013CF0-BE7A-B0A9-2727-C4543EA25950}"/>
                  </a:ext>
                </a:extLst>
              </p:cNvPr>
              <p:cNvSpPr txBox="1"/>
              <p:nvPr/>
            </p:nvSpPr>
            <p:spPr>
              <a:xfrm>
                <a:off x="699641" y="3875024"/>
                <a:ext cx="609600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1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1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013CF0-BE7A-B0A9-2727-C4543EA25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41" y="3875024"/>
                <a:ext cx="6096000" cy="7146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F1678F-280C-E70E-D029-47AFC41C0DE5}"/>
                  </a:ext>
                </a:extLst>
              </p:cNvPr>
              <p:cNvSpPr txBox="1"/>
              <p:nvPr/>
            </p:nvSpPr>
            <p:spPr>
              <a:xfrm>
                <a:off x="514084" y="5285420"/>
                <a:ext cx="7759337" cy="1477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Λ</m:t>
                                        </m:r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1,0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Λ</m:t>
                                        </m:r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1,0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Λ</m:t>
                                        </m:r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1,0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sSubSup>
                                      <m:sSubSupPr>
                                        <m:ctrlPr>
                                          <a:rPr lang="en-US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  <m:sup>
                                        <m:r>
                                          <a:rPr lang="en-US" b="0" i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F1678F-280C-E70E-D029-47AFC41C0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84" y="5285420"/>
                <a:ext cx="7759337" cy="14777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4D05E0-DE1C-6B5C-7E5A-9296EFBD547A}"/>
                  </a:ext>
                </a:extLst>
              </p:cNvPr>
              <p:cNvSpPr txBox="1"/>
              <p:nvPr/>
            </p:nvSpPr>
            <p:spPr>
              <a:xfrm>
                <a:off x="761141" y="4589707"/>
                <a:ext cx="6540676" cy="620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solidFill>
                      <a:srgbClr val="FF0000"/>
                    </a:solidFill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Real parts of the eigenvalue of the matrix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b="1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  <m:e>
                              <m:r>
                                <a:rPr lang="en-US" sz="1800" b="1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𝑩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𝑨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kern="100" dirty="0">
                    <a:solidFill>
                      <a:srgbClr val="FF0000"/>
                    </a:solidFill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are negative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4D05E0-DE1C-6B5C-7E5A-9296EFBD5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41" y="4589707"/>
                <a:ext cx="6540676" cy="620298"/>
              </a:xfrm>
              <a:prstGeom prst="rect">
                <a:avLst/>
              </a:prstGeom>
              <a:blipFill>
                <a:blip r:embed="rId11"/>
                <a:stretch>
                  <a:fillRect l="-839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614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36848</TotalTime>
  <Words>1353</Words>
  <Application>Microsoft Office PowerPoint</Application>
  <PresentationFormat>Widescreen</PresentationFormat>
  <Paragraphs>190</Paragraphs>
  <Slides>18</Slides>
  <Notes>5</Notes>
  <HiddenSlides>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DengXian</vt:lpstr>
      <vt:lpstr>Aptos</vt:lpstr>
      <vt:lpstr>Aptos Display</vt:lpstr>
      <vt:lpstr>Arial</vt:lpstr>
      <vt:lpstr>Cambria Math</vt:lpstr>
      <vt:lpstr>Wingdings</vt:lpstr>
      <vt:lpstr>Office Theme</vt:lpstr>
      <vt:lpstr>Update: Piezo-energy harvesting</vt:lpstr>
      <vt:lpstr>Schematic</vt:lpstr>
      <vt:lpstr>Analytical Foundation – a Review</vt:lpstr>
      <vt:lpstr>Hysteresis Loop and Responses</vt:lpstr>
      <vt:lpstr>Topic in this Presentation</vt:lpstr>
      <vt:lpstr>The flux linkage response to base excitation</vt:lpstr>
      <vt:lpstr>The flux linkage response to base excitation</vt:lpstr>
      <vt:lpstr>Power input</vt:lpstr>
      <vt:lpstr>Power input in the ROM</vt:lpstr>
      <vt:lpstr>Power input in the ROM</vt:lpstr>
      <vt:lpstr>Proposed Next Stage</vt:lpstr>
      <vt:lpstr>EOM</vt:lpstr>
      <vt:lpstr>ROM</vt:lpstr>
      <vt:lpstr>Normalized ROM</vt:lpstr>
      <vt:lpstr>Normalized ROM</vt:lpstr>
      <vt:lpstr>CX-A</vt:lpstr>
      <vt:lpstr>Steady-state</vt:lpstr>
      <vt:lpstr>Stability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Chongan</dc:creator>
  <cp:lastModifiedBy>Wang, Chongan</cp:lastModifiedBy>
  <cp:revision>13</cp:revision>
  <dcterms:created xsi:type="dcterms:W3CDTF">2024-08-07T05:48:52Z</dcterms:created>
  <dcterms:modified xsi:type="dcterms:W3CDTF">2024-12-07T01:56:18Z</dcterms:modified>
</cp:coreProperties>
</file>